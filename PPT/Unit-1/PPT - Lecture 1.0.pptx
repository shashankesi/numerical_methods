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3" r:id="rId4"/>
    <p:sldId id="284" r:id="rId5"/>
    <p:sldId id="285" r:id="rId6"/>
    <p:sldId id="286" r:id="rId7"/>
    <p:sldId id="292" r:id="rId8"/>
    <p:sldId id="287" r:id="rId9"/>
    <p:sldId id="288" r:id="rId10"/>
    <p:sldId id="289" r:id="rId11"/>
    <p:sldId id="290" r:id="rId12"/>
    <p:sldId id="291" r:id="rId13"/>
    <p:sldId id="294" r:id="rId14"/>
    <p:sldId id="295" r:id="rId15"/>
    <p:sldId id="296" r:id="rId16"/>
    <p:sldId id="309" r:id="rId17"/>
    <p:sldId id="293" r:id="rId18"/>
    <p:sldId id="297" r:id="rId19"/>
    <p:sldId id="298" r:id="rId20"/>
    <p:sldId id="302" r:id="rId21"/>
    <p:sldId id="299" r:id="rId22"/>
    <p:sldId id="306" r:id="rId23"/>
    <p:sldId id="307" r:id="rId24"/>
    <p:sldId id="308" r:id="rId25"/>
    <p:sldId id="300" r:id="rId26"/>
    <p:sldId id="301" r:id="rId27"/>
    <p:sldId id="304" r:id="rId28"/>
    <p:sldId id="303" r:id="rId29"/>
    <p:sldId id="305" r:id="rId30"/>
  </p:sldIdLst>
  <p:sldSz cx="9144000" cy="5143500" type="screen16x9"/>
  <p:notesSz cx="6858000" cy="9144000"/>
  <p:embeddedFontLst>
    <p:embeddedFont>
      <p:font typeface="Arial Black" panose="020B0604020202020204" pitchFamily="34" charset="0"/>
      <p:bold r:id="rId32"/>
    </p:embeddedFont>
    <p:embeddedFont>
      <p:font typeface="Calibri" panose="020F0502020204030204" pitchFamily="34" charset="0"/>
      <p:regular r:id="rId33"/>
      <p:bold r:id="rId34"/>
      <p:italic r:id="rId35"/>
      <p:boldItalic r:id="rId36"/>
    </p:embeddedFont>
    <p:embeddedFont>
      <p:font typeface="Cambria" panose="02040503050406030204" pitchFamily="18"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Vladimir Script" panose="03050402040407070305" pitchFamily="66" charset="77"/>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6"/>
    <p:restoredTop sz="94666"/>
  </p:normalViewPr>
  <p:slideViewPr>
    <p:cSldViewPr snapToGrid="0">
      <p:cViewPr varScale="1">
        <p:scale>
          <a:sx n="148" d="100"/>
          <a:sy n="148" d="100"/>
        </p:scale>
        <p:origin x="56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7628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007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7612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AE2F180-9A0B-4C89-E2A4-C820E350D8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B0DF4C-0C0C-F327-13CB-D147B8854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3BD526-06AE-0DCC-FB9B-29E2E50FD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297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2D7C363-8D9B-662D-D35E-EF694C156DB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73556C4-1FD6-C1D5-F772-CCFCA35CB2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B74E6DD-E044-75B0-83F3-00BA217DAD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2290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BB6971A-2B80-AAD1-7E16-CE25661A6BE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20B215-7BAE-58D2-B65D-22DC48D55D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6B046D7-BADE-B187-5827-F12BD2C029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913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260F2D4-A24E-7A95-2594-7683E100632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5F67E44-D907-228D-3B35-4223196573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79A4BAF-A4E0-9A4F-3DF7-070EC55F4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7979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DC8C265-20D1-F755-3766-F66BAF71ABF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99EFDDE-502F-DBD6-B1C4-5CBA4BC50D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BDE32E-C219-E742-E9D8-87F250F514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1823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7128D516-3999-ADC7-CEE6-08CE63C97050}"/>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7827AE30-530B-CCA3-14AC-7C3BE20CA9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E29E5795-AE9C-2840-23F8-895A62AFD3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2249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8AEC8806-C926-5279-B211-181B895A3035}"/>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75111144-D390-7EB6-5CB6-45BCB078AE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0C9782F8-4193-8B7D-BE59-F1A38E0D1B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8301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6303DC52-B548-F5A5-D190-49FB0BD528D9}"/>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52319B27-11A4-DCAA-402A-029AD5DE52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C0481096-28A0-B627-846F-6A5B3F03D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4713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D5855983-F721-7BC9-3BF2-6ABC7F677BD6}"/>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6F66B482-2717-3E88-6E66-9AA22E3565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16BB3BD6-389B-3250-85E2-7F1AC084C5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0022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16F18B3-654C-31F0-6DE8-FC243D892BA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111A54A-6B01-A69A-7043-E2A50A1834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FD46B85-CC70-8590-B72C-6DA5858233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3537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AF8D011-1978-0123-5CB2-07F259488BA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F30FEB0-AB40-4EED-9FDB-BD2BDC5B1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0132642-52DF-B83A-52A1-4C0392323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1119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D92A11C-8A00-779B-BFC3-76D2DE0C10F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A75B1F2-17FC-34A4-2071-42192BD168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BAB25F7-B01F-28CF-7F75-E28450A4D5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11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D7F29F0-BA33-7ADB-4AC0-0E4C11FF6BD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68FE139-2282-22C9-6440-A222A8567E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56196FD-1CB6-0399-2E77-49B385C27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0947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2913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050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1542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3949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5E31C24-9128-35F8-1A43-75837A6C02E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E1F24F0-BEDD-D180-2CEC-AA58C62156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0AB25CA-3F9A-58C3-9EF4-8D2300D031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6870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21D255-1544-198E-9CBB-F35608E87DD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D53D3D3-A794-A0A9-4BE7-D6DB0320E8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7652EAC-AC9E-0FBA-01B6-302FA67CC7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939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onlinecourses.nptel.ac.in/noc26_ma62/preview"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683664" y="951584"/>
            <a:ext cx="8301632" cy="357222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CSE 3</a:t>
            </a:r>
            <a:r>
              <a:rPr lang="en-US" sz="3200" b="1"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rd</a:t>
            </a: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 Year</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US"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IN"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Numerical Methods </a:t>
            </a: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(23SMH-341)</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Faculty Name and </a:t>
            </a:r>
            <a:r>
              <a:rPr lang="en-US" sz="1800" b="1" dirty="0" err="1">
                <a:latin typeface="Calibri" panose="020F0502020204030204" pitchFamily="34" charset="0"/>
                <a:ea typeface="Calibri" panose="020F0502020204030204" pitchFamily="34" charset="0"/>
                <a:cs typeface="Calibri" panose="020F0502020204030204" pitchFamily="34" charset="0"/>
              </a:rPr>
              <a:t>ECode</a:t>
            </a:r>
            <a:r>
              <a:rPr lang="en-US" sz="1800" b="1" dirty="0">
                <a:latin typeface="Calibri" panose="020F0502020204030204" pitchFamily="34" charset="0"/>
                <a:ea typeface="Calibri" panose="020F0502020204030204" pitchFamily="34" charset="0"/>
                <a:cs typeface="Calibri" panose="020F0502020204030204" pitchFamily="34" charset="0"/>
              </a:rPr>
              <a:t>: Dr. Heena Sharma (E6398)                                                        </a:t>
            </a:r>
            <a:r>
              <a:rPr lang="en-US" sz="1800" b="1" dirty="0" err="1">
                <a:latin typeface="Calibri" panose="020F0502020204030204" pitchFamily="34" charset="0"/>
                <a:ea typeface="Calibri" panose="020F0502020204030204" pitchFamily="34" charset="0"/>
                <a:cs typeface="Calibri" panose="020F0502020204030204" pitchFamily="34" charset="0"/>
              </a:rPr>
              <a:t>Cumail</a:t>
            </a:r>
            <a:r>
              <a:rPr lang="en-US" sz="1800" b="1" dirty="0">
                <a:latin typeface="Calibri" panose="020F0502020204030204" pitchFamily="34" charset="0"/>
                <a:ea typeface="Calibri" panose="020F0502020204030204" pitchFamily="34" charset="0"/>
                <a:cs typeface="Calibri" panose="020F0502020204030204" pitchFamily="34" charset="0"/>
              </a:rPr>
              <a:t>-ID : heena.e6398@cumail.in</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Designation: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pSp>
        <p:nvGrpSpPr>
          <p:cNvPr id="108" name="Google Shape;108;p2"/>
          <p:cNvGrpSpPr/>
          <p:nvPr/>
        </p:nvGrpSpPr>
        <p:grpSpPr>
          <a:xfrm>
            <a:off x="748144" y="218172"/>
            <a:ext cx="8277101" cy="444600"/>
            <a:chOff x="0" y="6299"/>
            <a:chExt cx="5580934" cy="444600"/>
          </a:xfrm>
          <a:noFill/>
        </p:grpSpPr>
        <p:sp>
          <p:nvSpPr>
            <p:cNvPr id="109" name="Google Shape;109;p2"/>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Vision of University </a:t>
              </a:r>
              <a:endParaRPr sz="4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p:cNvSpPr txBox="1"/>
          <p:nvPr/>
        </p:nvSpPr>
        <p:spPr>
          <a:xfrm>
            <a:off x="83127" y="1101387"/>
            <a:ext cx="8942119" cy="1643486"/>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be globally recognized as a Centre of Excellence for Research, Innovation, Entrepreneurship and disseminating knowledge by providing inspirational learning to produce professional leaders for serving the society.”</a:t>
            </a:r>
            <a:endParaRPr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p:cNvSpPr txBox="1"/>
          <p:nvPr/>
        </p:nvSpPr>
        <p:spPr>
          <a:xfrm>
            <a:off x="8709003" y="85987"/>
            <a:ext cx="284052" cy="307777"/>
          </a:xfrm>
          <a:prstGeom prst="rect">
            <a:avLst/>
          </a:prstGeom>
          <a:noFill/>
        </p:spPr>
        <p:txBody>
          <a:bodyPr wrap="none" rtlCol="0">
            <a:spAutoFit/>
          </a:bodyPr>
          <a:lstStyle/>
          <a:p>
            <a:r>
              <a:rPr lang="en-IN"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82F60C0-9493-6D30-C2FB-A190B5DAFBD4}"/>
              </a:ext>
            </a:extLst>
          </p:cNvPr>
          <p:cNvSpPr txBox="1"/>
          <p:nvPr/>
        </p:nvSpPr>
        <p:spPr>
          <a:xfrm>
            <a:off x="83125" y="1082770"/>
            <a:ext cx="8942119" cy="2806882"/>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M1 : </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Providing world class infrastructure, renowned academicians and ideal environment for Research, Innovation, Consultancy and Entrepreneurship relevant to the society.</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M2 : </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Offering programs &amp; courses in consonance with National policies for nation building and meeting global challenges.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2</a:t>
            </a:r>
          </a:p>
        </p:txBody>
      </p:sp>
    </p:spTree>
    <p:extLst>
      <p:ext uri="{BB962C8B-B14F-4D97-AF65-F5344CB8AC3E}">
        <p14:creationId xmlns:p14="http://schemas.microsoft.com/office/powerpoint/2010/main" val="1932313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427E39E-1443-8E67-323E-AC3515D4A144}"/>
              </a:ext>
            </a:extLst>
          </p:cNvPr>
          <p:cNvSpPr txBox="1"/>
          <p:nvPr/>
        </p:nvSpPr>
        <p:spPr>
          <a:xfrm>
            <a:off x="83127" y="1089514"/>
            <a:ext cx="8942119" cy="35824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M3</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Designing Curriculum to match International standards, needs of Industry, civil 	society and for inculcation of traits of Creative Thinking and Critical Analysis as well as Human and Ethical values.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M4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Ensuring students delight by meeting their aspirations through blended learning, corporate mentoring, professional grooming, flexible curriculum and healthy atmosphere based on co-curricular and extra-curricular activities.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3</a:t>
            </a:r>
          </a:p>
        </p:txBody>
      </p:sp>
    </p:spTree>
    <p:extLst>
      <p:ext uri="{BB962C8B-B14F-4D97-AF65-F5344CB8AC3E}">
        <p14:creationId xmlns:p14="http://schemas.microsoft.com/office/powerpoint/2010/main" val="111057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8FA9E54-824C-3174-92D1-1FD55557D5B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A721AF1-4121-990B-D3BC-3A69461EE53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A2839E68-8CC4-454C-1CA9-8CC8B94AE13A}"/>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EB27271-7D91-E3E7-B4A8-A483F805DA4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id="{1A9B100B-BAD8-99A1-3211-6CBBD09F111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516A7AF-FEFF-1208-4D57-1C31C5F7E7B9}"/>
              </a:ext>
            </a:extLst>
          </p:cNvPr>
          <p:cNvSpPr txBox="1"/>
          <p:nvPr/>
        </p:nvSpPr>
        <p:spPr>
          <a:xfrm>
            <a:off x="83127" y="1089517"/>
            <a:ext cx="8942119" cy="241908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M5</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Creating a scientific, transparent and objective examination/evaluation system to ensure an ideal certification.</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M6</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Establishing strategic relationships with leading National and International corporates and universities for academic as well as research collaborations.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4</a:t>
            </a:r>
          </a:p>
        </p:txBody>
      </p:sp>
    </p:spTree>
    <p:extLst>
      <p:ext uri="{BB962C8B-B14F-4D97-AF65-F5344CB8AC3E}">
        <p14:creationId xmlns:p14="http://schemas.microsoft.com/office/powerpoint/2010/main" val="1211972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CA46449-103B-2CB3-E783-17367956C9A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84166334-C828-AD3D-C0BC-F44CA2987782}"/>
              </a:ext>
            </a:extLst>
          </p:cNvPr>
          <p:cNvGrpSpPr/>
          <p:nvPr/>
        </p:nvGrpSpPr>
        <p:grpSpPr>
          <a:xfrm>
            <a:off x="771896" y="218172"/>
            <a:ext cx="8158348" cy="444600"/>
            <a:chOff x="0" y="6299"/>
            <a:chExt cx="5580934" cy="444600"/>
          </a:xfrm>
          <a:noFill/>
        </p:grpSpPr>
        <p:sp>
          <p:nvSpPr>
            <p:cNvPr id="109" name="Google Shape;109;p2">
              <a:extLst>
                <a:ext uri="{FF2B5EF4-FFF2-40B4-BE49-F238E27FC236}">
                  <a16:creationId xmlns:a16="http://schemas.microsoft.com/office/drawing/2014/main" id="{DD9B08A7-769B-C34B-B089-27CB3484F37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916722A6-EB51-DD67-909C-CF9EC7E57A4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id="{93079442-C689-D16E-FD88-DB31772825B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45CA01FA-06C1-B691-2467-D2AFA3915D19}"/>
              </a:ext>
            </a:extLst>
          </p:cNvPr>
          <p:cNvSpPr txBox="1"/>
          <p:nvPr/>
        </p:nvSpPr>
        <p:spPr>
          <a:xfrm>
            <a:off x="83127" y="1089512"/>
            <a:ext cx="8942119" cy="241908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M7: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Contributing for creation of healthy, vibrant and sustainable society by involving in Institutional Social Responsibility (ISR) activities like rural development, welfare of 	senior citizens, women empowerment, community service, health and hygiene awareness and environmental protection.</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5</a:t>
            </a:r>
          </a:p>
        </p:txBody>
      </p:sp>
    </p:spTree>
    <p:extLst>
      <p:ext uri="{BB962C8B-B14F-4D97-AF65-F5344CB8AC3E}">
        <p14:creationId xmlns:p14="http://schemas.microsoft.com/office/powerpoint/2010/main" val="319249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Vision of Department</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83127" y="1101387"/>
            <a:ext cx="8942119" cy="2834582"/>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be recognized as a leading Computer Science &amp; Engineering department through effective teaching practices and excellence in research and innovation for creating competent professionals with ethics, values and entrepreneurial attitude to deliver service to society and to meet the current industry standards at the global level.</a:t>
            </a:r>
          </a:p>
          <a:p>
            <a:pPr marL="0" marR="0" lvl="0" indent="0" algn="just" rtl="0">
              <a:lnSpc>
                <a:spcPct val="90000"/>
              </a:lnSpc>
              <a:spcBef>
                <a:spcPts val="0"/>
              </a:spcBef>
              <a:spcAft>
                <a:spcPts val="0"/>
              </a:spcAft>
              <a:buNone/>
            </a:pPr>
            <a:endParaRPr lang="en-US"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6</a:t>
            </a:r>
          </a:p>
        </p:txBody>
      </p:sp>
    </p:spTree>
    <p:extLst>
      <p:ext uri="{BB962C8B-B14F-4D97-AF65-F5344CB8AC3E}">
        <p14:creationId xmlns:p14="http://schemas.microsoft.com/office/powerpoint/2010/main" val="1833566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Department</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83127" y="1101387"/>
            <a:ext cx="8942119" cy="36378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M1</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provide practical knowledge using state-of-the-art technological support for the experiential learning of our students.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M2</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provide industry recommended curriculum and transparent assessment for quality learning experiences.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M3</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create global linkages for interdisciplinary collaborative learning and research.</a:t>
            </a: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7</a:t>
            </a:r>
          </a:p>
        </p:txBody>
      </p:sp>
    </p:spTree>
    <p:extLst>
      <p:ext uri="{BB962C8B-B14F-4D97-AF65-F5344CB8AC3E}">
        <p14:creationId xmlns:p14="http://schemas.microsoft.com/office/powerpoint/2010/main" val="192231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rtl="0">
                <a:spcBef>
                  <a:spcPts val="0"/>
                </a:spcBef>
                <a:spcAft>
                  <a:spcPts val="0"/>
                </a:spcAft>
                <a:buNone/>
              </a:pPr>
              <a:endParaRPr sz="120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rtl="0">
                <a:lnSpc>
                  <a:spcPct val="90000"/>
                </a:lnSpc>
                <a:spcBef>
                  <a:spcPts val="0"/>
                </a:spcBef>
                <a:spcAft>
                  <a:spcPts val="0"/>
                </a:spcAft>
                <a:buClr>
                  <a:srgbClr val="000000"/>
                </a:buClr>
                <a:buSzPts val="1900"/>
                <a:buFont typeface="Arial"/>
                <a:buNone/>
              </a:pPr>
              <a:r>
                <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Educational Objectives (PEOs)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5B5257C9-FDBE-6196-88C3-8C562A0CC922}"/>
              </a:ext>
            </a:extLst>
          </p:cNvPr>
          <p:cNvSpPr txBox="1"/>
          <p:nvPr/>
        </p:nvSpPr>
        <p:spPr>
          <a:xfrm>
            <a:off x="83127" y="1101387"/>
            <a:ext cx="8942119" cy="4025677"/>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PEO 1: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produce under graduate engineers with an ability to comprehend, understand and analyze real life problems for providing sustainable solutions in the light of disruptive technologies.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PEO 2: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inculcate life-long learning skills in graduates preparing them for work in changing environments and multidisciplinary teams in order to enhance their capability being globally employable.</a:t>
            </a:r>
          </a:p>
          <a:p>
            <a:pPr marL="0" marR="0" lvl="0" indent="0" algn="just" rtl="0">
              <a:lnSpc>
                <a:spcPct val="90000"/>
              </a:lnSpc>
              <a:spcBef>
                <a:spcPts val="0"/>
              </a:spcBef>
              <a:spcAft>
                <a:spcPts val="0"/>
              </a:spcAft>
              <a:buNone/>
            </a:pPr>
            <a:br>
              <a:rPr lang="en-US" sz="3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br>
            <a:endParaRPr lang="en-US" sz="3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8</a:t>
            </a:r>
          </a:p>
        </p:txBody>
      </p:sp>
    </p:spTree>
    <p:extLst>
      <p:ext uri="{BB962C8B-B14F-4D97-AF65-F5344CB8AC3E}">
        <p14:creationId xmlns:p14="http://schemas.microsoft.com/office/powerpoint/2010/main" val="3027036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2C1B04-48BA-9B3E-DE96-E1B49F6D47A6}"/>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7F5783-3A08-A3C8-F798-B77C3C4AD382}"/>
              </a:ext>
            </a:extLst>
          </p:cNvPr>
          <p:cNvGrpSpPr/>
          <p:nvPr/>
        </p:nvGrpSpPr>
        <p:grpSpPr>
          <a:xfrm>
            <a:off x="748146" y="218172"/>
            <a:ext cx="8277100" cy="444600"/>
            <a:chOff x="0" y="6299"/>
            <a:chExt cx="5580934" cy="444600"/>
          </a:xfrm>
          <a:noFill/>
        </p:grpSpPr>
        <p:sp>
          <p:nvSpPr>
            <p:cNvPr id="109" name="Google Shape;109;p2">
              <a:extLst>
                <a:ext uri="{FF2B5EF4-FFF2-40B4-BE49-F238E27FC236}">
                  <a16:creationId xmlns:a16="http://schemas.microsoft.com/office/drawing/2014/main" id="{A6FB020D-BE12-134E-233A-248AFBD0B90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FDAE8DDF-74F4-FD0C-A89C-F6CF4E4DAFD7}"/>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Outcome (POs)</a:t>
              </a:r>
            </a:p>
          </p:txBody>
        </p:sp>
      </p:grpSp>
      <p:sp>
        <p:nvSpPr>
          <p:cNvPr id="111" name="Google Shape;111;p2">
            <a:extLst>
              <a:ext uri="{FF2B5EF4-FFF2-40B4-BE49-F238E27FC236}">
                <a16:creationId xmlns:a16="http://schemas.microsoft.com/office/drawing/2014/main" id="{C53AD737-C38A-DB49-529A-50587D64BBD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227EEA37-B64C-77F3-D3FF-A8A096237A88}"/>
              </a:ext>
            </a:extLst>
          </p:cNvPr>
          <p:cNvSpPr txBox="1"/>
          <p:nvPr/>
        </p:nvSpPr>
        <p:spPr>
          <a:xfrm>
            <a:off x="83127" y="1101387"/>
            <a:ext cx="8942119" cy="3457829"/>
          </a:xfrm>
          <a:prstGeom prst="rect">
            <a:avLst/>
          </a:prstGeom>
          <a:noFill/>
          <a:ln>
            <a:noFill/>
          </a:ln>
        </p:spPr>
        <p:txBody>
          <a:bodyPr spcFirstLastPara="1" wrap="square" lIns="91425" tIns="45700" rIns="91425" bIns="45700" anchor="t" anchorCtr="0">
            <a:spAutoFit/>
          </a:bodyPr>
          <a:lstStyle/>
          <a:p>
            <a:pPr algn="just">
              <a:lnSpc>
                <a:spcPct val="90000"/>
              </a:lnSpc>
            </a:pPr>
            <a:r>
              <a:rPr lang="pl-PL" sz="27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PO1: </a:t>
            </a:r>
            <a:r>
              <a:rPr lang="en-IN" sz="2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Apply the knowledge of mathematics, science, engineering fundamentals, and an engineering specialisation for the solution of complex engineering problems.</a:t>
            </a:r>
            <a:endParaRPr lang="pl-PL" sz="27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r>
              <a:rPr lang="pl-PL" sz="27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PO2: </a:t>
            </a:r>
            <a:r>
              <a:rPr lang="en-IN" sz="27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Use research-based knowledge and research methods including design of experiments, analysis and interpretation of data, and synthesis of the information to provide valid conclusions.</a:t>
            </a:r>
            <a:r>
              <a:rPr lang="en-IN" sz="2700" dirty="0">
                <a:effectLst/>
                <a:latin typeface="Calibri" panose="020F0502020204030204" pitchFamily="34" charset="0"/>
                <a:cs typeface="Calibri" panose="020F0502020204030204" pitchFamily="34" charset="0"/>
              </a:rPr>
              <a:t> </a:t>
            </a:r>
            <a:endParaRPr lang="pl-PL" sz="27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algn="just">
              <a:lnSpc>
                <a:spcPct val="90000"/>
              </a:lnSpc>
            </a:pPr>
            <a:r>
              <a:rPr lang="pl-PL" sz="27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PO3: </a:t>
            </a:r>
            <a:r>
              <a:rPr lang="en-IN" sz="2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Apply analytic thought to a body of knowledge, including the analysis and evaluation of policies, and practices.</a:t>
            </a:r>
            <a:endParaRPr lang="en-IN" sz="27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9</a:t>
            </a:r>
          </a:p>
        </p:txBody>
      </p:sp>
    </p:spTree>
    <p:extLst>
      <p:ext uri="{BB962C8B-B14F-4D97-AF65-F5344CB8AC3E}">
        <p14:creationId xmlns:p14="http://schemas.microsoft.com/office/powerpoint/2010/main" val="134388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E2126F6-B101-41A9-5DB6-C3C0085D9EF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852FB00-EB7A-7B9A-98AF-9771095CD22E}"/>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57780BB8-2E8A-6BB0-E690-C788486DADA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02C1E1C4-89DC-F2F4-5CE3-54CE2AFB0E8F}"/>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Specific Outcome (PSOs)</a:t>
              </a:r>
            </a:p>
          </p:txBody>
        </p:sp>
      </p:grpSp>
      <p:sp>
        <p:nvSpPr>
          <p:cNvPr id="111" name="Google Shape;111;p2">
            <a:extLst>
              <a:ext uri="{FF2B5EF4-FFF2-40B4-BE49-F238E27FC236}">
                <a16:creationId xmlns:a16="http://schemas.microsoft.com/office/drawing/2014/main" id="{DB28259A-D554-4F60-EBEF-45B9897023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66464B-8387-4CF4-2F0A-0CE40DA30A94}"/>
              </a:ext>
            </a:extLst>
          </p:cNvPr>
          <p:cNvSpPr txBox="1"/>
          <p:nvPr/>
        </p:nvSpPr>
        <p:spPr>
          <a:xfrm>
            <a:off x="83127" y="1101387"/>
            <a:ext cx="8942119" cy="3671734"/>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 Graduate of Computer Science &amp; Engineering Program will be able:</a:t>
            </a:r>
          </a:p>
          <a:p>
            <a:pPr algn="just">
              <a:lnSpc>
                <a:spcPct val="90000"/>
              </a:lnSpc>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PSO1. </a:t>
            </a: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Exhibit attitude for continuous learning and deliver efficient solutions for emerging challenges in the computation domain.</a:t>
            </a: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just">
              <a:lnSpc>
                <a:spcPct val="115000"/>
              </a:lnSpc>
              <a:spcAft>
                <a:spcPts val="1200"/>
              </a:spcAft>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PSO2. </a:t>
            </a: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Apply standard software engineering principles to develop viable solutions for Information Technology Enabled Services (ITES)</a:t>
            </a:r>
            <a:r>
              <a:rPr lang="en-IN" sz="2800" dirty="0">
                <a:solidFill>
                  <a:srgbClr val="111111"/>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a:t>
            </a:r>
            <a:endParaRPr lang="en-IN" sz="2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8709002" y="85987"/>
            <a:ext cx="434998" cy="307777"/>
          </a:xfrm>
          <a:prstGeom prst="rect">
            <a:avLst/>
          </a:prstGeom>
          <a:noFill/>
        </p:spPr>
        <p:txBody>
          <a:bodyPr wrap="square" rtlCol="0">
            <a:spAutoFit/>
          </a:bodyPr>
          <a:lstStyle/>
          <a:p>
            <a:r>
              <a:rPr lang="en-IN" dirty="0"/>
              <a:t>10</a:t>
            </a:r>
          </a:p>
        </p:txBody>
      </p:sp>
    </p:spTree>
    <p:extLst>
      <p:ext uri="{BB962C8B-B14F-4D97-AF65-F5344CB8AC3E}">
        <p14:creationId xmlns:p14="http://schemas.microsoft.com/office/powerpoint/2010/main" val="340586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5379942-D42B-ADBD-9A8E-31EF24CC28E3}"/>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ACC4C74B-FA37-D3D4-992E-5D82C0A6AE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859A3422-BB99-8F80-F3A1-E5299C4B75E5}"/>
              </a:ext>
            </a:extLst>
          </p:cNvPr>
          <p:cNvGraphicFramePr>
            <a:graphicFrameLocks noGrp="1"/>
          </p:cNvGraphicFramePr>
          <p:nvPr>
            <p:extLst>
              <p:ext uri="{D42A27DB-BD31-4B8C-83A1-F6EECF244321}">
                <p14:modId xmlns:p14="http://schemas.microsoft.com/office/powerpoint/2010/main" val="4192059186"/>
              </p:ext>
            </p:extLst>
          </p:nvPr>
        </p:nvGraphicFramePr>
        <p:xfrm>
          <a:off x="620487" y="55744"/>
          <a:ext cx="8547264" cy="5015022"/>
        </p:xfrm>
        <a:graphic>
          <a:graphicData uri="http://schemas.openxmlformats.org/drawingml/2006/table">
            <a:tbl>
              <a:tblPr firstRow="1" firstCol="1" bandRow="1"/>
              <a:tblGrid>
                <a:gridCol w="1202766">
                  <a:extLst>
                    <a:ext uri="{9D8B030D-6E8A-4147-A177-3AD203B41FA5}">
                      <a16:colId xmlns:a16="http://schemas.microsoft.com/office/drawing/2014/main" val="1199928603"/>
                    </a:ext>
                  </a:extLst>
                </a:gridCol>
                <a:gridCol w="573991">
                  <a:extLst>
                    <a:ext uri="{9D8B030D-6E8A-4147-A177-3AD203B41FA5}">
                      <a16:colId xmlns:a16="http://schemas.microsoft.com/office/drawing/2014/main" val="3855413883"/>
                    </a:ext>
                  </a:extLst>
                </a:gridCol>
                <a:gridCol w="5737484">
                  <a:extLst>
                    <a:ext uri="{9D8B030D-6E8A-4147-A177-3AD203B41FA5}">
                      <a16:colId xmlns:a16="http://schemas.microsoft.com/office/drawing/2014/main" val="2658957227"/>
                    </a:ext>
                  </a:extLst>
                </a:gridCol>
                <a:gridCol w="1033023">
                  <a:extLst>
                    <a:ext uri="{9D8B030D-6E8A-4147-A177-3AD203B41FA5}">
                      <a16:colId xmlns:a16="http://schemas.microsoft.com/office/drawing/2014/main" val="4236942419"/>
                    </a:ext>
                  </a:extLst>
                </a:gridCol>
              </a:tblGrid>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38425962"/>
                  </a:ext>
                </a:extLst>
              </a:tr>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18427962"/>
                  </a:ext>
                </a:extLst>
              </a:tr>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EVEN SEMESTER: JAN-JUN 2026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04688443"/>
                  </a:ext>
                </a:extLst>
              </a:tr>
              <a:tr h="257170">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7377621"/>
                  </a:ext>
                </a:extLst>
              </a:tr>
              <a:tr h="526291">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05.01.2026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Even Semester - 2nd Year and 4th Year [All Programs]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2385331"/>
                  </a:ext>
                </a:extLst>
              </a:tr>
              <a:tr h="521143">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06.01.2026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Even Semester - 1st Year, 3rd Year and 5th Year [All Programs]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8825684"/>
                  </a:ext>
                </a:extLst>
              </a:tr>
              <a:tr h="513442">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10.01.2026</a:t>
                      </a:r>
                      <a:r>
                        <a:rPr lang="en-IN" sz="16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Sat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 Day </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 Students of 1st Year, 3rd Year &amp; 5th Year [All Programs]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8314346"/>
                  </a:ext>
                </a:extLst>
              </a:tr>
              <a:tr h="693965">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12.01.2026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Evoke: National Youth Summit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0987301"/>
                  </a:ext>
                </a:extLst>
              </a:tr>
              <a:tr h="51344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27.01.2026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Artist Achievers Awards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2552784"/>
                  </a:ext>
                </a:extLst>
              </a:tr>
              <a:tr h="51344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09.02.2026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MST 01 [1st Hourly Test] All Years [All Programs] [09.02.2026 to 12.02.2026]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00822275"/>
                  </a:ext>
                </a:extLst>
              </a:tr>
              <a:tr h="521143">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13.02.2026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Annual Athletic Meet [13.02.2026 to 14.02.2026]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45118858"/>
                  </a:ext>
                </a:extLst>
              </a:tr>
            </a:tbl>
          </a:graphicData>
        </a:graphic>
      </p:graphicFrame>
      <p:sp>
        <p:nvSpPr>
          <p:cNvPr id="4" name="TextBox 3"/>
          <p:cNvSpPr txBox="1"/>
          <p:nvPr/>
        </p:nvSpPr>
        <p:spPr>
          <a:xfrm>
            <a:off x="8709003" y="85987"/>
            <a:ext cx="383438" cy="307777"/>
          </a:xfrm>
          <a:prstGeom prst="rect">
            <a:avLst/>
          </a:prstGeom>
          <a:noFill/>
        </p:spPr>
        <p:txBody>
          <a:bodyPr wrap="none" rtlCol="0">
            <a:spAutoFit/>
          </a:bodyPr>
          <a:lstStyle/>
          <a:p>
            <a:r>
              <a:rPr lang="en-IN" dirty="0"/>
              <a:t>11</a:t>
            </a:r>
          </a:p>
        </p:txBody>
      </p:sp>
    </p:spTree>
    <p:extLst>
      <p:ext uri="{BB962C8B-B14F-4D97-AF65-F5344CB8AC3E}">
        <p14:creationId xmlns:p14="http://schemas.microsoft.com/office/powerpoint/2010/main" val="3852726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D1DDEEE0-910E-3E0E-B437-81BB88E42DA7}"/>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3226736F-6A8D-12B0-851E-A288154D86FD}"/>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01993774-A149-E62C-1420-B77540FA5F6E}"/>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45CCCCAA-8C35-5EF2-1C31-A1C229A44549}"/>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0E094231-7155-CA40-C131-271E092AE71F}"/>
              </a:ext>
            </a:extLst>
          </p:cNvPr>
          <p:cNvGraphicFramePr>
            <a:graphicFrameLocks noGrp="1"/>
          </p:cNvGraphicFramePr>
          <p:nvPr>
            <p:extLst>
              <p:ext uri="{D42A27DB-BD31-4B8C-83A1-F6EECF244321}">
                <p14:modId xmlns:p14="http://schemas.microsoft.com/office/powerpoint/2010/main" val="2575708433"/>
              </p:ext>
            </p:extLst>
          </p:nvPr>
        </p:nvGraphicFramePr>
        <p:xfrm>
          <a:off x="693419" y="26587"/>
          <a:ext cx="8377101" cy="5049160"/>
        </p:xfrm>
        <a:graphic>
          <a:graphicData uri="http://schemas.openxmlformats.org/drawingml/2006/table">
            <a:tbl>
              <a:tblPr firstRow="1" firstCol="1" bandRow="1"/>
              <a:tblGrid>
                <a:gridCol w="1065038">
                  <a:extLst>
                    <a:ext uri="{9D8B030D-6E8A-4147-A177-3AD203B41FA5}">
                      <a16:colId xmlns:a16="http://schemas.microsoft.com/office/drawing/2014/main" val="2717252150"/>
                    </a:ext>
                  </a:extLst>
                </a:gridCol>
                <a:gridCol w="571456">
                  <a:extLst>
                    <a:ext uri="{9D8B030D-6E8A-4147-A177-3AD203B41FA5}">
                      <a16:colId xmlns:a16="http://schemas.microsoft.com/office/drawing/2014/main" val="1256234615"/>
                    </a:ext>
                  </a:extLst>
                </a:gridCol>
                <a:gridCol w="5712147">
                  <a:extLst>
                    <a:ext uri="{9D8B030D-6E8A-4147-A177-3AD203B41FA5}">
                      <a16:colId xmlns:a16="http://schemas.microsoft.com/office/drawing/2014/main" val="1668934223"/>
                    </a:ext>
                  </a:extLst>
                </a:gridCol>
                <a:gridCol w="1028460">
                  <a:extLst>
                    <a:ext uri="{9D8B030D-6E8A-4147-A177-3AD203B41FA5}">
                      <a16:colId xmlns:a16="http://schemas.microsoft.com/office/drawing/2014/main" val="2612768570"/>
                    </a:ext>
                  </a:extLst>
                </a:gridCol>
              </a:tblGrid>
              <a:tr h="199144">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CHANDIGARH UNIVERSITY</a:t>
                      </a:r>
                      <a:endParaRPr lang="en-IN" sz="16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192120">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Academic Calendar for the Session 2025-26 </a:t>
                      </a:r>
                      <a:endParaRPr lang="en-IN" sz="16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192120">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EVEN SEMESTER: JAN-JUN 2026 </a:t>
                      </a:r>
                      <a:endParaRPr lang="en-IN" sz="16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5717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Calibri" panose="020F0502020204030204" pitchFamily="34"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419546">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06.03.2026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Project Expo 2026 [06.03.2026 - 07.03.2026]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Co-Curr.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09.03.2026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Practical MST - All Years [All Programs] [09.03.2026 to 14.03.2026]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667241">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13.03.2026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 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Babasaheb Bhimrao Ambedkar National Youth Parliament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[13.03.2026 to 14.03.2026]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608065">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17.03.2026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MST 02 [2nd Hourly Test] All Years [All Programs]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[17.03.2026 to 20.03.2026]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25.03.2026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CU Theatre Festival - [25.03.2026 to 27.03.2026]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410449">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27.03.2026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"CU Fest" - National Cultural Festival [27.03.2026 to 28.03.2026]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2709618"/>
                  </a:ext>
                </a:extLst>
              </a:tr>
              <a:tr h="272829">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10.04.2026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CU Heritage Festival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23051000"/>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24.04.2026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Last Teaching Day - All Years [All Programs, Except UID]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3112547"/>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12</a:t>
            </a:r>
          </a:p>
        </p:txBody>
      </p:sp>
    </p:spTree>
    <p:extLst>
      <p:ext uri="{BB962C8B-B14F-4D97-AF65-F5344CB8AC3E}">
        <p14:creationId xmlns:p14="http://schemas.microsoft.com/office/powerpoint/2010/main" val="408397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60E3EA08-2591-DCF5-81F9-31A3887DF987}"/>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02E522B1-28FC-4FC4-88F4-A711FD95ECAE}"/>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CA9E1061-ABA7-EF04-F150-F32ADA9D964F}"/>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4299C8F9-66FD-B000-CA76-C67F417C690E}"/>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112AB60A-0C24-1E5A-C9B6-38F06F570747}"/>
              </a:ext>
            </a:extLst>
          </p:cNvPr>
          <p:cNvGraphicFramePr>
            <a:graphicFrameLocks noGrp="1"/>
          </p:cNvGraphicFramePr>
          <p:nvPr>
            <p:extLst>
              <p:ext uri="{D42A27DB-BD31-4B8C-83A1-F6EECF244321}">
                <p14:modId xmlns:p14="http://schemas.microsoft.com/office/powerpoint/2010/main" val="2872475115"/>
              </p:ext>
            </p:extLst>
          </p:nvPr>
        </p:nvGraphicFramePr>
        <p:xfrm>
          <a:off x="688769" y="129919"/>
          <a:ext cx="8455231" cy="4999259"/>
        </p:xfrm>
        <a:graphic>
          <a:graphicData uri="http://schemas.openxmlformats.org/drawingml/2006/table">
            <a:tbl>
              <a:tblPr firstRow="1" firstCol="1" bandRow="1"/>
              <a:tblGrid>
                <a:gridCol w="1074972">
                  <a:extLst>
                    <a:ext uri="{9D8B030D-6E8A-4147-A177-3AD203B41FA5}">
                      <a16:colId xmlns:a16="http://schemas.microsoft.com/office/drawing/2014/main" val="2717252150"/>
                    </a:ext>
                  </a:extLst>
                </a:gridCol>
                <a:gridCol w="576785">
                  <a:extLst>
                    <a:ext uri="{9D8B030D-6E8A-4147-A177-3AD203B41FA5}">
                      <a16:colId xmlns:a16="http://schemas.microsoft.com/office/drawing/2014/main" val="1256234615"/>
                    </a:ext>
                  </a:extLst>
                </a:gridCol>
                <a:gridCol w="5765421">
                  <a:extLst>
                    <a:ext uri="{9D8B030D-6E8A-4147-A177-3AD203B41FA5}">
                      <a16:colId xmlns:a16="http://schemas.microsoft.com/office/drawing/2014/main" val="1668934223"/>
                    </a:ext>
                  </a:extLst>
                </a:gridCol>
                <a:gridCol w="1038053">
                  <a:extLst>
                    <a:ext uri="{9D8B030D-6E8A-4147-A177-3AD203B41FA5}">
                      <a16:colId xmlns:a16="http://schemas.microsoft.com/office/drawing/2014/main" val="2612768570"/>
                    </a:ext>
                  </a:extLst>
                </a:gridCol>
              </a:tblGrid>
              <a:tr h="199144">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192120">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192120">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EVEN SEMESTER: JAN-JUN 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5717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608065">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25.04.2026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Sat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Practical Exams - Regular &amp; Reappear - All Years [All Programs]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End Term Evaluation for Projects [Evaluation Panel]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[25.04.2026 to 30.04.2026]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550520">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Last Teaching Day - All Years [All Programs, Except UID]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667241">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Theory Exams - Regular &amp; Reappear - All Years [All Programs]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[01.05.2026 to 23.05.2026]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758961">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04.05.2026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Practical Exam-Reg. &amp; Reappear-All Years [All Programs of UID]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End-Term Evaluation for Projects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[04.05.2026 to 09.05.2026]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13</a:t>
            </a:r>
          </a:p>
        </p:txBody>
      </p:sp>
    </p:spTree>
    <p:extLst>
      <p:ext uri="{BB962C8B-B14F-4D97-AF65-F5344CB8AC3E}">
        <p14:creationId xmlns:p14="http://schemas.microsoft.com/office/powerpoint/2010/main" val="3393633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5AA5D7C3-6BC9-C4AD-30CA-20B6E6237C5E}"/>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2AB8A1B5-E6C8-AF1B-9E3B-FC6E103DBDB0}"/>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B1094AA9-8556-8895-48B2-3BBCA1AD21F5}"/>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A60C716B-2E0C-FD7B-2B23-2CAA5B9CB86B}"/>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295FCD33-A599-D019-DDC7-F89B2A67DCF7}"/>
              </a:ext>
            </a:extLst>
          </p:cNvPr>
          <p:cNvGraphicFramePr>
            <a:graphicFrameLocks noGrp="1"/>
          </p:cNvGraphicFramePr>
          <p:nvPr>
            <p:extLst>
              <p:ext uri="{D42A27DB-BD31-4B8C-83A1-F6EECF244321}">
                <p14:modId xmlns:p14="http://schemas.microsoft.com/office/powerpoint/2010/main" val="1644604668"/>
              </p:ext>
            </p:extLst>
          </p:nvPr>
        </p:nvGraphicFramePr>
        <p:xfrm>
          <a:off x="675062" y="85987"/>
          <a:ext cx="8417379" cy="5076862"/>
        </p:xfrm>
        <a:graphic>
          <a:graphicData uri="http://schemas.openxmlformats.org/drawingml/2006/table">
            <a:tbl>
              <a:tblPr firstRow="1" firstCol="1" bandRow="1"/>
              <a:tblGrid>
                <a:gridCol w="1070159">
                  <a:extLst>
                    <a:ext uri="{9D8B030D-6E8A-4147-A177-3AD203B41FA5}">
                      <a16:colId xmlns:a16="http://schemas.microsoft.com/office/drawing/2014/main" val="2717252150"/>
                    </a:ext>
                  </a:extLst>
                </a:gridCol>
                <a:gridCol w="730614">
                  <a:extLst>
                    <a:ext uri="{9D8B030D-6E8A-4147-A177-3AD203B41FA5}">
                      <a16:colId xmlns:a16="http://schemas.microsoft.com/office/drawing/2014/main" val="1256234615"/>
                    </a:ext>
                  </a:extLst>
                </a:gridCol>
                <a:gridCol w="5583201">
                  <a:extLst>
                    <a:ext uri="{9D8B030D-6E8A-4147-A177-3AD203B41FA5}">
                      <a16:colId xmlns:a16="http://schemas.microsoft.com/office/drawing/2014/main" val="1668934223"/>
                    </a:ext>
                  </a:extLst>
                </a:gridCol>
                <a:gridCol w="1033405">
                  <a:extLst>
                    <a:ext uri="{9D8B030D-6E8A-4147-A177-3AD203B41FA5}">
                      <a16:colId xmlns:a16="http://schemas.microsoft.com/office/drawing/2014/main" val="2612768570"/>
                    </a:ext>
                  </a:extLst>
                </a:gridCol>
              </a:tblGrid>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EVEN SEMESTER: JAN-JUN 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4616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868474">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11.05.2026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Theory Exams-Regular &amp; Reappear-All Years [All Programs </a:t>
                      </a:r>
                      <a:r>
                        <a:rPr lang="en-IN" sz="1600" i="1">
                          <a:solidFill>
                            <a:srgbClr val="000000"/>
                          </a:solidFill>
                          <a:effectLst/>
                          <a:latin typeface="Calibri" panose="020F0502020204030204" pitchFamily="34" charset="0"/>
                          <a:ea typeface="Calibri" panose="020F0502020204030204" pitchFamily="34" charset="0"/>
                          <a:cs typeface="Calibri" panose="020F0502020204030204" pitchFamily="34" charset="0"/>
                        </a:rPr>
                        <a:t>UID</a:t>
                      </a: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 [11.05.2026 to 23.05.2026]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507727">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23.05.2026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Sat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of Even Semester All Years [All Programs]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710356">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25.05.2026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FDP/Conference/Workshop - [Faculty: No Vacations/No Leaves]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[25.05.2026 to 29.05.2026]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University</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608829">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01.06.2026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Summer Term/Summer Internships/Winning Boot Camp</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[01.06.2026 to 30.06.2026]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686860">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01.06.2026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Summer Break for Faculty [Eligible - As per HR Policy]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[01.06.2026 to 30.06.2026]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University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592962">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12.06.2026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Announcement of Results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7851935"/>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14</a:t>
            </a:r>
          </a:p>
        </p:txBody>
      </p:sp>
    </p:spTree>
    <p:extLst>
      <p:ext uri="{BB962C8B-B14F-4D97-AF65-F5344CB8AC3E}">
        <p14:creationId xmlns:p14="http://schemas.microsoft.com/office/powerpoint/2010/main" val="4216384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119DE5C3-B378-9CDE-3699-AF10035761F6}"/>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E912CAA7-111B-F22E-10A5-FD4DAD70A1B5}"/>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A2088BF9-A7A1-EE56-4EAB-0525BD83F0E9}"/>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8F4529A2-989D-4CC8-C9D2-2BAC102644F0}"/>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A794C131-D5F4-53C5-5E3C-77B011F7E6D6}"/>
              </a:ext>
            </a:extLst>
          </p:cNvPr>
          <p:cNvGraphicFramePr>
            <a:graphicFrameLocks noGrp="1"/>
          </p:cNvGraphicFramePr>
          <p:nvPr>
            <p:extLst>
              <p:ext uri="{D42A27DB-BD31-4B8C-83A1-F6EECF244321}">
                <p14:modId xmlns:p14="http://schemas.microsoft.com/office/powerpoint/2010/main" val="2873380586"/>
              </p:ext>
            </p:extLst>
          </p:nvPr>
        </p:nvGraphicFramePr>
        <p:xfrm>
          <a:off x="675062" y="85987"/>
          <a:ext cx="8417379" cy="4999193"/>
        </p:xfrm>
        <a:graphic>
          <a:graphicData uri="http://schemas.openxmlformats.org/drawingml/2006/table">
            <a:tbl>
              <a:tblPr firstRow="1" firstCol="1" bandRow="1"/>
              <a:tblGrid>
                <a:gridCol w="1070159">
                  <a:extLst>
                    <a:ext uri="{9D8B030D-6E8A-4147-A177-3AD203B41FA5}">
                      <a16:colId xmlns:a16="http://schemas.microsoft.com/office/drawing/2014/main" val="2717252150"/>
                    </a:ext>
                  </a:extLst>
                </a:gridCol>
                <a:gridCol w="730614">
                  <a:extLst>
                    <a:ext uri="{9D8B030D-6E8A-4147-A177-3AD203B41FA5}">
                      <a16:colId xmlns:a16="http://schemas.microsoft.com/office/drawing/2014/main" val="1256234615"/>
                    </a:ext>
                  </a:extLst>
                </a:gridCol>
                <a:gridCol w="5583201">
                  <a:extLst>
                    <a:ext uri="{9D8B030D-6E8A-4147-A177-3AD203B41FA5}">
                      <a16:colId xmlns:a16="http://schemas.microsoft.com/office/drawing/2014/main" val="1668934223"/>
                    </a:ext>
                  </a:extLst>
                </a:gridCol>
                <a:gridCol w="1033405">
                  <a:extLst>
                    <a:ext uri="{9D8B030D-6E8A-4147-A177-3AD203B41FA5}">
                      <a16:colId xmlns:a16="http://schemas.microsoft.com/office/drawing/2014/main" val="2612768570"/>
                    </a:ext>
                  </a:extLst>
                </a:gridCol>
              </a:tblGrid>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248081">
                <a:tc gridSpan="4">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EVEN SEMESTER: JAN-JUN 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4616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550771">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29.06.2026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Graduation Ceremony for International Students [graduating out]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OIA, Uni</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48169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01.07.2026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Summer Term and Special Reappear Exams [01.07.2026 to 07.07.2026]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8120982"/>
                  </a:ext>
                </a:extLst>
              </a:tr>
              <a:tr h="507727">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30.10.2026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Award of Degree 2026 Pass outs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CoE</a:t>
                      </a: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Regr</a:t>
                      </a: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447495">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 [AY 2026-27]</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608829">
                <a:tc>
                  <a:txBody>
                    <a:bodyPr/>
                    <a:lstStyle/>
                    <a:p>
                      <a:pPr algn="l">
                        <a:lnSpc>
                          <a:spcPct val="107000"/>
                        </a:lnSpc>
                        <a:spcAft>
                          <a:spcPts val="800"/>
                        </a:spcAft>
                        <a:buNone/>
                      </a:pPr>
                      <a:r>
                        <a:rPr lang="en-IN" sz="160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01.07.2026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IFDP - </a:t>
                      </a:r>
                      <a:r>
                        <a:rPr lang="en-IN" sz="16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[01.07.2026 to 10.07.2026]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OIA, Univ.</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686860">
                <a:tc>
                  <a:txBody>
                    <a:bodyPr/>
                    <a:lstStyle/>
                    <a:p>
                      <a:pPr algn="l">
                        <a:lnSpc>
                          <a:spcPct val="107000"/>
                        </a:lnSpc>
                        <a:spcAft>
                          <a:spcPts val="800"/>
                        </a:spcAft>
                        <a:buNone/>
                      </a:pPr>
                      <a:r>
                        <a:rPr lang="en-IN" sz="160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15.07.2026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a:t>
                      </a:r>
                      <a:r>
                        <a:rPr lang="en-IN" sz="16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of </a:t>
                      </a:r>
                      <a:r>
                        <a:rPr lang="en-IN" sz="16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 Session [AY 2026-27]</a:t>
                      </a:r>
                      <a:r>
                        <a:rPr lang="en-IN" sz="16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592962">
                <a:tc gridSpan="4">
                  <a:txBody>
                    <a:bodyPr/>
                    <a:lstStyle/>
                    <a:p>
                      <a:pPr indent="-66040" algn="l">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Note:  </a:t>
                      </a:r>
                      <a:r>
                        <a:rPr lang="en-IN" sz="16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10.01.2026 [Sat] will be an Academic Day for students of 1st Year, 3rd Year &amp; 5th Year [All Programs]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7851935"/>
                  </a:ext>
                </a:extLst>
              </a:tr>
            </a:tbl>
          </a:graphicData>
        </a:graphic>
      </p:graphicFrame>
      <p:sp>
        <p:nvSpPr>
          <p:cNvPr id="6" name="TextBox 5">
            <a:extLst>
              <a:ext uri="{FF2B5EF4-FFF2-40B4-BE49-F238E27FC236}">
                <a16:creationId xmlns:a16="http://schemas.microsoft.com/office/drawing/2014/main" id="{C6FED818-4DE6-52DA-3A82-09538DEEA17B}"/>
              </a:ext>
            </a:extLst>
          </p:cNvPr>
          <p:cNvSpPr txBox="1"/>
          <p:nvPr/>
        </p:nvSpPr>
        <p:spPr>
          <a:xfrm>
            <a:off x="8709003" y="85987"/>
            <a:ext cx="383438" cy="307777"/>
          </a:xfrm>
          <a:prstGeom prst="rect">
            <a:avLst/>
          </a:prstGeom>
          <a:solidFill>
            <a:schemeClr val="bg1"/>
          </a:solidFill>
        </p:spPr>
        <p:txBody>
          <a:bodyPr wrap="none" rtlCol="0">
            <a:spAutoFit/>
          </a:bodyPr>
          <a:lstStyle/>
          <a:p>
            <a:r>
              <a:rPr lang="en-IN" dirty="0"/>
              <a:t>15</a:t>
            </a:r>
          </a:p>
        </p:txBody>
      </p:sp>
    </p:spTree>
    <p:extLst>
      <p:ext uri="{BB962C8B-B14F-4D97-AF65-F5344CB8AC3E}">
        <p14:creationId xmlns:p14="http://schemas.microsoft.com/office/powerpoint/2010/main" val="260814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EA8104-ACC5-B6EB-9A28-657E7269BA5A}"/>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FCC6AB15-6313-FEFB-120D-167FF95D6340}"/>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6C480E3-F309-5E78-296D-4CC5B0D4A87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8F25F29-E1FF-F96D-1507-363436E2E8D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Information</a:t>
              </a:r>
            </a:p>
          </p:txBody>
        </p:sp>
      </p:grpSp>
      <p:sp>
        <p:nvSpPr>
          <p:cNvPr id="111" name="Google Shape;111;p2">
            <a:extLst>
              <a:ext uri="{FF2B5EF4-FFF2-40B4-BE49-F238E27FC236}">
                <a16:creationId xmlns:a16="http://schemas.microsoft.com/office/drawing/2014/main" id="{B0ED0376-5835-7F88-2516-DE9EC5C698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F6F6E0CF-6F41-DC54-E019-D3E3A7A52123}"/>
              </a:ext>
            </a:extLst>
          </p:cNvPr>
          <p:cNvSpPr txBox="1"/>
          <p:nvPr/>
        </p:nvSpPr>
        <p:spPr>
          <a:xfrm>
            <a:off x="83127" y="1101387"/>
            <a:ext cx="8942119" cy="37240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5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Prerequisite			                             L   T   P  Cr</a:t>
            </a:r>
          </a:p>
          <a:p>
            <a:pPr marL="0" marR="0" lvl="0" indent="0" algn="just" rtl="0">
              <a:spcBef>
                <a:spcPts val="0"/>
              </a:spcBef>
              <a:spcAft>
                <a:spcPts val="0"/>
              </a:spcAft>
              <a:buNone/>
            </a:pPr>
            <a:r>
              <a:rPr lang="en-US" sz="25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Basic Knowledge of Mathematics </a:t>
            </a:r>
            <a:r>
              <a:rPr lang="en-US" sz="2500"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25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3   0   2   </a:t>
            </a:r>
            <a:r>
              <a:rPr lang="en-US" sz="2500" dirty="0">
                <a:solidFill>
                  <a:schemeClr val="bg2"/>
                </a:solidFill>
                <a:latin typeface="Calibri" panose="020F0502020204030204" pitchFamily="34" charset="0"/>
                <a:ea typeface="Calibri" panose="020F0502020204030204" pitchFamily="34" charset="0"/>
                <a:cs typeface="Calibri" panose="020F0502020204030204" pitchFamily="34" charset="0"/>
              </a:rPr>
              <a:t>4</a:t>
            </a:r>
            <a:endParaRPr lang="en-US" sz="25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spcBef>
                <a:spcPts val="0"/>
              </a:spcBef>
              <a:spcAft>
                <a:spcPts val="0"/>
              </a:spcAft>
              <a:buNone/>
            </a:pPr>
            <a:r>
              <a:rPr lang="en-US" sz="25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Objectives</a:t>
            </a:r>
          </a:p>
          <a:p>
            <a:pPr marL="342900" lvl="0" indent="-342900" algn="just">
              <a:buFont typeface="Arial" panose="020B0604020202020204" pitchFamily="34" charset="0"/>
              <a:buChar char="●"/>
            </a:pPr>
            <a:r>
              <a:rPr lang="en-IN" sz="2300" dirty="0">
                <a:solidFill>
                  <a:srgbClr val="000000"/>
                </a:solidFill>
                <a:effectLst/>
                <a:latin typeface="Calibri" panose="020F0502020204030204" pitchFamily="34" charset="0"/>
                <a:ea typeface="Noto Sans Symbols"/>
                <a:cs typeface="Calibri" panose="020F0502020204030204" pitchFamily="34" charset="0"/>
              </a:rPr>
              <a:t>Understand and apply fundamental numerical methods.</a:t>
            </a:r>
            <a:endParaRPr lang="en-IN" sz="2300" dirty="0">
              <a:effectLst/>
              <a:latin typeface="Calibri" panose="020F0502020204030204" pitchFamily="34" charset="0"/>
              <a:ea typeface="Noto Sans Symbols"/>
              <a:cs typeface="Calibri" panose="020F0502020204030204" pitchFamily="34" charset="0"/>
            </a:endParaRPr>
          </a:p>
          <a:p>
            <a:pPr marL="342900" lvl="0" indent="-342900" algn="just">
              <a:buFont typeface="Arial" panose="020B0604020202020204" pitchFamily="34" charset="0"/>
              <a:buChar char="●"/>
            </a:pPr>
            <a:r>
              <a:rPr lang="en-IN" sz="2300" dirty="0" err="1">
                <a:solidFill>
                  <a:srgbClr val="000000"/>
                </a:solidFill>
                <a:effectLst/>
                <a:latin typeface="Calibri" panose="020F0502020204030204" pitchFamily="34" charset="0"/>
                <a:ea typeface="Noto Sans Symbols"/>
                <a:cs typeface="Calibri" panose="020F0502020204030204" pitchFamily="34" charset="0"/>
              </a:rPr>
              <a:t>Analyze</a:t>
            </a:r>
            <a:r>
              <a:rPr lang="en-IN" sz="2300" dirty="0">
                <a:solidFill>
                  <a:srgbClr val="000000"/>
                </a:solidFill>
                <a:effectLst/>
                <a:latin typeface="Calibri" panose="020F0502020204030204" pitchFamily="34" charset="0"/>
                <a:ea typeface="Noto Sans Symbols"/>
                <a:cs typeface="Calibri" panose="020F0502020204030204" pitchFamily="34" charset="0"/>
              </a:rPr>
              <a:t> errors, numerical stability and the limitations of numeric techniques.</a:t>
            </a:r>
            <a:endParaRPr lang="en-IN" sz="2300" dirty="0">
              <a:effectLst/>
              <a:latin typeface="Calibri" panose="020F0502020204030204" pitchFamily="34" charset="0"/>
              <a:ea typeface="Noto Sans Symbols"/>
              <a:cs typeface="Calibri" panose="020F0502020204030204" pitchFamily="34" charset="0"/>
            </a:endParaRPr>
          </a:p>
          <a:p>
            <a:pPr marL="342900" lvl="0" indent="-342900" algn="just">
              <a:buFont typeface="Arial" panose="020B0604020202020204" pitchFamily="34" charset="0"/>
              <a:buChar char="●"/>
            </a:pPr>
            <a:r>
              <a:rPr lang="en-IN" sz="2300" spc="5" dirty="0">
                <a:effectLst/>
                <a:latin typeface="Calibri" panose="020F0502020204030204" pitchFamily="34" charset="0"/>
                <a:ea typeface="Noto Sans Symbols"/>
                <a:cs typeface="Calibri" panose="020F0502020204030204" pitchFamily="34" charset="0"/>
              </a:rPr>
              <a:t>Apply numerical methods to solve real-world engineering and scientific problems using computer programming</a:t>
            </a:r>
            <a:endParaRPr lang="en-IN" sz="2300" dirty="0">
              <a:effectLst/>
              <a:latin typeface="Calibri" panose="020F0502020204030204" pitchFamily="34" charset="0"/>
              <a:ea typeface="Noto Sans Symbols"/>
              <a:cs typeface="Calibri" panose="020F0502020204030204" pitchFamily="34" charset="0"/>
            </a:endParaRPr>
          </a:p>
          <a:p>
            <a:pPr marL="342900" lvl="0" indent="-342900" algn="just">
              <a:buFont typeface="Arial" panose="020B0604020202020204" pitchFamily="34" charset="0"/>
              <a:buChar char="●"/>
            </a:pPr>
            <a:r>
              <a:rPr lang="en-IN" sz="2300" dirty="0">
                <a:solidFill>
                  <a:srgbClr val="000000"/>
                </a:solidFill>
                <a:effectLst/>
                <a:latin typeface="Calibri" panose="020F0502020204030204" pitchFamily="34" charset="0"/>
                <a:ea typeface="Noto Sans Symbols"/>
                <a:cs typeface="Calibri" panose="020F0502020204030204" pitchFamily="34" charset="0"/>
              </a:rPr>
              <a:t>Ga</a:t>
            </a:r>
            <a:r>
              <a:rPr lang="en-IN" sz="2300" spc="5" dirty="0">
                <a:effectLst/>
                <a:latin typeface="Calibri" panose="020F0502020204030204" pitchFamily="34" charset="0"/>
                <a:ea typeface="Noto Sans Symbols"/>
                <a:cs typeface="Calibri" panose="020F0502020204030204" pitchFamily="34" charset="0"/>
              </a:rPr>
              <a:t>in proficiency in translating mathematical models into computational algorithms, considering both efficiency and accuracy </a:t>
            </a:r>
            <a:r>
              <a:rPr lang="en-IN" sz="2300" spc="5" dirty="0">
                <a:latin typeface="Calibri" panose="020F0502020204030204" pitchFamily="34" charset="0"/>
                <a:ea typeface="Noto Sans Symbols"/>
                <a:cs typeface="Calibri" panose="020F0502020204030204" pitchFamily="34" charset="0"/>
              </a:rPr>
              <a:t>.</a:t>
            </a:r>
            <a:r>
              <a:rPr lang="en-US" sz="23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16</a:t>
            </a:r>
          </a:p>
        </p:txBody>
      </p:sp>
    </p:spTree>
    <p:extLst>
      <p:ext uri="{BB962C8B-B14F-4D97-AF65-F5344CB8AC3E}">
        <p14:creationId xmlns:p14="http://schemas.microsoft.com/office/powerpoint/2010/main" val="2626682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BED8776-82A9-C3BD-5844-FF05405138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0E0E5BE-FA8F-5957-A3CD-8C1DD3BFF40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89AB046-BF5D-9FB0-A377-F7F7D02D46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02AF8FA-0EE9-C2FB-6C1E-80FEF5B5E3A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Outcomes</a:t>
              </a:r>
            </a:p>
          </p:txBody>
        </p:sp>
      </p:grpSp>
      <p:sp>
        <p:nvSpPr>
          <p:cNvPr id="111" name="Google Shape;111;p2">
            <a:extLst>
              <a:ext uri="{FF2B5EF4-FFF2-40B4-BE49-F238E27FC236}">
                <a16:creationId xmlns:a16="http://schemas.microsoft.com/office/drawing/2014/main" id="{6C9CDB22-B6A6-EEC4-E538-5F62E68049E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C2F18147-F4D1-809E-DBDD-99CA1B0616F6}"/>
              </a:ext>
            </a:extLst>
          </p:cNvPr>
          <p:cNvSpPr txBox="1"/>
          <p:nvPr/>
        </p:nvSpPr>
        <p:spPr>
          <a:xfrm>
            <a:off x="83127" y="1101387"/>
            <a:ext cx="8942119" cy="3277780"/>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3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CO1: </a:t>
            </a:r>
            <a:r>
              <a:rPr lang="en-IN" sz="23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Students will be able to recall the use of programming language with Numerical methods.</a:t>
            </a:r>
            <a:r>
              <a:rPr lang="en-IN" sz="2300" dirty="0">
                <a:effectLst/>
                <a:latin typeface="Calibri" panose="020F0502020204030204" pitchFamily="34" charset="0"/>
                <a:cs typeface="Calibri" panose="020F0502020204030204" pitchFamily="34" charset="0"/>
              </a:rPr>
              <a:t> </a:t>
            </a:r>
          </a:p>
          <a:p>
            <a:pPr marL="0" marR="0" lvl="0" indent="0" algn="just" rtl="0">
              <a:lnSpc>
                <a:spcPct val="90000"/>
              </a:lnSpc>
              <a:spcBef>
                <a:spcPts val="0"/>
              </a:spcBef>
              <a:spcAft>
                <a:spcPts val="0"/>
              </a:spcAft>
              <a:buNone/>
            </a:pPr>
            <a:r>
              <a:rPr lang="en-US" sz="23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CO2: </a:t>
            </a:r>
            <a:r>
              <a:rPr lang="en-IN" sz="23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Students will be able to understand the techniques used for solving linear and nonlinear Algebra.</a:t>
            </a:r>
            <a:r>
              <a:rPr lang="en-IN" sz="2300" dirty="0">
                <a:effectLst/>
                <a:latin typeface="Calibri" panose="020F0502020204030204" pitchFamily="34" charset="0"/>
                <a:cs typeface="Calibri" panose="020F0502020204030204" pitchFamily="34" charset="0"/>
              </a:rPr>
              <a:t> </a:t>
            </a:r>
          </a:p>
          <a:p>
            <a:pPr marL="0" marR="0" lvl="0" indent="0" algn="just" rtl="0">
              <a:lnSpc>
                <a:spcPct val="90000"/>
              </a:lnSpc>
              <a:spcBef>
                <a:spcPts val="0"/>
              </a:spcBef>
              <a:spcAft>
                <a:spcPts val="0"/>
              </a:spcAft>
              <a:buNone/>
            </a:pPr>
            <a:r>
              <a:rPr lang="en-US" sz="23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CO3: </a:t>
            </a:r>
            <a:r>
              <a:rPr lang="en-IN" sz="23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Students will be able to apply the interpolation and approximation methods to estimate or predict data values based on discrete data sets.</a:t>
            </a:r>
            <a:r>
              <a:rPr lang="en-IN" sz="2300" dirty="0">
                <a:effectLst/>
                <a:latin typeface="Calibri" panose="020F0502020204030204" pitchFamily="34" charset="0"/>
                <a:cs typeface="Calibri" panose="020F0502020204030204" pitchFamily="34" charset="0"/>
              </a:rPr>
              <a:t> </a:t>
            </a:r>
          </a:p>
          <a:p>
            <a:pPr marL="0" marR="0" lvl="0" indent="0" algn="just" rtl="0">
              <a:lnSpc>
                <a:spcPct val="90000"/>
              </a:lnSpc>
              <a:spcBef>
                <a:spcPts val="0"/>
              </a:spcBef>
              <a:spcAft>
                <a:spcPts val="0"/>
              </a:spcAft>
              <a:buNone/>
            </a:pPr>
            <a:r>
              <a:rPr lang="en-IN" sz="23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CO4: </a:t>
            </a:r>
            <a:r>
              <a:rPr lang="en-IN" sz="23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Students will be able to solve initial and boundary value problems in differential equations using numerical methods.</a:t>
            </a:r>
            <a:r>
              <a:rPr lang="en-IN" sz="2300" dirty="0">
                <a:effectLst/>
                <a:latin typeface="Calibri" panose="020F0502020204030204" pitchFamily="34" charset="0"/>
                <a:cs typeface="Calibri" panose="020F0502020204030204" pitchFamily="34" charset="0"/>
              </a:rPr>
              <a:t> </a:t>
            </a:r>
          </a:p>
          <a:p>
            <a:pPr marL="0" marR="0" lvl="0" indent="0" algn="just" rtl="0">
              <a:lnSpc>
                <a:spcPct val="90000"/>
              </a:lnSpc>
              <a:spcBef>
                <a:spcPts val="0"/>
              </a:spcBef>
              <a:spcAft>
                <a:spcPts val="0"/>
              </a:spcAft>
              <a:buNone/>
            </a:pPr>
            <a:r>
              <a:rPr lang="en-IN" sz="23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CO5:</a:t>
            </a:r>
            <a:r>
              <a:rPr lang="en-IN" sz="2300" b="1"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IN" sz="23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Students will be able to apply numerical methods to multidisciplinary applications, demonstrating problem solving skills.</a:t>
            </a:r>
            <a:r>
              <a:rPr lang="en-IN" sz="2300" dirty="0">
                <a:effectLst/>
                <a:latin typeface="Calibri" panose="020F0502020204030204" pitchFamily="34" charset="0"/>
                <a:cs typeface="Calibri" panose="020F0502020204030204" pitchFamily="34" charset="0"/>
              </a:rPr>
              <a:t> </a:t>
            </a:r>
            <a:endParaRPr lang="en-US" sz="23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17</a:t>
            </a:r>
          </a:p>
        </p:txBody>
      </p:sp>
    </p:spTree>
    <p:extLst>
      <p:ext uri="{BB962C8B-B14F-4D97-AF65-F5344CB8AC3E}">
        <p14:creationId xmlns:p14="http://schemas.microsoft.com/office/powerpoint/2010/main" val="1210374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B5FAFCA-84A3-AC13-FA3A-E454AA1583E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F1894E9-0D93-791E-C7E9-841ADB13C07D}"/>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89BC7A8F-BED6-CEAF-5EE9-5779D2F016F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7E62E79-8512-7CF2-3111-C21C6969D36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Importance of Numerical Methods</a:t>
              </a:r>
            </a:p>
          </p:txBody>
        </p:sp>
      </p:grpSp>
      <p:sp>
        <p:nvSpPr>
          <p:cNvPr id="113" name="Google Shape;113;p2">
            <a:extLst>
              <a:ext uri="{FF2B5EF4-FFF2-40B4-BE49-F238E27FC236}">
                <a16:creationId xmlns:a16="http://schemas.microsoft.com/office/drawing/2014/main" id="{500BD51F-E1D7-FF72-1516-FDBC0AD05FE7}"/>
              </a:ext>
            </a:extLst>
          </p:cNvPr>
          <p:cNvSpPr txBox="1"/>
          <p:nvPr/>
        </p:nvSpPr>
        <p:spPr>
          <a:xfrm>
            <a:off x="83127" y="1101387"/>
            <a:ext cx="8942119" cy="34778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2000" dirty="0">
                <a:latin typeface="Calibri" panose="020F0502020204030204" pitchFamily="34" charset="0"/>
                <a:cs typeface="Calibri" panose="020F0502020204030204" pitchFamily="34" charset="0"/>
              </a:rPr>
              <a:t>Numerical Methods play a crucial role in science, engineering, technology, economics, and research. They allow us to find approximate solutions to problems that cannot be solved analytically.</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Many Real-World Problems Have No Exact/Analytical Solutions.</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Useful When Analytical Methods Are Difficult or Impossible</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Handle Complex, Real-Life Data</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Essential for Engineering Simulations</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Foundation of Modern Scientific Computing</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Useful Even When Exact Solution Exists</a:t>
            </a:r>
          </a:p>
          <a:p>
            <a:pPr marL="514350" marR="0" lvl="0" indent="-514350" algn="just" rtl="0">
              <a:spcBef>
                <a:spcPts val="0"/>
              </a:spcBef>
              <a:spcAft>
                <a:spcPts val="0"/>
              </a:spcAft>
              <a:buAutoNum type="arabicPeriod"/>
            </a:pPr>
            <a:r>
              <a:rPr lang="en-IN" sz="2000" dirty="0">
                <a:latin typeface="Calibri" panose="020F0502020204030204" pitchFamily="34" charset="0"/>
                <a:cs typeface="Calibri" panose="020F0502020204030204" pitchFamily="34" charset="0"/>
              </a:rPr>
              <a:t>Enables Real-Time Computation</a:t>
            </a:r>
          </a:p>
          <a:p>
            <a:pPr marL="0" marR="0" lvl="0" indent="0" algn="just" rtl="0">
              <a:spcBef>
                <a:spcPts val="0"/>
              </a:spcBef>
              <a:spcAft>
                <a:spcPts val="0"/>
              </a:spcAft>
              <a:buNone/>
            </a:pPr>
            <a:endParaRPr lang="en-US" sz="2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 name="TextBox 7"/>
          <p:cNvSpPr txBox="1"/>
          <p:nvPr/>
        </p:nvSpPr>
        <p:spPr>
          <a:xfrm>
            <a:off x="8709003" y="85987"/>
            <a:ext cx="383438" cy="307777"/>
          </a:xfrm>
          <a:prstGeom prst="rect">
            <a:avLst/>
          </a:prstGeom>
          <a:noFill/>
        </p:spPr>
        <p:txBody>
          <a:bodyPr wrap="none" rtlCol="0">
            <a:spAutoFit/>
          </a:bodyPr>
          <a:lstStyle/>
          <a:p>
            <a:r>
              <a:rPr lang="en-IN" dirty="0"/>
              <a:t>18</a:t>
            </a:r>
          </a:p>
        </p:txBody>
      </p:sp>
    </p:spTree>
    <p:extLst>
      <p:ext uri="{BB962C8B-B14F-4D97-AF65-F5344CB8AC3E}">
        <p14:creationId xmlns:p14="http://schemas.microsoft.com/office/powerpoint/2010/main" val="2008896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5CD085-9D81-1F6C-1843-EC20D8027E9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594DA05-718F-8922-09BF-0B0C89A1A5A2}"/>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83905778-680B-E7B5-C5BA-B4F84B70B787}"/>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80FC11-D988-9AD8-9D71-BF451376BDBD}"/>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Applications of the Numerical Methods</a:t>
              </a:r>
            </a:p>
          </p:txBody>
        </p:sp>
      </p:grpSp>
      <p:sp>
        <p:nvSpPr>
          <p:cNvPr id="8" name="TextBox 7"/>
          <p:cNvSpPr txBox="1"/>
          <p:nvPr/>
        </p:nvSpPr>
        <p:spPr>
          <a:xfrm>
            <a:off x="8709003" y="85987"/>
            <a:ext cx="383438" cy="307777"/>
          </a:xfrm>
          <a:prstGeom prst="rect">
            <a:avLst/>
          </a:prstGeom>
          <a:noFill/>
        </p:spPr>
        <p:txBody>
          <a:bodyPr wrap="none" rtlCol="0">
            <a:spAutoFit/>
          </a:bodyPr>
          <a:lstStyle/>
          <a:p>
            <a:r>
              <a:rPr lang="en-IN" dirty="0"/>
              <a:t>19</a:t>
            </a:r>
          </a:p>
        </p:txBody>
      </p:sp>
      <p:sp>
        <p:nvSpPr>
          <p:cNvPr id="3" name="TextBox 2">
            <a:extLst>
              <a:ext uri="{FF2B5EF4-FFF2-40B4-BE49-F238E27FC236}">
                <a16:creationId xmlns:a16="http://schemas.microsoft.com/office/drawing/2014/main" id="{7627B2CA-1973-A7B3-2B1C-CAD35791ABBC}"/>
              </a:ext>
            </a:extLst>
          </p:cNvPr>
          <p:cNvSpPr txBox="1"/>
          <p:nvPr/>
        </p:nvSpPr>
        <p:spPr>
          <a:xfrm>
            <a:off x="164591" y="987993"/>
            <a:ext cx="8828463" cy="4247317"/>
          </a:xfrm>
          <a:prstGeom prst="rect">
            <a:avLst/>
          </a:prstGeom>
          <a:noFill/>
        </p:spPr>
        <p:txBody>
          <a:bodyPr wrap="square">
            <a:spAutoFit/>
          </a:bodyPr>
          <a:lstStyle/>
          <a:p>
            <a:r>
              <a:rPr lang="en-IN" sz="1800" dirty="0">
                <a:latin typeface="Calibri" panose="020F0502020204030204" pitchFamily="34" charset="0"/>
                <a:cs typeface="Calibri" panose="020F0502020204030204" pitchFamily="34" charset="0"/>
              </a:rPr>
              <a:t>Numerical Methods are used everywhere in science, engineering, computing, economics, and real-life problem solving. Many systems cannot be solved exactly, so numerical techniques provide </a:t>
            </a:r>
            <a:r>
              <a:rPr lang="en-IN" sz="1800" b="1" dirty="0">
                <a:latin typeface="Calibri" panose="020F0502020204030204" pitchFamily="34" charset="0"/>
                <a:cs typeface="Calibri" panose="020F0502020204030204" pitchFamily="34" charset="0"/>
              </a:rPr>
              <a:t>accurate approximations</a:t>
            </a:r>
            <a:r>
              <a:rPr lang="en-IN" sz="18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Stress–strain analysis (Finite Element Method)</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Heat transfer simulations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Vibration and dynamics problems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Fluid flow simulations (CFD)</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Structural analysis of buildings/bridges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Soil mechanics &amp; foundation design</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Earthquake simulation</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Solving differential equations in physics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Simulation of planetary motion</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Quantum mechanics approximations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Weather prediction models</a:t>
            </a:r>
          </a:p>
          <a:p>
            <a:pPr marL="285750" indent="-285750">
              <a:buFont typeface="Arial" panose="020B0604020202020204" pitchFamily="34" charset="0"/>
              <a:buChar char="•"/>
            </a:pPr>
            <a:r>
              <a:rPr lang="en-IN" sz="1800" dirty="0">
                <a:latin typeface="Calibri" panose="020F0502020204030204" pitchFamily="34" charset="0"/>
                <a:cs typeface="Calibri" panose="020F0502020204030204" pitchFamily="34" charset="0"/>
              </a:rPr>
              <a:t>Climate change simulations</a:t>
            </a:r>
          </a:p>
        </p:txBody>
      </p:sp>
    </p:spTree>
    <p:extLst>
      <p:ext uri="{BB962C8B-B14F-4D97-AF65-F5344CB8AC3E}">
        <p14:creationId xmlns:p14="http://schemas.microsoft.com/office/powerpoint/2010/main" val="1089846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Syllabus (Theory)</a:t>
              </a:r>
            </a:p>
          </p:txBody>
        </p:sp>
      </p:grpSp>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E104F2BD-2C65-C461-4765-233EA1C87E73}"/>
              </a:ext>
            </a:extLst>
          </p:cNvPr>
          <p:cNvGraphicFramePr>
            <a:graphicFrameLocks noGrp="1"/>
          </p:cNvGraphicFramePr>
          <p:nvPr>
            <p:extLst>
              <p:ext uri="{D42A27DB-BD31-4B8C-83A1-F6EECF244321}">
                <p14:modId xmlns:p14="http://schemas.microsoft.com/office/powerpoint/2010/main" val="538905339"/>
              </p:ext>
            </p:extLst>
          </p:nvPr>
        </p:nvGraphicFramePr>
        <p:xfrm>
          <a:off x="98787" y="1213089"/>
          <a:ext cx="8946425" cy="3575896"/>
        </p:xfrm>
        <a:graphic>
          <a:graphicData uri="http://schemas.openxmlformats.org/drawingml/2006/table">
            <a:tbl>
              <a:tblPr bandRow="1"/>
              <a:tblGrid>
                <a:gridCol w="1493581">
                  <a:extLst>
                    <a:ext uri="{9D8B030D-6E8A-4147-A177-3AD203B41FA5}">
                      <a16:colId xmlns:a16="http://schemas.microsoft.com/office/drawing/2014/main" val="3987590745"/>
                    </a:ext>
                  </a:extLst>
                </a:gridCol>
                <a:gridCol w="5383338">
                  <a:extLst>
                    <a:ext uri="{9D8B030D-6E8A-4147-A177-3AD203B41FA5}">
                      <a16:colId xmlns:a16="http://schemas.microsoft.com/office/drawing/2014/main" val="253252210"/>
                    </a:ext>
                  </a:extLst>
                </a:gridCol>
                <a:gridCol w="2069506">
                  <a:extLst>
                    <a:ext uri="{9D8B030D-6E8A-4147-A177-3AD203B41FA5}">
                      <a16:colId xmlns:a16="http://schemas.microsoft.com/office/drawing/2014/main" val="4005682884"/>
                    </a:ext>
                  </a:extLst>
                </a:gridCol>
              </a:tblGrid>
              <a:tr h="164915">
                <a:tc>
                  <a:txBody>
                    <a:bodyPr/>
                    <a:lstStyle/>
                    <a:p>
                      <a:pPr marR="53975" algn="ctr">
                        <a:lnSpc>
                          <a:spcPct val="107000"/>
                        </a:lnSpc>
                        <a:spcAft>
                          <a:spcPts val="800"/>
                        </a:spcAft>
                        <a:buNone/>
                      </a:pPr>
                      <a:r>
                        <a:rPr lang="en-IN" sz="26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53975" algn="ctr">
                        <a:lnSpc>
                          <a:spcPct val="107000"/>
                        </a:lnSpc>
                        <a:spcAft>
                          <a:spcPts val="800"/>
                        </a:spcAft>
                        <a:buNone/>
                      </a:pPr>
                      <a:r>
                        <a:rPr lang="en-IN" sz="26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 Name</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53975" algn="ctr">
                        <a:lnSpc>
                          <a:spcPct val="107000"/>
                        </a:lnSpc>
                        <a:spcAft>
                          <a:spcPts val="800"/>
                        </a:spcAft>
                        <a:buNone/>
                      </a:pPr>
                      <a:r>
                        <a:rPr lang="en-IN" sz="20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Hours:15</a:t>
                      </a:r>
                      <a:endParaRPr lang="en-IN" sz="20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8232934"/>
                  </a:ext>
                </a:extLst>
              </a:tr>
              <a:tr h="587656">
                <a:tc>
                  <a:txBody>
                    <a:bodyPr/>
                    <a:lstStyle/>
                    <a:p>
                      <a:pPr marR="53975" algn="ctr">
                        <a:lnSpc>
                          <a:spcPct val="107000"/>
                        </a:lnSpc>
                        <a:spcAft>
                          <a:spcPts val="800"/>
                        </a:spcAft>
                        <a:buNone/>
                      </a:pPr>
                      <a:r>
                        <a:rPr lang="en-IN" sz="26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Chapter 1 </a:t>
                      </a:r>
                      <a:r>
                        <a:rPr lang="en-IN" sz="1400" b="0" i="0" u="none" strike="noStrike" cap="none" dirty="0">
                          <a:solidFill>
                            <a:schemeClr val="tx1"/>
                          </a:solidFill>
                          <a:effectLst/>
                          <a:latin typeface="+mn-lt"/>
                          <a:ea typeface="+mn-ea"/>
                          <a:cs typeface="+mn-cs"/>
                          <a:sym typeface="Arial"/>
                        </a:rPr>
                        <a:t>Error Analysis and Interpolation</a:t>
                      </a:r>
                      <a:r>
                        <a:rPr lang="en-IN" sz="2800" dirty="0">
                          <a:effectLst/>
                        </a:rPr>
                        <a:t> </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53975" algn="just">
                        <a:lnSpc>
                          <a:spcPct val="107000"/>
                        </a:lnSpc>
                        <a:spcAft>
                          <a:spcPts val="800"/>
                        </a:spcAft>
                        <a:buNone/>
                      </a:pPr>
                      <a:r>
                        <a:rPr lang="en-IN" sz="1400" b="0" i="0" u="none" strike="noStrike" cap="none" dirty="0">
                          <a:solidFill>
                            <a:schemeClr val="tx1"/>
                          </a:solidFill>
                          <a:effectLst/>
                          <a:latin typeface="+mn-lt"/>
                          <a:ea typeface="+mn-ea"/>
                          <a:cs typeface="+mn-cs"/>
                          <a:sym typeface="Arial"/>
                        </a:rPr>
                        <a:t>Introduction, Types of Errors (Absolute, relative, truncation, rounding, percentage), Propagation error bounds in numerical computations.</a:t>
                      </a:r>
                      <a:r>
                        <a:rPr lang="en-IN" sz="2800" dirty="0">
                          <a:effectLst/>
                        </a:rPr>
                        <a:t> </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3470880867"/>
                  </a:ext>
                </a:extLst>
              </a:tr>
              <a:tr h="587656">
                <a:tc>
                  <a:txBody>
                    <a:bodyPr/>
                    <a:lstStyle/>
                    <a:p>
                      <a:pPr marR="53975" algn="ctr">
                        <a:lnSpc>
                          <a:spcPct val="107000"/>
                        </a:lnSpc>
                        <a:spcAft>
                          <a:spcPts val="800"/>
                        </a:spcAft>
                        <a:buNone/>
                      </a:pPr>
                      <a:r>
                        <a:rPr lang="en-IN" sz="26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Chapter 2 </a:t>
                      </a:r>
                      <a:r>
                        <a:rPr lang="en-IN" sz="1400" b="0" i="0" u="none" strike="noStrike" cap="none" dirty="0">
                          <a:solidFill>
                            <a:schemeClr val="tx1"/>
                          </a:solidFill>
                          <a:effectLst/>
                          <a:latin typeface="+mn-lt"/>
                          <a:ea typeface="+mn-ea"/>
                          <a:cs typeface="+mn-cs"/>
                          <a:sym typeface="Arial"/>
                        </a:rPr>
                        <a:t>Solution of Polynomial and Transcendental Equations</a:t>
                      </a:r>
                      <a:r>
                        <a:rPr lang="en-IN" sz="2800" dirty="0">
                          <a:effectLst/>
                        </a:rPr>
                        <a:t> </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53975" algn="just">
                        <a:lnSpc>
                          <a:spcPct val="107000"/>
                        </a:lnSpc>
                        <a:spcAft>
                          <a:spcPts val="800"/>
                        </a:spcAft>
                        <a:buNone/>
                      </a:pPr>
                      <a:r>
                        <a:rPr lang="en-IN" sz="1400" b="0" i="0" u="none" strike="noStrike" cap="none" dirty="0">
                          <a:solidFill>
                            <a:schemeClr val="tx1"/>
                          </a:solidFill>
                          <a:effectLst/>
                          <a:latin typeface="+mn-lt"/>
                          <a:ea typeface="+mn-ea"/>
                          <a:cs typeface="+mn-cs"/>
                          <a:sym typeface="Arial"/>
                        </a:rPr>
                        <a:t>Overview of Numerical Methods, Importance and applications, Rate of convergence, Root-finding Methods: Bisection method, Regula- </a:t>
                      </a:r>
                      <a:r>
                        <a:rPr lang="en-IN" sz="1400" b="0" i="0" u="none" strike="noStrike" cap="none" dirty="0" err="1">
                          <a:solidFill>
                            <a:schemeClr val="tx1"/>
                          </a:solidFill>
                          <a:effectLst/>
                          <a:latin typeface="+mn-lt"/>
                          <a:ea typeface="+mn-ea"/>
                          <a:cs typeface="+mn-cs"/>
                          <a:sym typeface="Arial"/>
                        </a:rPr>
                        <a:t>Falsi</a:t>
                      </a:r>
                      <a:r>
                        <a:rPr lang="en-IN" sz="1400" b="0" i="0" u="none" strike="noStrike" cap="none" dirty="0">
                          <a:solidFill>
                            <a:schemeClr val="tx1"/>
                          </a:solidFill>
                          <a:effectLst/>
                          <a:latin typeface="+mn-lt"/>
                          <a:ea typeface="+mn-ea"/>
                          <a:cs typeface="+mn-cs"/>
                          <a:sym typeface="Arial"/>
                        </a:rPr>
                        <a:t> Method, Newton-Raphson method, Secant method, Iteration Method.</a:t>
                      </a:r>
                      <a:r>
                        <a:rPr lang="en-IN" sz="2800" dirty="0">
                          <a:effectLst/>
                        </a:rPr>
                        <a:t> </a:t>
                      </a: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73423630"/>
                  </a:ext>
                </a:extLst>
              </a:tr>
              <a:tr h="542627">
                <a:tc>
                  <a:txBody>
                    <a:bodyPr/>
                    <a:lstStyle/>
                    <a:p>
                      <a:pPr marR="53975" algn="ctr">
                        <a:lnSpc>
                          <a:spcPct val="107000"/>
                        </a:lnSpc>
                        <a:spcAft>
                          <a:spcPts val="800"/>
                        </a:spcAft>
                        <a:buNone/>
                      </a:pP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53975" algn="just">
                        <a:lnSpc>
                          <a:spcPct val="107000"/>
                        </a:lnSpc>
                        <a:spcAft>
                          <a:spcPts val="800"/>
                        </a:spcAft>
                        <a:buNone/>
                      </a:pPr>
                      <a:endParaRPr lang="en-IN" sz="26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35558" marR="355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4068832762"/>
                  </a:ext>
                </a:extLst>
              </a:tr>
            </a:tbl>
          </a:graphicData>
        </a:graphic>
      </p:graphicFrame>
      <p:sp>
        <p:nvSpPr>
          <p:cNvPr id="7" name="TextBox 6"/>
          <p:cNvSpPr txBox="1"/>
          <p:nvPr/>
        </p:nvSpPr>
        <p:spPr>
          <a:xfrm>
            <a:off x="8709003" y="85987"/>
            <a:ext cx="383438" cy="307777"/>
          </a:xfrm>
          <a:prstGeom prst="rect">
            <a:avLst/>
          </a:prstGeom>
          <a:noFill/>
        </p:spPr>
        <p:txBody>
          <a:bodyPr wrap="none" rtlCol="0">
            <a:spAutoFit/>
          </a:bodyPr>
          <a:lstStyle/>
          <a:p>
            <a:r>
              <a:rPr lang="en-US" dirty="0"/>
              <a:t>2</a:t>
            </a:r>
            <a:r>
              <a:rPr lang="en-IN" dirty="0"/>
              <a:t>0</a:t>
            </a:r>
          </a:p>
        </p:txBody>
      </p:sp>
    </p:spTree>
    <p:extLst>
      <p:ext uri="{BB962C8B-B14F-4D97-AF65-F5344CB8AC3E}">
        <p14:creationId xmlns:p14="http://schemas.microsoft.com/office/powerpoint/2010/main" val="2104875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MST Model QP</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21</a:t>
            </a:r>
          </a:p>
        </p:txBody>
      </p:sp>
      <p:pic>
        <p:nvPicPr>
          <p:cNvPr id="8" name="Picture 7">
            <a:extLst>
              <a:ext uri="{FF2B5EF4-FFF2-40B4-BE49-F238E27FC236}">
                <a16:creationId xmlns:a16="http://schemas.microsoft.com/office/drawing/2014/main" id="{9FE220E8-FDFB-1EBE-C244-E5C160A4E4CA}"/>
              </a:ext>
            </a:extLst>
          </p:cNvPr>
          <p:cNvPicPr>
            <a:picLocks noChangeAspect="1"/>
          </p:cNvPicPr>
          <p:nvPr/>
        </p:nvPicPr>
        <p:blipFill>
          <a:blip r:embed="rId3"/>
          <a:stretch>
            <a:fillRect/>
          </a:stretch>
        </p:blipFill>
        <p:spPr>
          <a:xfrm>
            <a:off x="2079505" y="641067"/>
            <a:ext cx="5270509" cy="4502433"/>
          </a:xfrm>
          <a:prstGeom prst="rect">
            <a:avLst/>
          </a:prstGeom>
        </p:spPr>
      </p:pic>
    </p:spTree>
    <p:extLst>
      <p:ext uri="{BB962C8B-B14F-4D97-AF65-F5344CB8AC3E}">
        <p14:creationId xmlns:p14="http://schemas.microsoft.com/office/powerpoint/2010/main" val="1900228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EST Model QP</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22</a:t>
            </a:r>
          </a:p>
        </p:txBody>
      </p:sp>
      <p:pic>
        <p:nvPicPr>
          <p:cNvPr id="9" name="Picture 8">
            <a:extLst>
              <a:ext uri="{FF2B5EF4-FFF2-40B4-BE49-F238E27FC236}">
                <a16:creationId xmlns:a16="http://schemas.microsoft.com/office/drawing/2014/main" id="{0F6374BC-2E51-2F12-22DF-FD621117CA1C}"/>
              </a:ext>
            </a:extLst>
          </p:cNvPr>
          <p:cNvPicPr>
            <a:picLocks noChangeAspect="1"/>
          </p:cNvPicPr>
          <p:nvPr/>
        </p:nvPicPr>
        <p:blipFill>
          <a:blip r:embed="rId3"/>
          <a:stretch>
            <a:fillRect/>
          </a:stretch>
        </p:blipFill>
        <p:spPr>
          <a:xfrm>
            <a:off x="2196568" y="662026"/>
            <a:ext cx="4972050" cy="4403960"/>
          </a:xfrm>
          <a:prstGeom prst="rect">
            <a:avLst/>
          </a:prstGeom>
        </p:spPr>
      </p:pic>
    </p:spTree>
    <p:extLst>
      <p:ext uri="{BB962C8B-B14F-4D97-AF65-F5344CB8AC3E}">
        <p14:creationId xmlns:p14="http://schemas.microsoft.com/office/powerpoint/2010/main" val="794988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EST Model QP</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23</a:t>
            </a:r>
          </a:p>
        </p:txBody>
      </p:sp>
      <p:pic>
        <p:nvPicPr>
          <p:cNvPr id="8" name="Picture 7">
            <a:extLst>
              <a:ext uri="{FF2B5EF4-FFF2-40B4-BE49-F238E27FC236}">
                <a16:creationId xmlns:a16="http://schemas.microsoft.com/office/drawing/2014/main" id="{29FC180A-7C60-E3C6-7CA5-EBB925E3F64A}"/>
              </a:ext>
            </a:extLst>
          </p:cNvPr>
          <p:cNvPicPr>
            <a:picLocks noChangeAspect="1"/>
          </p:cNvPicPr>
          <p:nvPr/>
        </p:nvPicPr>
        <p:blipFill>
          <a:blip r:embed="rId3"/>
          <a:stretch>
            <a:fillRect/>
          </a:stretch>
        </p:blipFill>
        <p:spPr>
          <a:xfrm>
            <a:off x="2890346" y="794958"/>
            <a:ext cx="4183116" cy="3541868"/>
          </a:xfrm>
          <a:prstGeom prst="rect">
            <a:avLst/>
          </a:prstGeom>
        </p:spPr>
      </p:pic>
    </p:spTree>
    <p:extLst>
      <p:ext uri="{BB962C8B-B14F-4D97-AF65-F5344CB8AC3E}">
        <p14:creationId xmlns:p14="http://schemas.microsoft.com/office/powerpoint/2010/main" val="2083638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Text and 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 Books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164591" y="1101387"/>
            <a:ext cx="9189838" cy="4154943"/>
          </a:xfrm>
          <a:prstGeom prst="rect">
            <a:avLst/>
          </a:prstGeom>
          <a:noFill/>
          <a:ln>
            <a:noFill/>
          </a:ln>
        </p:spPr>
        <p:txBody>
          <a:bodyPr spcFirstLastPara="1" wrap="square" lIns="91425" tIns="45700" rIns="91425" bIns="45700" anchor="t" anchorCtr="0">
            <a:spAutoFit/>
          </a:bodyPr>
          <a:lstStyle/>
          <a:p>
            <a:pPr marL="234950" lvl="3" algn="just">
              <a:lnSpc>
                <a:spcPct val="150000"/>
              </a:lnSpc>
            </a:pPr>
            <a:r>
              <a:rPr lang="en-US" sz="22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T1 </a:t>
            </a:r>
            <a:r>
              <a:rPr lang="en-GB" sz="2200" dirty="0">
                <a:effectLst/>
                <a:latin typeface="Calibri" panose="020F0502020204030204" pitchFamily="34" charset="0"/>
                <a:ea typeface="Calibri" panose="020F0502020204030204" pitchFamily="34" charset="0"/>
                <a:cs typeface="Calibri" panose="020F0502020204030204" pitchFamily="34" charset="0"/>
              </a:rPr>
              <a:t>Numerical Methods for Scientist and Engineering Computation by M. K. Jain, S. R. K. Iyengar and R. K. Jain, New Age International Publisher, Ed. Fourth.</a:t>
            </a:r>
            <a:endParaRPr lang="en-IN" sz="2200" dirty="0">
              <a:latin typeface="Calibri" panose="020F0502020204030204" pitchFamily="34" charset="0"/>
              <a:ea typeface="Calibri" panose="020F0502020204030204" pitchFamily="34" charset="0"/>
              <a:cs typeface="Calibri" panose="020F0502020204030204" pitchFamily="34" charset="0"/>
            </a:endParaRPr>
          </a:p>
          <a:p>
            <a:pPr marL="234950" lvl="3" algn="just">
              <a:lnSpc>
                <a:spcPct val="150000"/>
              </a:lnSpc>
            </a:pPr>
            <a:r>
              <a:rPr lang="en-US" sz="22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T2 </a:t>
            </a:r>
            <a:r>
              <a:rPr lang="en-GB" sz="2200" dirty="0">
                <a:effectLst/>
                <a:latin typeface="Calibri" panose="020F0502020204030204" pitchFamily="34" charset="0"/>
                <a:ea typeface="Calibri" panose="020F0502020204030204" pitchFamily="34" charset="0"/>
                <a:cs typeface="Calibri" panose="020F0502020204030204" pitchFamily="34" charset="0"/>
              </a:rPr>
              <a:t>Introductory Methods of Numerical Analysis by S. S. Sastry.</a:t>
            </a:r>
            <a:endParaRPr lang="en-IN" sz="2200" dirty="0">
              <a:latin typeface="Calibri" panose="020F0502020204030204" pitchFamily="34" charset="0"/>
              <a:ea typeface="Calibri" panose="020F0502020204030204" pitchFamily="34" charset="0"/>
              <a:cs typeface="Calibri" panose="020F0502020204030204" pitchFamily="34" charset="0"/>
            </a:endParaRPr>
          </a:p>
          <a:p>
            <a:pPr marL="234950" lvl="3" algn="just">
              <a:lnSpc>
                <a:spcPct val="150000"/>
              </a:lnSpc>
            </a:pPr>
            <a:r>
              <a:rPr lang="en-US" sz="22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R1 </a:t>
            </a:r>
            <a:r>
              <a:rPr lang="en-GB" sz="2200" dirty="0">
                <a:effectLst/>
                <a:latin typeface="Calibri" panose="020F0502020204030204" pitchFamily="34" charset="0"/>
                <a:ea typeface="Calibri" panose="020F0502020204030204" pitchFamily="34" charset="0"/>
                <a:cs typeface="Calibri" panose="020F0502020204030204" pitchFamily="34" charset="0"/>
              </a:rPr>
              <a:t>Numerical Methods for Mathematics, Science and Engineering by Mathews, Prentice- Hall of India. Ed. Second.</a:t>
            </a:r>
            <a:endParaRPr lang="en-IN" sz="2200" dirty="0">
              <a:latin typeface="Calibri" panose="020F0502020204030204" pitchFamily="34" charset="0"/>
              <a:ea typeface="Calibri" panose="020F0502020204030204" pitchFamily="34" charset="0"/>
              <a:cs typeface="Calibri" panose="020F0502020204030204" pitchFamily="34" charset="0"/>
            </a:endParaRPr>
          </a:p>
          <a:p>
            <a:pPr marL="234950" lvl="3" algn="just">
              <a:lnSpc>
                <a:spcPct val="150000"/>
              </a:lnSpc>
            </a:pPr>
            <a:r>
              <a:rPr lang="en-US" sz="22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R2 </a:t>
            </a:r>
            <a:r>
              <a:rPr lang="en-GB" sz="2200" dirty="0">
                <a:effectLst/>
                <a:latin typeface="Calibri" panose="020F0502020204030204" pitchFamily="34" charset="0"/>
                <a:ea typeface="Calibri" panose="020F0502020204030204" pitchFamily="34" charset="0"/>
                <a:cs typeface="Calibri" panose="020F0502020204030204" pitchFamily="34" charset="0"/>
              </a:rPr>
              <a:t>A Friendly Introduction to Numerical Analysis, Brian </a:t>
            </a:r>
            <a:r>
              <a:rPr lang="en-GB" sz="2200" dirty="0" err="1">
                <a:effectLst/>
                <a:latin typeface="Calibri" panose="020F0502020204030204" pitchFamily="34" charset="0"/>
                <a:ea typeface="Calibri" panose="020F0502020204030204" pitchFamily="34" charset="0"/>
                <a:cs typeface="Calibri" panose="020F0502020204030204" pitchFamily="34" charset="0"/>
              </a:rPr>
              <a:t>Bradie</a:t>
            </a:r>
            <a:r>
              <a:rPr lang="en-GB" sz="2200" dirty="0">
                <a:effectLst/>
                <a:latin typeface="Calibri" panose="020F0502020204030204" pitchFamily="34" charset="0"/>
                <a:ea typeface="Calibri" panose="020F0502020204030204" pitchFamily="34" charset="0"/>
                <a:cs typeface="Calibri" panose="020F0502020204030204" pitchFamily="34" charset="0"/>
              </a:rPr>
              <a:t>, Pearson Education, India, 2007.</a:t>
            </a:r>
            <a:endParaRPr lang="en-IN" sz="22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24</a:t>
            </a:r>
          </a:p>
        </p:txBody>
      </p:sp>
    </p:spTree>
    <p:extLst>
      <p:ext uri="{BB962C8B-B14F-4D97-AF65-F5344CB8AC3E}">
        <p14:creationId xmlns:p14="http://schemas.microsoft.com/office/powerpoint/2010/main" val="2294786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E-Learning links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201881" y="1422025"/>
            <a:ext cx="8942119" cy="867890"/>
          </a:xfrm>
          <a:prstGeom prst="rect">
            <a:avLst/>
          </a:prstGeom>
          <a:noFill/>
          <a:ln>
            <a:noFill/>
          </a:ln>
        </p:spPr>
        <p:txBody>
          <a:bodyPr spcFirstLastPara="1" wrap="square" lIns="91425" tIns="45700" rIns="91425" bIns="45700" anchor="t" anchorCtr="0">
            <a:spAutoFit/>
          </a:bodyPr>
          <a:lstStyle/>
          <a:p>
            <a:pPr marR="0" lvl="0" algn="just" rtl="0">
              <a:lnSpc>
                <a:spcPct val="90000"/>
              </a:lnSpc>
              <a:spcBef>
                <a:spcPts val="0"/>
              </a:spcBef>
              <a:spcAft>
                <a:spcPts val="0"/>
              </a:spcAft>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hlinkClick r:id="rId3"/>
              </a:rPr>
              <a:t>https://onlinecourses.nptel.ac.in/noc26_ma62/preview</a:t>
            </a: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R="0" lvl="0" algn="just" rtl="0">
              <a:lnSpc>
                <a:spcPct val="90000"/>
              </a:lnSpc>
              <a:spcBef>
                <a:spcPts val="0"/>
              </a:spcBef>
              <a:spcAft>
                <a:spcPts val="0"/>
              </a:spcAft>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https://</a:t>
            </a:r>
            <a:r>
              <a:rPr lang="en-US" sz="2800" b="0" i="0" u="none" strike="noStrike" cap="none" dirty="0" err="1">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onlinecourses.nptel.ac.in</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/noc26_ma20/preview</a:t>
            </a: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25</a:t>
            </a:r>
          </a:p>
        </p:txBody>
      </p:sp>
    </p:spTree>
    <p:extLst>
      <p:ext uri="{BB962C8B-B14F-4D97-AF65-F5344CB8AC3E}">
        <p14:creationId xmlns:p14="http://schemas.microsoft.com/office/powerpoint/2010/main" val="3288866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5368A1F-6F33-059D-2C87-585803CB64A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4836046-6C07-990C-7495-EC0710A1C1F4}"/>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CF109B8A-C6BF-529A-89AB-30BEE8B35C8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04C1C43D-4FA8-5C7D-DC0F-AFAA9AFCF15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Content Beyond Syllabus</a:t>
              </a:r>
            </a:p>
          </p:txBody>
        </p:sp>
      </p:grpSp>
      <p:sp>
        <p:nvSpPr>
          <p:cNvPr id="111" name="Google Shape;111;p2">
            <a:extLst>
              <a:ext uri="{FF2B5EF4-FFF2-40B4-BE49-F238E27FC236}">
                <a16:creationId xmlns:a16="http://schemas.microsoft.com/office/drawing/2014/main" id="{BB544E30-4E11-CFA7-B12C-A50B908967C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3C7C49A-94F8-028C-FB0D-D04199D145FA}"/>
              </a:ext>
            </a:extLst>
          </p:cNvPr>
          <p:cNvSpPr txBox="1"/>
          <p:nvPr/>
        </p:nvSpPr>
        <p:spPr>
          <a:xfrm>
            <a:off x="86619" y="1281033"/>
            <a:ext cx="8942119" cy="2031285"/>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90000"/>
              </a:lnSpc>
              <a:spcBef>
                <a:spcPts val="0"/>
              </a:spcBef>
              <a:spcAft>
                <a:spcPts val="0"/>
              </a:spcAft>
              <a:buFont typeface="Arial" panose="020B0604020202020204" pitchFamily="34" charset="0"/>
              <a:buChar char="•"/>
            </a:pPr>
            <a:r>
              <a:rPr lang="en-IN" sz="2800" dirty="0">
                <a:latin typeface="Calibri" panose="020F0502020204030204" pitchFamily="34" charset="0"/>
                <a:cs typeface="Calibri" panose="020F0502020204030204" pitchFamily="34" charset="0"/>
              </a:rPr>
              <a:t>Floating-Point Arithmetic and IEEE Standards</a:t>
            </a:r>
            <a:endParaRPr lang="en-US" sz="2800" dirty="0">
              <a:solidFill>
                <a:schemeClr val="bg2"/>
              </a:solidFill>
              <a:latin typeface="Calibri" panose="020F0502020204030204" pitchFamily="34" charset="0"/>
              <a:cs typeface="Calibri" panose="020F0502020204030204" pitchFamily="34" charset="0"/>
            </a:endParaRPr>
          </a:p>
          <a:p>
            <a:pPr marL="457200" marR="0" lvl="0" indent="-457200" algn="just" rtl="0">
              <a:lnSpc>
                <a:spcPct val="90000"/>
              </a:lnSpc>
              <a:spcBef>
                <a:spcPts val="0"/>
              </a:spcBef>
              <a:spcAft>
                <a:spcPts val="0"/>
              </a:spcAft>
              <a:buFont typeface="Arial" panose="020B0604020202020204" pitchFamily="34" charset="0"/>
              <a:buChar char="•"/>
            </a:pPr>
            <a:r>
              <a:rPr lang="en-IN" sz="2800" dirty="0">
                <a:latin typeface="Calibri" panose="020F0502020204030204" pitchFamily="34" charset="0"/>
                <a:cs typeface="Calibri" panose="020F0502020204030204" pitchFamily="34" charset="0"/>
              </a:rPr>
              <a:t>Condition Number and Stability Analysis</a:t>
            </a:r>
            <a:endParaRPr lang="en-US" sz="2800" dirty="0">
              <a:solidFill>
                <a:schemeClr val="bg2"/>
              </a:solidFill>
              <a:latin typeface="Calibri" panose="020F0502020204030204" pitchFamily="34" charset="0"/>
              <a:cs typeface="Calibri" panose="020F0502020204030204" pitchFamily="34" charset="0"/>
            </a:endParaRPr>
          </a:p>
          <a:p>
            <a:pPr marL="457200" marR="0" lvl="0" indent="-457200" algn="just" rtl="0">
              <a:lnSpc>
                <a:spcPct val="90000"/>
              </a:lnSpc>
              <a:spcBef>
                <a:spcPts val="0"/>
              </a:spcBef>
              <a:spcAft>
                <a:spcPts val="0"/>
              </a:spcAft>
              <a:buFont typeface="Arial" panose="020B0604020202020204" pitchFamily="34" charset="0"/>
              <a:buChar char="•"/>
            </a:pPr>
            <a:r>
              <a:rPr lang="en-IN" sz="2800" dirty="0">
                <a:latin typeface="Calibri" panose="020F0502020204030204" pitchFamily="34" charset="0"/>
                <a:cs typeface="Calibri" panose="020F0502020204030204" pitchFamily="34" charset="0"/>
              </a:rPr>
              <a:t>Hybrid Root-Finding Methods</a:t>
            </a:r>
          </a:p>
          <a:p>
            <a:pPr marL="457200" marR="0" lvl="0" indent="-457200" algn="just" rtl="0">
              <a:lnSpc>
                <a:spcPct val="90000"/>
              </a:lnSpc>
              <a:spcBef>
                <a:spcPts val="0"/>
              </a:spcBef>
              <a:spcAft>
                <a:spcPts val="0"/>
              </a:spcAft>
              <a:buFont typeface="Arial" panose="020B0604020202020204" pitchFamily="34" charset="0"/>
              <a:buChar char="•"/>
            </a:pPr>
            <a:r>
              <a:rPr lang="en-IN" sz="2800" dirty="0">
                <a:latin typeface="Calibri" panose="020F0502020204030204" pitchFamily="34" charset="0"/>
                <a:cs typeface="Calibri" panose="020F0502020204030204" pitchFamily="34" charset="0"/>
              </a:rPr>
              <a:t>Graphical Interpretation of Nonlinear Equations</a:t>
            </a:r>
          </a:p>
          <a:p>
            <a:pPr marL="457200" marR="0" lvl="0" indent="-457200" algn="just" rtl="0">
              <a:lnSpc>
                <a:spcPct val="90000"/>
              </a:lnSpc>
              <a:spcBef>
                <a:spcPts val="0"/>
              </a:spcBef>
              <a:spcAft>
                <a:spcPts val="0"/>
              </a:spcAft>
              <a:buFont typeface="Arial" panose="020B0604020202020204" pitchFamily="34" charset="0"/>
              <a:buChar char="•"/>
            </a:pPr>
            <a:r>
              <a:rPr lang="en-IN" sz="2800" dirty="0">
                <a:latin typeface="Calibri" panose="020F0502020204030204" pitchFamily="34" charset="0"/>
                <a:cs typeface="Calibri" panose="020F0502020204030204" pitchFamily="34" charset="0"/>
              </a:rPr>
              <a:t>Introduction to Numerical Software Tools</a:t>
            </a: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26</a:t>
            </a:r>
          </a:p>
        </p:txBody>
      </p:sp>
    </p:spTree>
    <p:extLst>
      <p:ext uri="{BB962C8B-B14F-4D97-AF65-F5344CB8AC3E}">
        <p14:creationId xmlns:p14="http://schemas.microsoft.com/office/powerpoint/2010/main" val="1057780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29A6AD2-FBF5-FB65-CB76-302FD86CA2D6}"/>
            </a:ext>
          </a:extLst>
        </p:cNvPr>
        <p:cNvGrpSpPr/>
        <p:nvPr/>
      </p:nvGrpSpPr>
      <p:grpSpPr>
        <a:xfrm>
          <a:off x="0" y="0"/>
          <a:ext cx="0" cy="0"/>
          <a:chOff x="0" y="0"/>
          <a:chExt cx="0" cy="0"/>
        </a:xfrm>
      </p:grpSpPr>
      <p:pic>
        <p:nvPicPr>
          <p:cNvPr id="2" name="Google Shape;302;p23" descr="C:\Users\Abhey Sharma\Downloads\Screenshot (411).png">
            <a:extLst>
              <a:ext uri="{FF2B5EF4-FFF2-40B4-BE49-F238E27FC236}">
                <a16:creationId xmlns:a16="http://schemas.microsoft.com/office/drawing/2014/main" id="{3823407B-F4D0-C82B-5914-C17407C438ED}"/>
              </a:ext>
            </a:extLst>
          </p:cNvPr>
          <p:cNvPicPr preferRelativeResize="0"/>
          <p:nvPr/>
        </p:nvPicPr>
        <p:blipFill rotWithShape="1">
          <a:blip r:embed="rId3">
            <a:alphaModFix/>
          </a:blip>
          <a:srcRect l="1776"/>
          <a:stretch/>
        </p:blipFill>
        <p:spPr>
          <a:xfrm>
            <a:off x="757500" y="806675"/>
            <a:ext cx="8343004" cy="4239441"/>
          </a:xfrm>
          <a:prstGeom prst="rect">
            <a:avLst/>
          </a:prstGeom>
          <a:noFill/>
          <a:ln>
            <a:noFill/>
          </a:ln>
        </p:spPr>
      </p:pic>
      <p:grpSp>
        <p:nvGrpSpPr>
          <p:cNvPr id="108" name="Google Shape;108;p2">
            <a:extLst>
              <a:ext uri="{FF2B5EF4-FFF2-40B4-BE49-F238E27FC236}">
                <a16:creationId xmlns:a16="http://schemas.microsoft.com/office/drawing/2014/main" id="{5171DF80-DFB5-234E-1DB0-C335411E5B6C}"/>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19F4905-E83D-A8FA-5284-F4812C74374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D354134-8247-9959-87B8-C0A7E68E0CD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Assessment Model</a:t>
              </a:r>
            </a:p>
          </p:txBody>
        </p:sp>
      </p:grpSp>
      <p:sp>
        <p:nvSpPr>
          <p:cNvPr id="111" name="Google Shape;111;p2">
            <a:extLst>
              <a:ext uri="{FF2B5EF4-FFF2-40B4-BE49-F238E27FC236}">
                <a16:creationId xmlns:a16="http://schemas.microsoft.com/office/drawing/2014/main" id="{E10216B0-5AC6-BCCB-9691-34803CE8310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27</a:t>
            </a:r>
          </a:p>
        </p:txBody>
      </p:sp>
    </p:spTree>
    <p:extLst>
      <p:ext uri="{BB962C8B-B14F-4D97-AF65-F5344CB8AC3E}">
        <p14:creationId xmlns:p14="http://schemas.microsoft.com/office/powerpoint/2010/main" val="2921547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4" name="TextBox 3"/>
          <p:cNvSpPr txBox="1"/>
          <p:nvPr/>
        </p:nvSpPr>
        <p:spPr>
          <a:xfrm>
            <a:off x="8709003" y="85987"/>
            <a:ext cx="383438" cy="307777"/>
          </a:xfrm>
          <a:prstGeom prst="rect">
            <a:avLst/>
          </a:prstGeom>
          <a:noFill/>
        </p:spPr>
        <p:txBody>
          <a:bodyPr wrap="none" rtlCol="0">
            <a:spAutoFit/>
          </a:bodyPr>
          <a:lstStyle/>
          <a:p>
            <a:r>
              <a:rPr lang="en-IN" dirty="0"/>
              <a:t>28</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1877</Words>
  <Application>Microsoft Macintosh PowerPoint</Application>
  <PresentationFormat>On-screen Show (16:9)</PresentationFormat>
  <Paragraphs>347</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Calibri</vt:lpstr>
      <vt:lpstr>Lato</vt:lpstr>
      <vt:lpstr>Vladimir Script</vt:lpstr>
      <vt:lpstr>Arial Black</vt:lpstr>
      <vt:lpstr>Arial</vt:lpstr>
      <vt:lpstr>Cambria</vt:lpstr>
      <vt:lpstr>Times New Roman</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Microsoft Office User</cp:lastModifiedBy>
  <cp:revision>70</cp:revision>
  <dcterms:modified xsi:type="dcterms:W3CDTF">2025-12-06T08:54:50Z</dcterms:modified>
</cp:coreProperties>
</file>