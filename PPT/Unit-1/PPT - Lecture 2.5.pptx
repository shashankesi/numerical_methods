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83" r:id="rId3"/>
    <p:sldId id="284" r:id="rId4"/>
    <p:sldId id="306" r:id="rId5"/>
    <p:sldId id="285" r:id="rId6"/>
    <p:sldId id="310" r:id="rId7"/>
    <p:sldId id="308" r:id="rId8"/>
    <p:sldId id="311" r:id="rId9"/>
    <p:sldId id="312" r:id="rId10"/>
    <p:sldId id="300" r:id="rId11"/>
    <p:sldId id="301" r:id="rId12"/>
    <p:sldId id="307" r:id="rId13"/>
    <p:sldId id="305" r:id="rId14"/>
  </p:sldIdLst>
  <p:sldSz cx="9144000" cy="5143500" type="screen16x9"/>
  <p:notesSz cx="6858000" cy="9144000"/>
  <p:embeddedFontLst>
    <p:embeddedFont>
      <p:font typeface="Arial Black" panose="020B0604020202020204" pitchFamily="34" charset="0"/>
      <p:bold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Lato" panose="020F0502020204030203" pitchFamily="34" charset="0"/>
      <p:regular r:id="rId25"/>
      <p:bold r:id="rId26"/>
      <p:italic r:id="rId27"/>
      <p:boldItalic r:id="rId28"/>
    </p:embeddedFont>
    <p:embeddedFont>
      <p:font typeface="Vladimir Script" panose="03050402040407070305" pitchFamily="66" charset="77"/>
      <p:regular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40"/>
    <p:restoredTop sz="94737"/>
  </p:normalViewPr>
  <p:slideViewPr>
    <p:cSldViewPr snapToGrid="0">
      <p:cViewPr varScale="1">
        <p:scale>
          <a:sx n="74" d="100"/>
          <a:sy n="74" d="100"/>
        </p:scale>
        <p:origin x="184" y="13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BB2C93B-7FE2-A8D6-21D2-CB1FAAB4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35863A3-7B58-0DD0-4438-352440F081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C70A685-A7E2-6333-F188-6854C8061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1916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BF395B1-0DDA-EC2D-8CD4-6D4FF14A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24A4F30-E86A-115B-0CE7-D95241261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889E4CB-D564-C918-3A24-F3AEE033C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5963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4297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909449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497658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021025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824425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18896A3-CA15-4C87-8FB7-24487FE57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9BF4E4D-8363-3E77-BFA5-048BFD297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1179ABD-E767-1A65-FB79-9B790ADA6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170333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418237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courses.nptel.ac.in/noc26_ma62/preview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71896" y="618294"/>
            <a:ext cx="7602983" cy="408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UNIVERSITY INSTITUTE OF </a:t>
            </a: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ENGINEERING</a:t>
            </a:r>
            <a:endParaRPr sz="2000" b="0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CSE 3</a:t>
            </a:r>
            <a:r>
              <a:rPr lang="en-US" sz="2000" b="1" i="0" u="none" strike="noStrike" cap="none" baseline="30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RD</a:t>
            </a: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 YEAR</a:t>
            </a:r>
            <a:endParaRPr sz="2000" b="0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CS201/CS202/CS703/CS704/IT201/IT202/BI519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5</a:t>
            </a:r>
            <a:r>
              <a:rPr lang="en-US" sz="2000" baseline="30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TH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 SEMESTER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NUMERICAL METHODS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(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23SMH-341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)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 No. 1                     Chapter No. 2                    Lecture No. 2.4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Topic : </a:t>
            </a: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Rate of Convergence Method</a:t>
            </a:r>
            <a:endParaRPr lang="en-IN" sz="20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Faculty Name and E-Code: Dr. Heena Sharma (E6398)                                                        Designation: Assistant Professor</a:t>
            </a:r>
            <a:endParaRPr lang="en-US" sz="2000" b="1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Semester Jan-Jun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63C2A9-B054-BA3C-AEDE-C0C1F44D2B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623150"/>
              </p:ext>
            </p:extLst>
          </p:nvPr>
        </p:nvGraphicFramePr>
        <p:xfrm>
          <a:off x="724394" y="1205836"/>
          <a:ext cx="7705928" cy="1188847"/>
        </p:xfrm>
        <a:graphic>
          <a:graphicData uri="http://schemas.openxmlformats.org/drawingml/2006/table">
            <a:tbl>
              <a:tblPr bandRow="1">
                <a:tableStyleId>{97377635-EB9D-4884-B79A-0D259F93817B}</a:tableStyleId>
              </a:tblPr>
              <a:tblGrid>
                <a:gridCol w="7705928">
                  <a:extLst>
                    <a:ext uri="{9D8B030D-6E8A-4147-A177-3AD203B41FA5}">
                      <a16:colId xmlns:a16="http://schemas.microsoft.com/office/drawing/2014/main" val="3423502139"/>
                    </a:ext>
                  </a:extLst>
                </a:gridCol>
              </a:tblGrid>
              <a:tr h="6125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IN" sz="3000" kern="100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CO2: </a:t>
                      </a:r>
                      <a:r>
                        <a:rPr lang="en-IN" sz="2500" b="0" i="0" u="none" strike="noStrike" cap="none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Students will be able to understand the techniques used for solving linear and nonlinear Algebra.</a:t>
                      </a:r>
                      <a:endParaRPr lang="en-IN" sz="2500" kern="1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2089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975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F165C73-F363-A304-734E-7CBF8D3F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>
            <a:extLst>
              <a:ext uri="{FF2B5EF4-FFF2-40B4-BE49-F238E27FC236}">
                <a16:creationId xmlns:a16="http://schemas.microsoft.com/office/drawing/2014/main" id="{BFBE6ABC-C3B9-AA73-42F9-036BD547E8EB}"/>
              </a:ext>
            </a:extLst>
          </p:cNvPr>
          <p:cNvSpPr txBox="1"/>
          <p:nvPr/>
        </p:nvSpPr>
        <p:spPr>
          <a:xfrm>
            <a:off x="792163" y="239876"/>
            <a:ext cx="8200939" cy="401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375" tIns="72375" rIns="72375" bIns="72375" anchor="ctr" anchorCtr="0">
            <a:noAutofit/>
          </a:bodyPr>
          <a:lstStyle/>
          <a:p>
            <a:pPr algn="l"/>
            <a:r>
              <a:rPr lang="en-IN" sz="60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What is Convergence?</a:t>
            </a:r>
          </a:p>
        </p:txBody>
      </p: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B576DE2-C283-2E3E-CC36-4B7ABE8B8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3427E39E-1443-8E67-323E-AC3515D4A144}"/>
              </a:ext>
            </a:extLst>
          </p:cNvPr>
          <p:cNvSpPr txBox="1"/>
          <p:nvPr/>
        </p:nvSpPr>
        <p:spPr>
          <a:xfrm>
            <a:off x="183173" y="1118013"/>
            <a:ext cx="8548451" cy="3554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Definition</a:t>
            </a:r>
          </a:p>
          <a:p>
            <a:pPr algn="just">
              <a:lnSpc>
                <a:spcPct val="150000"/>
              </a:lnSpc>
            </a:pP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Convergence is the process by which successive iterations get closer to the actual root of an equation.</a:t>
            </a:r>
          </a:p>
          <a:p>
            <a:pPr algn="just">
              <a:lnSpc>
                <a:spcPct val="150000"/>
              </a:lnSpc>
            </a:pPr>
            <a:r>
              <a:rPr lang="en-IN" sz="3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Rate of Convergence:</a:t>
            </a: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Measures how fast iterations approach the true root.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37512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B83A878-A8C8-7563-ACC5-60FA0ECC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4D069F-9FE0-0231-78ED-F358A7B5195C}"/>
              </a:ext>
            </a:extLst>
          </p:cNvPr>
          <p:cNvSpPr txBox="1"/>
          <p:nvPr/>
        </p:nvSpPr>
        <p:spPr>
          <a:xfrm>
            <a:off x="780585" y="-8910"/>
            <a:ext cx="81129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48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Convergence Comparison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028A36-3260-6453-8999-4CF7DCC05C61}"/>
              </a:ext>
            </a:extLst>
          </p:cNvPr>
          <p:cNvSpPr txBox="1"/>
          <p:nvPr/>
        </p:nvSpPr>
        <p:spPr>
          <a:xfrm>
            <a:off x="317241" y="1146021"/>
            <a:ext cx="857633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Actual Root Value = 3.5567</a:t>
            </a:r>
          </a:p>
          <a:p>
            <a:pPr algn="l"/>
            <a:endParaRPr lang="en-IN" sz="28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algn="l"/>
            <a:endParaRPr lang="en-IN" sz="28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A4B0983-9CAD-927E-830B-9153566AA2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20303"/>
              </p:ext>
            </p:extLst>
          </p:nvPr>
        </p:nvGraphicFramePr>
        <p:xfrm>
          <a:off x="448573" y="1777042"/>
          <a:ext cx="8378184" cy="2605182"/>
        </p:xfrm>
        <a:graphic>
          <a:graphicData uri="http://schemas.openxmlformats.org/drawingml/2006/table">
            <a:tbl>
              <a:tblPr/>
              <a:tblGrid>
                <a:gridCol w="2094546">
                  <a:extLst>
                    <a:ext uri="{9D8B030D-6E8A-4147-A177-3AD203B41FA5}">
                      <a16:colId xmlns:a16="http://schemas.microsoft.com/office/drawing/2014/main" val="2053277320"/>
                    </a:ext>
                  </a:extLst>
                </a:gridCol>
                <a:gridCol w="2094546">
                  <a:extLst>
                    <a:ext uri="{9D8B030D-6E8A-4147-A177-3AD203B41FA5}">
                      <a16:colId xmlns:a16="http://schemas.microsoft.com/office/drawing/2014/main" val="1390180541"/>
                    </a:ext>
                  </a:extLst>
                </a:gridCol>
                <a:gridCol w="2094546">
                  <a:extLst>
                    <a:ext uri="{9D8B030D-6E8A-4147-A177-3AD203B41FA5}">
                      <a16:colId xmlns:a16="http://schemas.microsoft.com/office/drawing/2014/main" val="1180300435"/>
                    </a:ext>
                  </a:extLst>
                </a:gridCol>
                <a:gridCol w="2094546">
                  <a:extLst>
                    <a:ext uri="{9D8B030D-6E8A-4147-A177-3AD203B41FA5}">
                      <a16:colId xmlns:a16="http://schemas.microsoft.com/office/drawing/2014/main" val="3466075708"/>
                    </a:ext>
                  </a:extLst>
                </a:gridCol>
              </a:tblGrid>
              <a:tr h="434197">
                <a:tc>
                  <a:txBody>
                    <a:bodyPr/>
                    <a:lstStyle/>
                    <a:p>
                      <a:pPr algn="ctr"/>
                      <a:r>
                        <a:rPr lang="en-IN" b="1">
                          <a:solidFill>
                            <a:srgbClr val="38BDF8"/>
                          </a:solidFill>
                          <a:effectLst/>
                        </a:rPr>
                        <a:t>Iteration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>
                          <a:solidFill>
                            <a:srgbClr val="38BDF8"/>
                          </a:solidFill>
                          <a:effectLst/>
                        </a:rPr>
                        <a:t>Method 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>
                          <a:solidFill>
                            <a:srgbClr val="38BDF8"/>
                          </a:solidFill>
                          <a:effectLst/>
                        </a:rPr>
                        <a:t>Method 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>
                          <a:solidFill>
                            <a:srgbClr val="38BDF8"/>
                          </a:solidFill>
                          <a:effectLst/>
                        </a:rPr>
                        <a:t>Method 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3808211"/>
                  </a:ext>
                </a:extLst>
              </a:tr>
              <a:tr h="434197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X₀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306761"/>
                  </a:ext>
                </a:extLst>
              </a:tr>
              <a:tr h="434197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X₁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5.6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3.8527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3.8327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463079"/>
                  </a:ext>
                </a:extLst>
              </a:tr>
              <a:tr h="434197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X₂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6.4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3.5693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3.56834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55216"/>
                  </a:ext>
                </a:extLst>
              </a:tr>
              <a:tr h="434197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X₃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8.3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3.55798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3.55743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475839"/>
                  </a:ext>
                </a:extLst>
              </a:tr>
              <a:tr h="434197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X₄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9.7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solidFill>
                            <a:srgbClr val="CBD5E1"/>
                          </a:solidFill>
                          <a:effectLst/>
                        </a:rPr>
                        <a:t>3.55687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CBD5E1"/>
                          </a:solidFill>
                          <a:effectLst/>
                        </a:rPr>
                        <a:t>3.55672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8BD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224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1230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60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Analysis of Methods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E2C23-4867-1DDE-6ED1-03CE231953B5}"/>
              </a:ext>
            </a:extLst>
          </p:cNvPr>
          <p:cNvSpPr txBox="1"/>
          <p:nvPr/>
        </p:nvSpPr>
        <p:spPr>
          <a:xfrm>
            <a:off x="371409" y="842155"/>
            <a:ext cx="8401181" cy="4270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8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Method 1</a:t>
            </a:r>
          </a:p>
          <a:p>
            <a:pPr algn="just">
              <a:lnSpc>
                <a:spcPct val="150000"/>
              </a:lnSpc>
            </a:pPr>
            <a:r>
              <a:rPr lang="en-IN" sz="25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Diverges:</a:t>
            </a: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Values move away from </a:t>
            </a:r>
          </a:p>
          <a:p>
            <a:pPr algn="just">
              <a:lnSpc>
                <a:spcPct val="150000"/>
              </a:lnSpc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3.5567 (5 → 5.6 → 6.4 → 8.3...)</a:t>
            </a:r>
          </a:p>
          <a:p>
            <a:pPr algn="just">
              <a:lnSpc>
                <a:spcPct val="150000"/>
              </a:lnSpc>
            </a:pPr>
            <a:r>
              <a:rPr lang="en-IN" sz="28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Method 2</a:t>
            </a:r>
          </a:p>
          <a:p>
            <a:pPr algn="just">
              <a:lnSpc>
                <a:spcPct val="150000"/>
              </a:lnSpc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Converges after 6 iterations</a:t>
            </a:r>
          </a:p>
          <a:p>
            <a:pPr algn="just">
              <a:lnSpc>
                <a:spcPct val="150000"/>
              </a:lnSpc>
            </a:pPr>
            <a:r>
              <a:rPr lang="en-IN" sz="28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Method 3</a:t>
            </a:r>
          </a:p>
          <a:p>
            <a:pPr algn="just">
              <a:lnSpc>
                <a:spcPct val="150000"/>
              </a:lnSpc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Converges faster after only 4 iterations</a:t>
            </a:r>
          </a:p>
        </p:txBody>
      </p:sp>
    </p:spTree>
    <p:extLst>
      <p:ext uri="{BB962C8B-B14F-4D97-AF65-F5344CB8AC3E}">
        <p14:creationId xmlns:p14="http://schemas.microsoft.com/office/powerpoint/2010/main" val="1211972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40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Types of Convergence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020594" y="85987"/>
            <a:ext cx="846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E2C23-4867-1DDE-6ED1-03CE231953B5}"/>
              </a:ext>
            </a:extLst>
          </p:cNvPr>
          <p:cNvSpPr txBox="1"/>
          <p:nvPr/>
        </p:nvSpPr>
        <p:spPr>
          <a:xfrm>
            <a:off x="371409" y="1275827"/>
            <a:ext cx="8401181" cy="3370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Linear Convergence</a:t>
            </a:r>
          </a:p>
          <a:p>
            <a:pPr algn="just">
              <a:lnSpc>
                <a:spcPct val="150000"/>
              </a:lnSpc>
            </a:pP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If e</a:t>
            </a:r>
            <a:r>
              <a:rPr lang="en-IN" sz="3000" b="0" i="0" baseline="-2500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i+1</a:t>
            </a: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/</a:t>
            </a:r>
            <a:r>
              <a:rPr lang="en-IN" sz="3000" b="0" i="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e</a:t>
            </a:r>
            <a:r>
              <a:rPr lang="en-IN" sz="3000" b="0" i="0" baseline="-2500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</a:t>
            </a: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is almost constant → </a:t>
            </a:r>
            <a:r>
              <a:rPr lang="en-IN" sz="3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Slow convergence</a:t>
            </a:r>
            <a:endParaRPr lang="en-IN" sz="3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3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Convergence of Order p</a:t>
            </a:r>
          </a:p>
          <a:p>
            <a:pPr algn="just">
              <a:lnSpc>
                <a:spcPct val="150000"/>
              </a:lnSpc>
            </a:pP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If e</a:t>
            </a:r>
            <a:r>
              <a:rPr lang="en-IN" sz="3000" b="0" i="0" baseline="-2500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i+1</a:t>
            </a: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/</a:t>
            </a:r>
            <a:r>
              <a:rPr lang="en-IN" sz="3000" b="0" i="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e</a:t>
            </a:r>
            <a:r>
              <a:rPr lang="en-IN" sz="3000" b="0" i="0" baseline="-2500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</a:t>
            </a:r>
            <a:r>
              <a:rPr lang="en-IN" sz="3000" b="0" i="0" baseline="3000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p</a:t>
            </a: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is nearly constant → </a:t>
            </a:r>
            <a:r>
              <a:rPr lang="en-IN" sz="3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Faster convergence</a:t>
            </a:r>
            <a:endParaRPr lang="en-IN" sz="3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5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3081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35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Error in Convergence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E2C23-4867-1DDE-6ED1-03CE231953B5}"/>
              </a:ext>
            </a:extLst>
          </p:cNvPr>
          <p:cNvSpPr txBox="1"/>
          <p:nvPr/>
        </p:nvSpPr>
        <p:spPr>
          <a:xfrm>
            <a:off x="208342" y="1100377"/>
            <a:ext cx="8401181" cy="2086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3000" b="1" i="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e</a:t>
            </a:r>
            <a:r>
              <a:rPr lang="en-IN" sz="3000" b="1" i="0" baseline="-2500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</a:t>
            </a:r>
            <a:r>
              <a:rPr lang="en-IN" sz="3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= a − X</a:t>
            </a:r>
            <a:r>
              <a:rPr lang="en-IN" sz="3000" b="1" i="0" baseline="-2500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</a:t>
            </a:r>
            <a:endParaRPr lang="en-IN" sz="3000" b="1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where a is the actual root</a:t>
            </a:r>
          </a:p>
          <a:p>
            <a:pPr algn="just">
              <a:lnSpc>
                <a:spcPct val="150000"/>
              </a:lnSpc>
            </a:pP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and X</a:t>
            </a:r>
            <a:r>
              <a:rPr lang="en-IN" sz="3000" b="0" i="0" baseline="-2500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</a:t>
            </a: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is the </a:t>
            </a:r>
            <a:r>
              <a:rPr lang="en-IN" sz="3000" b="0" i="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ith</a:t>
            </a: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iteration value</a:t>
            </a:r>
          </a:p>
        </p:txBody>
      </p:sp>
    </p:spTree>
    <p:extLst>
      <p:ext uri="{BB962C8B-B14F-4D97-AF65-F5344CB8AC3E}">
        <p14:creationId xmlns:p14="http://schemas.microsoft.com/office/powerpoint/2010/main" val="3687294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35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Why Rate Matters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E2C23-4867-1DDE-6ED1-03CE231953B5}"/>
              </a:ext>
            </a:extLst>
          </p:cNvPr>
          <p:cNvSpPr txBox="1"/>
          <p:nvPr/>
        </p:nvSpPr>
        <p:spPr>
          <a:xfrm>
            <a:off x="208342" y="1100377"/>
            <a:ext cx="8401181" cy="347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Determines iterations:</a:t>
            </a: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Fewer iterations with faster convergence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Computational cost:</a:t>
            </a: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Faster methods save time and resources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Accuracy:</a:t>
            </a: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Reaching required precision quickly</a:t>
            </a:r>
          </a:p>
        </p:txBody>
      </p:sp>
    </p:spTree>
    <p:extLst>
      <p:ext uri="{BB962C8B-B14F-4D97-AF65-F5344CB8AC3E}">
        <p14:creationId xmlns:p14="http://schemas.microsoft.com/office/powerpoint/2010/main" val="3410070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35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Applications &amp; Benefits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E2C23-4867-1DDE-6ED1-03CE231953B5}"/>
              </a:ext>
            </a:extLst>
          </p:cNvPr>
          <p:cNvSpPr txBox="1"/>
          <p:nvPr/>
        </p:nvSpPr>
        <p:spPr>
          <a:xfrm>
            <a:off x="208342" y="1100377"/>
            <a:ext cx="8401181" cy="324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High accuracy problems:</a:t>
            </a:r>
            <a:r>
              <a:rPr lang="en-IN" sz="28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Requires faster convergence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Engineering simulations:</a:t>
            </a:r>
            <a:r>
              <a:rPr lang="en-IN" sz="28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Time-critical calculations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Root-finding:</a:t>
            </a:r>
            <a:r>
              <a:rPr lang="en-IN" sz="28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Large-scale systems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Real-time applications:</a:t>
            </a:r>
            <a:r>
              <a:rPr lang="en-IN" sz="28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Must complete within time limits</a:t>
            </a:r>
          </a:p>
        </p:txBody>
      </p:sp>
    </p:spTree>
    <p:extLst>
      <p:ext uri="{BB962C8B-B14F-4D97-AF65-F5344CB8AC3E}">
        <p14:creationId xmlns:p14="http://schemas.microsoft.com/office/powerpoint/2010/main" val="380984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eferences/ Articles/ Videos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83127" y="1817005"/>
            <a:ext cx="8942119" cy="48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lnSpc>
                <a:spcPct val="90000"/>
              </a:lnSpc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https://</a:t>
            </a:r>
            <a:r>
              <a:rPr lang="en-US" sz="2800" b="0" i="0" u="none" strike="noStrike" cap="none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youtu.be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/IoTI4plrEHg?si=wbR0nCBjL081-SyF</a:t>
            </a:r>
            <a:endParaRPr lang="en-US" sz="30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294786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87ED0C6-7719-FB97-ED94-7F5CE38D0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1D700B6-6EB7-B931-A6BA-3293795C4FD6}"/>
              </a:ext>
            </a:extLst>
          </p:cNvPr>
          <p:cNvGrpSpPr/>
          <p:nvPr/>
        </p:nvGrpSpPr>
        <p:grpSpPr>
          <a:xfrm>
            <a:off x="715861" y="-42871"/>
            <a:ext cx="8277101" cy="1217475"/>
            <a:chOff x="0" y="6299"/>
            <a:chExt cx="5580934" cy="1217475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9F7BC64-7A52-69C2-0340-DEC4747604C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DD12C81D-38E2-6BA8-4944-E9161F70F1EA}"/>
                </a:ext>
              </a:extLst>
            </p:cNvPr>
            <p:cNvSpPr txBox="1"/>
            <p:nvPr/>
          </p:nvSpPr>
          <p:spPr>
            <a:xfrm>
              <a:off x="0" y="822582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SzPts val="1900"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Faculty-curated videos, NPTEL, Coursera, LinkedIn, or other relevant learning resources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4A85E0-4100-F66B-64AD-E75BC4178BFF}"/>
              </a:ext>
            </a:extLst>
          </p:cNvPr>
          <p:cNvSpPr txBox="1"/>
          <p:nvPr/>
        </p:nvSpPr>
        <p:spPr>
          <a:xfrm>
            <a:off x="715861" y="2294413"/>
            <a:ext cx="7752278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  <a:hlinkClick r:id="rId3"/>
              </a:rPr>
              <a:t>https://onlinecourses.nptel.ac.in/noc26_ma62/preview</a:t>
            </a:r>
            <a:endParaRPr lang="en-US" sz="24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https://</a:t>
            </a:r>
            <a:r>
              <a:rPr lang="en-US" sz="2400" b="0" i="0" u="none" strike="noStrike" cap="none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onlinecourses.nptel.ac.in</a:t>
            </a: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/noc26_ma20/preview</a:t>
            </a:r>
          </a:p>
        </p:txBody>
      </p:sp>
    </p:spTree>
    <p:extLst>
      <p:ext uri="{BB962C8B-B14F-4D97-AF65-F5344CB8AC3E}">
        <p14:creationId xmlns:p14="http://schemas.microsoft.com/office/powerpoint/2010/main" val="3288866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Class-Wise </a:t>
              </a:r>
              <a:r>
                <a:rPr lang="en-IN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Feedback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315311" y="1117226"/>
            <a:ext cx="9459311" cy="2655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	</a:t>
            </a:r>
            <a:r>
              <a:rPr lang="en-US" sz="3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Faculty members are encouraged to generate a class specific QR code at the end of each session to collect brief student feedback. This can support self-reflection, improve teaching practices, and allow students to share insights, suggestions, or concerns anonymously.</a:t>
            </a:r>
            <a:endParaRPr lang="en-US" sz="3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22436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217963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heena.e6398@cumail.in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86127203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</TotalTime>
  <Words>446</Words>
  <Application>Microsoft Macintosh PowerPoint</Application>
  <PresentationFormat>On-screen Show (16:9)</PresentationFormat>
  <Paragraphs>99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Calibri</vt:lpstr>
      <vt:lpstr>Lato</vt:lpstr>
      <vt:lpstr>Vladimir Script</vt:lpstr>
      <vt:lpstr>Arial Black</vt:lpstr>
      <vt:lpstr>Arial</vt:lpstr>
      <vt:lpstr>Cambria</vt:lpstr>
      <vt:lpstr>Times New Roman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Microsoft Office User</cp:lastModifiedBy>
  <cp:revision>98</cp:revision>
  <dcterms:modified xsi:type="dcterms:W3CDTF">2025-12-06T15:37:36Z</dcterms:modified>
</cp:coreProperties>
</file>