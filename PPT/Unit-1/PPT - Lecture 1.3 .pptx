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83" r:id="rId3"/>
    <p:sldId id="284" r:id="rId4"/>
    <p:sldId id="306" r:id="rId5"/>
    <p:sldId id="285" r:id="rId6"/>
    <p:sldId id="300" r:id="rId7"/>
    <p:sldId id="301" r:id="rId8"/>
    <p:sldId id="307" r:id="rId9"/>
    <p:sldId id="305" r:id="rId10"/>
  </p:sldIdLst>
  <p:sldSz cx="9144000" cy="5143500" type="screen16x9"/>
  <p:notesSz cx="6858000" cy="9144000"/>
  <p:embeddedFontLst>
    <p:embeddedFont>
      <p:font typeface="Arial Black" panose="020B0604020202020204" pitchFamily="34" charset="0"/>
      <p:bold r:id="rId12"/>
    </p:embeddedFont>
    <p:embeddedFont>
      <p:font typeface="Calibri" panose="020F0502020204030204" pitchFamily="34" charset="0"/>
      <p:regular r:id="rId13"/>
      <p:bold r:id="rId14"/>
      <p:italic r:id="rId15"/>
      <p:boldItalic r:id="rId16"/>
    </p:embeddedFont>
    <p:embeddedFont>
      <p:font typeface="Cambria" panose="02040503050406030204" pitchFamily="18" charset="0"/>
      <p:regular r:id="rId17"/>
      <p:bold r:id="rId18"/>
      <p:italic r:id="rId19"/>
      <p:boldItalic r:id="rId20"/>
    </p:embeddedFont>
    <p:embeddedFont>
      <p:font typeface="Lato" panose="020F0502020204030203" pitchFamily="34" charset="0"/>
      <p:regular r:id="rId21"/>
      <p:bold r:id="rId22"/>
      <p:italic r:id="rId23"/>
      <p:boldItalic r:id="rId24"/>
    </p:embeddedFont>
    <p:embeddedFont>
      <p:font typeface="Vladimir Script" panose="03050402040407070305" pitchFamily="66" charset="77"/>
      <p:regular r:id="rId2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48" roundtripDataSignature="AMtx7mgIfgr8mz0h5oJT84AK2itezMzV3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97377635-EB9D-4884-B79A-0D259F93817B}">
  <a:tblStyle styleId="{97377635-EB9D-4884-B79A-0D259F93817B}" styleName="Table_0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9E9E9"/>
          </a:solidFill>
        </a:fill>
      </a:tcStyle>
    </a:wholeTbl>
    <a:band1H>
      <a:tcTxStyle/>
      <a:tcStyle>
        <a:tcBdr/>
        <a:fill>
          <a:solidFill>
            <a:srgbClr val="D0D0D0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D0D0D0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Arial"/>
          <a:ea typeface="Arial"/>
          <a:cs typeface="Arial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Arial"/>
          <a:ea typeface="Arial"/>
          <a:cs typeface="Arial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479"/>
    <p:restoredTop sz="94737"/>
  </p:normalViewPr>
  <p:slideViewPr>
    <p:cSldViewPr snapToGrid="0">
      <p:cViewPr varScale="1">
        <p:scale>
          <a:sx n="72" d="100"/>
          <a:sy n="72" d="100"/>
        </p:scale>
        <p:origin x="216" y="142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font" Target="fonts/font7.fntdata"/><Relationship Id="rId51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10.fntdata"/><Relationship Id="rId50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font" Target="fonts/font6.fntdata"/><Relationship Id="rId25" Type="http://schemas.openxmlformats.org/officeDocument/2006/relationships/font" Target="fonts/font14.fntdata"/><Relationship Id="rId2" Type="http://schemas.openxmlformats.org/officeDocument/2006/relationships/slide" Target="slides/slide1.xml"/><Relationship Id="rId16" Type="http://schemas.openxmlformats.org/officeDocument/2006/relationships/font" Target="fonts/font5.fntdata"/><Relationship Id="rId20" Type="http://schemas.openxmlformats.org/officeDocument/2006/relationships/font" Target="fonts/font9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24" Type="http://schemas.openxmlformats.org/officeDocument/2006/relationships/font" Target="fonts/font13.fntdata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23" Type="http://schemas.openxmlformats.org/officeDocument/2006/relationships/font" Target="fonts/font12.fntdata"/><Relationship Id="rId49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8.fntdata"/><Relationship Id="rId52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Relationship Id="rId22" Type="http://schemas.openxmlformats.org/officeDocument/2006/relationships/font" Target="fonts/font11.fntdata"/><Relationship Id="rId48" Type="http://customschemas.google.com/relationships/presentationmetadata" Target="meta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993081118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91" name="Google Shape;91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424521519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>
          <a:extLst>
            <a:ext uri="{FF2B5EF4-FFF2-40B4-BE49-F238E27FC236}">
              <a16:creationId xmlns:a16="http://schemas.microsoft.com/office/drawing/2014/main" id="{3800AA9E-45AA-4AC2-8AA2-7DA856E9A7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>
            <a:extLst>
              <a:ext uri="{FF2B5EF4-FFF2-40B4-BE49-F238E27FC236}">
                <a16:creationId xmlns:a16="http://schemas.microsoft.com/office/drawing/2014/main" id="{286550A3-8119-6875-5A21-C5D3DA1F866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6" name="Google Shape;106;p2:notes">
            <a:extLst>
              <a:ext uri="{FF2B5EF4-FFF2-40B4-BE49-F238E27FC236}">
                <a16:creationId xmlns:a16="http://schemas.microsoft.com/office/drawing/2014/main" id="{C1F8D45D-F0E2-4C9E-7AD4-3CC086F6FFE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25182800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>
          <a:extLst>
            <a:ext uri="{FF2B5EF4-FFF2-40B4-BE49-F238E27FC236}">
              <a16:creationId xmlns:a16="http://schemas.microsoft.com/office/drawing/2014/main" id="{4BB2C93B-7FE2-A8D6-21D2-CB1FAAB416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>
            <a:extLst>
              <a:ext uri="{FF2B5EF4-FFF2-40B4-BE49-F238E27FC236}">
                <a16:creationId xmlns:a16="http://schemas.microsoft.com/office/drawing/2014/main" id="{B35863A3-7B58-0DD0-4438-352440F081B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6" name="Google Shape;106;p2:notes">
            <a:extLst>
              <a:ext uri="{FF2B5EF4-FFF2-40B4-BE49-F238E27FC236}">
                <a16:creationId xmlns:a16="http://schemas.microsoft.com/office/drawing/2014/main" id="{1C70A685-A7E2-6333-F188-6854C80611A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51191623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>
          <a:extLst>
            <a:ext uri="{FF2B5EF4-FFF2-40B4-BE49-F238E27FC236}">
              <a16:creationId xmlns:a16="http://schemas.microsoft.com/office/drawing/2014/main" id="{6BF395B1-0DDA-EC2D-8CD4-6D4FF14A33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>
            <a:extLst>
              <a:ext uri="{FF2B5EF4-FFF2-40B4-BE49-F238E27FC236}">
                <a16:creationId xmlns:a16="http://schemas.microsoft.com/office/drawing/2014/main" id="{424A4F30-E86A-115B-0CE7-D952412617F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6" name="Google Shape;106;p2:notes">
            <a:extLst>
              <a:ext uri="{FF2B5EF4-FFF2-40B4-BE49-F238E27FC236}">
                <a16:creationId xmlns:a16="http://schemas.microsoft.com/office/drawing/2014/main" id="{6889E4CB-D564-C918-3A24-F3AEE033CEF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84596374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>
          <a:extLst>
            <a:ext uri="{FF2B5EF4-FFF2-40B4-BE49-F238E27FC236}">
              <a16:creationId xmlns:a16="http://schemas.microsoft.com/office/drawing/2014/main" id="{8AE2F180-9A0B-4C89-E2A4-C820E350D8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>
            <a:extLst>
              <a:ext uri="{FF2B5EF4-FFF2-40B4-BE49-F238E27FC236}">
                <a16:creationId xmlns:a16="http://schemas.microsoft.com/office/drawing/2014/main" id="{FCB0DF4C-0C0C-F327-13CB-D147B885411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6" name="Google Shape;106;p2:notes">
            <a:extLst>
              <a:ext uri="{FF2B5EF4-FFF2-40B4-BE49-F238E27FC236}">
                <a16:creationId xmlns:a16="http://schemas.microsoft.com/office/drawing/2014/main" id="{CD3BD526-06AE-0DCC-FB9B-29E2E50FDB4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6429715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>
          <a:extLst>
            <a:ext uri="{FF2B5EF4-FFF2-40B4-BE49-F238E27FC236}">
              <a16:creationId xmlns:a16="http://schemas.microsoft.com/office/drawing/2014/main" id="{09D8B882-0A42-A997-B7C2-B7E4A790F7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>
            <a:extLst>
              <a:ext uri="{FF2B5EF4-FFF2-40B4-BE49-F238E27FC236}">
                <a16:creationId xmlns:a16="http://schemas.microsoft.com/office/drawing/2014/main" id="{C0D5EBF7-7AF6-6579-8561-57B613E9489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6" name="Google Shape;106;p2:notes">
            <a:extLst>
              <a:ext uri="{FF2B5EF4-FFF2-40B4-BE49-F238E27FC236}">
                <a16:creationId xmlns:a16="http://schemas.microsoft.com/office/drawing/2014/main" id="{4533F13B-1510-E87D-A49C-D1857BE0DD8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22620071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>
          <a:extLst>
            <a:ext uri="{FF2B5EF4-FFF2-40B4-BE49-F238E27FC236}">
              <a16:creationId xmlns:a16="http://schemas.microsoft.com/office/drawing/2014/main" id="{618896A3-CA15-4C87-8FB7-24487FE577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>
            <a:extLst>
              <a:ext uri="{FF2B5EF4-FFF2-40B4-BE49-F238E27FC236}">
                <a16:creationId xmlns:a16="http://schemas.microsoft.com/office/drawing/2014/main" id="{29BF4E4D-8363-3E77-BFA5-048BFD297EF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6" name="Google Shape;106;p2:notes">
            <a:extLst>
              <a:ext uri="{FF2B5EF4-FFF2-40B4-BE49-F238E27FC236}">
                <a16:creationId xmlns:a16="http://schemas.microsoft.com/office/drawing/2014/main" id="{F1179ABD-E767-1A65-FB79-9B790ADA685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51703336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>
          <a:extLst>
            <a:ext uri="{FF2B5EF4-FFF2-40B4-BE49-F238E27FC236}">
              <a16:creationId xmlns:a16="http://schemas.microsoft.com/office/drawing/2014/main" id="{CE744BD3-2273-63E8-B289-EF3B2B107E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>
            <a:extLst>
              <a:ext uri="{FF2B5EF4-FFF2-40B4-BE49-F238E27FC236}">
                <a16:creationId xmlns:a16="http://schemas.microsoft.com/office/drawing/2014/main" id="{7F32C7BD-C65E-21E0-A5D7-96E9D601935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6" name="Google Shape;106;p2:notes">
            <a:extLst>
              <a:ext uri="{FF2B5EF4-FFF2-40B4-BE49-F238E27FC236}">
                <a16:creationId xmlns:a16="http://schemas.microsoft.com/office/drawing/2014/main" id="{A256D67B-D43A-765B-55B7-6128E938068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34182375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>
          <a:extLst>
            <a:ext uri="{FF2B5EF4-FFF2-40B4-BE49-F238E27FC236}">
              <a16:creationId xmlns:a16="http://schemas.microsoft.com/office/drawing/2014/main" id="{38CC7291-0158-2CF9-E3E7-C104BA8763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>
            <a:extLst>
              <a:ext uri="{FF2B5EF4-FFF2-40B4-BE49-F238E27FC236}">
                <a16:creationId xmlns:a16="http://schemas.microsoft.com/office/drawing/2014/main" id="{8B9D57E8-6C07-996D-1CC3-BF44C62ABF1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6" name="Google Shape;106;p2:notes">
            <a:extLst>
              <a:ext uri="{FF2B5EF4-FFF2-40B4-BE49-F238E27FC236}">
                <a16:creationId xmlns:a16="http://schemas.microsoft.com/office/drawing/2014/main" id="{B91E2C0C-79EA-9DB7-B0A8-4CEF2F72D79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04561889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userDrawn="1">
  <p:cSld name="OBJECT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9"/>
          <p:cNvSpPr txBox="1">
            <a:spLocks noGrp="1"/>
          </p:cNvSpPr>
          <p:nvPr>
            <p:ph type="body" idx="1"/>
          </p:nvPr>
        </p:nvSpPr>
        <p:spPr>
          <a:xfrm>
            <a:off x="914400" y="1314450"/>
            <a:ext cx="8001000" cy="337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81000" algn="l">
              <a:lnSpc>
                <a:spcPct val="115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marL="914400" marR="0" lvl="1" indent="-3556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pic>
        <p:nvPicPr>
          <p:cNvPr id="3" name="Picture 2" descr="A red rectangular sign with a logo and a globe&#10;&#10;AI-generated content may be incorrect.">
            <a:extLst>
              <a:ext uri="{FF2B5EF4-FFF2-40B4-BE49-F238E27FC236}">
                <a16:creationId xmlns:a16="http://schemas.microsoft.com/office/drawing/2014/main" id="{E3B45E01-6076-AFEE-F2AB-CE7DAC5DAF0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0906" y="22034"/>
            <a:ext cx="652311" cy="104895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solidFill>
          <a:schemeClr val="lt2"/>
        </a:solidFill>
        <a:effectLst/>
      </p:bgPr>
    </p:bg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31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8" name="Google Shape;18;p31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9" name="Google Shape;19;p31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" name="Google Shape;20;p31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1" name="Google Shape;21;p31"/>
          <p:cNvSpPr txBox="1">
            <a:spLocks noGrp="1"/>
          </p:cNvSpPr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22" name="Google Shape;22;p31"/>
          <p:cNvSpPr txBox="1">
            <a:spLocks noGrp="1"/>
          </p:cNvSpPr>
          <p:nvPr>
            <p:ph type="subTitle" idx="1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23" name="Google Shape;23;p31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E5F213-031A-95AD-897E-DD31668ADE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CEDF7FE-8238-E952-EC20-938FFD7042D7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12725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bg>
      <p:bgPr>
        <a:solidFill>
          <a:schemeClr val="dk1"/>
        </a:solidFill>
        <a:effectLst/>
      </p:bgPr>
    </p:bg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Google Shape;25;p32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26" name="Google Shape;26;p32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" name="Google Shape;27;p32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8" name="Google Shape;28;p32"/>
          <p:cNvSpPr txBox="1">
            <a:spLocks noGrp="1"/>
          </p:cNvSpPr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9" name="Google Shape;29;p32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33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2" name="Google Shape;32;p33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33" name="Google Shape;33;p33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" name="Google Shape;34;p33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5" name="Google Shape;35;p33"/>
          <p:cNvSpPr txBox="1">
            <a:spLocks noGrp="1"/>
          </p:cNvSpPr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36" name="Google Shape;36;p33"/>
          <p:cNvSpPr txBox="1">
            <a:spLocks noGrp="1"/>
          </p:cNvSpPr>
          <p:nvPr>
            <p:ph type="body" idx="1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37" name="Google Shape;37;p33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34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0" name="Google Shape;40;p34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41" name="Google Shape;41;p34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" name="Google Shape;42;p34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3" name="Google Shape;43;p34"/>
          <p:cNvSpPr txBox="1">
            <a:spLocks noGrp="1"/>
          </p:cNvSpPr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44" name="Google Shape;44;p34"/>
          <p:cNvSpPr txBox="1">
            <a:spLocks noGrp="1"/>
          </p:cNvSpPr>
          <p:nvPr>
            <p:ph type="body" idx="1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45" name="Google Shape;45;p34"/>
          <p:cNvSpPr txBox="1">
            <a:spLocks noGrp="1"/>
          </p:cNvSpPr>
          <p:nvPr>
            <p:ph type="body" idx="2"/>
          </p:nvPr>
        </p:nvSpPr>
        <p:spPr>
          <a:xfrm>
            <a:off x="4643604" y="2078875"/>
            <a:ext cx="3774300" cy="22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46" name="Google Shape;46;p34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35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9" name="Google Shape;49;p35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50" name="Google Shape;50;p35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" name="Google Shape;51;p35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2" name="Google Shape;52;p35"/>
          <p:cNvSpPr txBox="1">
            <a:spLocks noGrp="1"/>
          </p:cNvSpPr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53" name="Google Shape;53;p35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36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6" name="Google Shape;56;p36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57" name="Google Shape;57;p36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" name="Google Shape;58;p36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9" name="Google Shape;59;p36"/>
          <p:cNvSpPr txBox="1">
            <a:spLocks noGrp="1"/>
          </p:cNvSpPr>
          <p:nvPr>
            <p:ph type="title"/>
          </p:nvPr>
        </p:nvSpPr>
        <p:spPr>
          <a:xfrm>
            <a:off x="730000" y="1318650"/>
            <a:ext cx="3300900" cy="138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60" name="Google Shape;60;p36"/>
          <p:cNvSpPr txBox="1">
            <a:spLocks noGrp="1"/>
          </p:cNvSpPr>
          <p:nvPr>
            <p:ph type="body" idx="1"/>
          </p:nvPr>
        </p:nvSpPr>
        <p:spPr>
          <a:xfrm>
            <a:off x="721225" y="2781725"/>
            <a:ext cx="3300900" cy="159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61" name="Google Shape;61;p36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bg>
      <p:bgPr>
        <a:solidFill>
          <a:schemeClr val="accent3"/>
        </a:solidFill>
        <a:effectLst/>
      </p:bgPr>
    </p:bg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" name="Google Shape;63;p37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64" name="Google Shape;64;p37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" name="Google Shape;65;p37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6" name="Google Shape;66;p37"/>
          <p:cNvSpPr txBox="1">
            <a:spLocks noGrp="1"/>
          </p:cNvSpPr>
          <p:nvPr>
            <p:ph type="title"/>
          </p:nvPr>
        </p:nvSpPr>
        <p:spPr>
          <a:xfrm>
            <a:off x="729450" y="864300"/>
            <a:ext cx="7021200" cy="29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67" name="Google Shape;67;p37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8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70" name="Google Shape;70;p38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71" name="Google Shape;71;p38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" name="Google Shape;72;p38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3" name="Google Shape;73;p38"/>
          <p:cNvSpPr txBox="1">
            <a:spLocks noGrp="1"/>
          </p:cNvSpPr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74" name="Google Shape;74;p38"/>
          <p:cNvSpPr txBox="1">
            <a:spLocks noGrp="1"/>
          </p:cNvSpPr>
          <p:nvPr>
            <p:ph type="subTitle" idx="1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75" name="Google Shape;75;p38"/>
          <p:cNvSpPr txBox="1">
            <a:spLocks noGrp="1"/>
          </p:cNvSpPr>
          <p:nvPr>
            <p:ph type="body" idx="2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76" name="Google Shape;76;p38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39"/>
          <p:cNvSpPr txBox="1">
            <a:spLocks noGrp="1"/>
          </p:cNvSpPr>
          <p:nvPr>
            <p:ph type="body" idx="1"/>
          </p:nvPr>
        </p:nvSpPr>
        <p:spPr>
          <a:xfrm>
            <a:off x="724950" y="4372551"/>
            <a:ext cx="7697400" cy="46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>
            <a:endParaRPr/>
          </a:p>
        </p:txBody>
      </p:sp>
      <p:sp>
        <p:nvSpPr>
          <p:cNvPr id="79" name="Google Shape;79;p39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bg>
      <p:bgPr>
        <a:solidFill>
          <a:schemeClr val="dk1"/>
        </a:solidFill>
        <a:effectLst/>
      </p:bgPr>
    </p:bg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1" name="Google Shape;81;p40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82" name="Google Shape;82;p40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" name="Google Shape;83;p40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84" name="Google Shape;84;p40"/>
          <p:cNvSpPr txBox="1">
            <a:spLocks noGrp="1"/>
          </p:cNvSpPr>
          <p:nvPr>
            <p:ph type="title" hasCustomPrompt="1"/>
          </p:nvPr>
        </p:nvSpPr>
        <p:spPr>
          <a:xfrm>
            <a:off x="729450" y="733950"/>
            <a:ext cx="7688400" cy="124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85" name="Google Shape;85;p40"/>
          <p:cNvSpPr txBox="1">
            <a:spLocks noGrp="1"/>
          </p:cNvSpPr>
          <p:nvPr>
            <p:ph type="body" idx="1"/>
          </p:nvPr>
        </p:nvSpPr>
        <p:spPr>
          <a:xfrm>
            <a:off x="729450" y="2272888"/>
            <a:ext cx="7688400" cy="158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marL="914400" lvl="1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marL="1371600" lvl="2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marL="1828800" lvl="3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marL="2286000" lvl="4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marL="2743200" lvl="5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marL="3200400" lvl="6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marL="3657600" lvl="7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marL="4114800" lvl="8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86" name="Google Shape;86;p40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41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30E067-05BA-3068-8F0D-B3C073B803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399BB7D-4B8D-4670-0220-D1EB44F3B350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87500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treamline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7;p28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  <a:defRPr sz="13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marR="0" lvl="1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marR="0" lvl="2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marR="0" lvl="3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marR="0" lvl="4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marR="0" lvl="5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marR="0" lvl="6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marR="0" lvl="7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marR="0" lvl="8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  <p:sp>
        <p:nvSpPr>
          <p:cNvPr id="8" name="Google Shape;8;p28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62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3" r:id="rId14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onlinecourses.nptel.ac.in/noc26_ma62/preview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handigarh University Archives - Worldwide Transcript"/>
          <p:cNvPicPr>
            <a:picLocks noChangeAspect="1" noChangeArrowheads="1"/>
          </p:cNvPicPr>
          <p:nvPr/>
        </p:nvPicPr>
        <p:blipFill>
          <a:blip r:embed="rId3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537" y="1217517"/>
            <a:ext cx="2782983" cy="27829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3" name="Google Shape;93;p1"/>
          <p:cNvSpPr txBox="1"/>
          <p:nvPr/>
        </p:nvSpPr>
        <p:spPr>
          <a:xfrm>
            <a:off x="6572250" y="48815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p1"/>
          <p:cNvSpPr/>
          <p:nvPr/>
        </p:nvSpPr>
        <p:spPr>
          <a:xfrm rot="10800000" flipH="1">
            <a:off x="7796638" y="4287563"/>
            <a:ext cx="968400" cy="867900"/>
          </a:xfrm>
          <a:prstGeom prst="rtTriangle">
            <a:avLst/>
          </a:prstGeom>
          <a:solidFill>
            <a:srgbClr val="F2F2F2">
              <a:alpha val="16078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1"/>
          <p:cNvSpPr/>
          <p:nvPr/>
        </p:nvSpPr>
        <p:spPr>
          <a:xfrm flipH="1">
            <a:off x="5284799" y="-48815"/>
            <a:ext cx="3859200" cy="4389900"/>
          </a:xfrm>
          <a:prstGeom prst="rtTriangle">
            <a:avLst/>
          </a:prstGeom>
          <a:solidFill>
            <a:srgbClr val="F2F2F2">
              <a:alpha val="16078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p1"/>
          <p:cNvSpPr/>
          <p:nvPr/>
        </p:nvSpPr>
        <p:spPr>
          <a:xfrm>
            <a:off x="1593056" y="1519145"/>
            <a:ext cx="5122200" cy="1185600"/>
          </a:xfrm>
          <a:prstGeom prst="rect">
            <a:avLst/>
          </a:prstGeom>
          <a:gradFill>
            <a:gsLst>
              <a:gs pos="0">
                <a:srgbClr val="FFFFFF">
                  <a:alpha val="0"/>
                </a:srgbClr>
              </a:gs>
              <a:gs pos="2659">
                <a:srgbClr val="FFFFFF">
                  <a:alpha val="0"/>
                </a:srgbClr>
              </a:gs>
              <a:gs pos="15000">
                <a:srgbClr val="FFFFFF">
                  <a:alpha val="33333"/>
                </a:srgbClr>
              </a:gs>
              <a:gs pos="51000">
                <a:schemeClr val="lt1"/>
              </a:gs>
              <a:gs pos="94000">
                <a:srgbClr val="FFFFFF">
                  <a:alpha val="33333"/>
                </a:srgbClr>
              </a:gs>
              <a:gs pos="100000">
                <a:srgbClr val="FFFFFF">
                  <a:alpha val="0"/>
                </a:srgbClr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1"/>
          <p:cNvSpPr/>
          <p:nvPr/>
        </p:nvSpPr>
        <p:spPr>
          <a:xfrm flipH="1">
            <a:off x="7360500" y="3929250"/>
            <a:ext cx="1774800" cy="1200300"/>
          </a:xfrm>
          <a:prstGeom prst="rtTriangle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p1"/>
          <p:cNvSpPr txBox="1"/>
          <p:nvPr/>
        </p:nvSpPr>
        <p:spPr>
          <a:xfrm>
            <a:off x="771896" y="618294"/>
            <a:ext cx="7602983" cy="40882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 Black"/>
              <a:buNone/>
            </a:pPr>
            <a:r>
              <a:rPr lang="en-US" sz="2000" b="1" i="0" u="none" strike="noStrike" cap="none" dirty="0">
                <a:solidFill>
                  <a:schemeClr val="bg2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sym typeface="Arial Black"/>
              </a:rPr>
              <a:t>UNIVERSITY INSTITUTE OF </a:t>
            </a:r>
            <a:r>
              <a:rPr lang="en-US" sz="2000" b="1" dirty="0">
                <a:solidFill>
                  <a:schemeClr val="bg2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sym typeface="Arial Black"/>
              </a:rPr>
              <a:t>ENGINEERING</a:t>
            </a:r>
            <a:endParaRPr sz="2000" b="0" i="0" u="none" strike="noStrike" cap="none" dirty="0">
              <a:solidFill>
                <a:schemeClr val="bg2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  <a:sym typeface="Arial"/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112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 Black"/>
              <a:buNone/>
            </a:pPr>
            <a:r>
              <a:rPr lang="en-US" sz="2000" b="1" i="0" u="none" strike="noStrike" cap="none" dirty="0">
                <a:solidFill>
                  <a:schemeClr val="bg2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sym typeface="Arial Black"/>
              </a:rPr>
              <a:t>CSE 3</a:t>
            </a:r>
            <a:r>
              <a:rPr lang="en-US" sz="2000" b="1" i="0" u="none" strike="noStrike" cap="none" baseline="30000" dirty="0">
                <a:solidFill>
                  <a:schemeClr val="bg2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sym typeface="Arial Black"/>
              </a:rPr>
              <a:t>RD</a:t>
            </a:r>
            <a:r>
              <a:rPr lang="en-US" sz="2000" b="1" i="0" u="none" strike="noStrike" cap="none" dirty="0">
                <a:solidFill>
                  <a:schemeClr val="bg2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sym typeface="Arial Black"/>
              </a:rPr>
              <a:t> YEAR</a:t>
            </a:r>
            <a:endParaRPr sz="2000" b="0" i="0" u="none" strike="noStrike" cap="none" dirty="0">
              <a:solidFill>
                <a:schemeClr val="bg2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  <a:sym typeface="Arial"/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112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lang="en-US" sz="2000" b="0" i="0" u="none" strike="noStrike" cap="none" dirty="0">
                <a:solidFill>
                  <a:schemeClr val="bg2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sym typeface="Times New Roman"/>
              </a:rPr>
              <a:t>CS201/CS202/CS703/CS704/IT201/IT202/BI519</a:t>
            </a:r>
            <a:endParaRPr sz="2000" dirty="0">
              <a:solidFill>
                <a:schemeClr val="bg2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112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lang="en-US" sz="2000" dirty="0">
                <a:solidFill>
                  <a:schemeClr val="bg2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sym typeface="Times New Roman"/>
              </a:rPr>
              <a:t>5</a:t>
            </a:r>
            <a:r>
              <a:rPr lang="en-US" sz="2000" baseline="30000" dirty="0">
                <a:solidFill>
                  <a:schemeClr val="bg2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sym typeface="Times New Roman"/>
              </a:rPr>
              <a:t>TH</a:t>
            </a:r>
            <a:r>
              <a:rPr lang="en-US" sz="2000" dirty="0">
                <a:solidFill>
                  <a:schemeClr val="bg2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sym typeface="Times New Roman"/>
              </a:rPr>
              <a:t> </a:t>
            </a:r>
            <a:r>
              <a:rPr lang="en-US" sz="2000" b="0" i="0" u="none" strike="noStrike" cap="none" dirty="0">
                <a:solidFill>
                  <a:schemeClr val="bg2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sym typeface="Times New Roman"/>
              </a:rPr>
              <a:t> SEMESTER</a:t>
            </a:r>
            <a:endParaRPr sz="2000" dirty="0">
              <a:solidFill>
                <a:schemeClr val="bg2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98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 sz="2000" b="1" i="0" u="none" strike="noStrike" cap="none" dirty="0">
                <a:solidFill>
                  <a:schemeClr val="bg2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sym typeface="Arial"/>
              </a:rPr>
              <a:t>NUMERICAL METHODS</a:t>
            </a:r>
            <a:endParaRPr sz="2000" dirty="0">
              <a:solidFill>
                <a:schemeClr val="bg2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98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 sz="2000" b="0" i="0" u="none" strike="noStrike" cap="none" dirty="0">
                <a:solidFill>
                  <a:schemeClr val="bg2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sym typeface="Arial"/>
              </a:rPr>
              <a:t>(</a:t>
            </a:r>
            <a:r>
              <a:rPr lang="en-US" sz="2000" dirty="0">
                <a:solidFill>
                  <a:schemeClr val="bg2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23SMH-341</a:t>
            </a:r>
            <a:r>
              <a:rPr lang="en-US" sz="2000" b="0" i="0" u="none" strike="noStrike" cap="none" dirty="0">
                <a:solidFill>
                  <a:schemeClr val="bg2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sym typeface="Arial"/>
              </a:rPr>
              <a:t>)</a:t>
            </a:r>
            <a:endParaRPr sz="2000" dirty="0">
              <a:solidFill>
                <a:schemeClr val="bg2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spcBef>
                <a:spcPts val="1120"/>
              </a:spcBef>
              <a:buSzPts val="3200"/>
            </a:pPr>
            <a:r>
              <a:rPr lang="en-US" sz="20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Unit No. 1                     Chapter No. 1                    Lecture No. 1.3</a:t>
            </a:r>
          </a:p>
          <a:p>
            <a:pPr>
              <a:spcBef>
                <a:spcPts val="1120"/>
              </a:spcBef>
              <a:buSzPts val="3200"/>
            </a:pPr>
            <a:r>
              <a:rPr lang="en-US" sz="20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Topic : </a:t>
            </a:r>
            <a:r>
              <a:rPr lang="en-IN" sz="20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Rounding &amp; Truncation Errors</a:t>
            </a:r>
            <a:endParaRPr lang="en-IN" sz="200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1120"/>
              </a:spcBef>
              <a:buSzPts val="3200"/>
            </a:pPr>
            <a:r>
              <a:rPr lang="en-US" sz="20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Faculty Name and E-Code: Dr. Heena Sharma (E6398)                                                        Designation: Assistant Professor</a:t>
            </a:r>
            <a:endParaRPr lang="en-US" sz="2000" b="1" i="0" u="none" strike="noStrike" cap="none" dirty="0">
              <a:solidFill>
                <a:schemeClr val="bg2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85E2170-6E52-163D-4579-180ED8258362}"/>
              </a:ext>
            </a:extLst>
          </p:cNvPr>
          <p:cNvSpPr txBox="1"/>
          <p:nvPr/>
        </p:nvSpPr>
        <p:spPr>
          <a:xfrm>
            <a:off x="5284800" y="0"/>
            <a:ext cx="3859199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IN" sz="1800" b="1" dirty="0">
                <a:solidFill>
                  <a:schemeClr val="bg1">
                    <a:lumMod val="6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Academic Session 2025-26 </a:t>
            </a:r>
          </a:p>
          <a:p>
            <a:pPr algn="r"/>
            <a:r>
              <a:rPr lang="en-IN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EVEN Semester Jan-Jun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>
          <a:extLst>
            <a:ext uri="{FF2B5EF4-FFF2-40B4-BE49-F238E27FC236}">
              <a16:creationId xmlns:a16="http://schemas.microsoft.com/office/drawing/2014/main" id="{0EF27945-C1E1-DDBF-6B5A-32A668D1B0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" name="Google Shape;108;p2">
            <a:extLst>
              <a:ext uri="{FF2B5EF4-FFF2-40B4-BE49-F238E27FC236}">
                <a16:creationId xmlns:a16="http://schemas.microsoft.com/office/drawing/2014/main" id="{B82306DF-DC71-A9BC-8B35-D6290EE31CD4}"/>
              </a:ext>
            </a:extLst>
          </p:cNvPr>
          <p:cNvGrpSpPr/>
          <p:nvPr/>
        </p:nvGrpSpPr>
        <p:grpSpPr>
          <a:xfrm>
            <a:off x="724394" y="218172"/>
            <a:ext cx="8300849" cy="444600"/>
            <a:chOff x="0" y="6299"/>
            <a:chExt cx="5580934" cy="444600"/>
          </a:xfrm>
          <a:noFill/>
        </p:grpSpPr>
        <p:sp>
          <p:nvSpPr>
            <p:cNvPr id="109" name="Google Shape;109;p2">
              <a:extLst>
                <a:ext uri="{FF2B5EF4-FFF2-40B4-BE49-F238E27FC236}">
                  <a16:creationId xmlns:a16="http://schemas.microsoft.com/office/drawing/2014/main" id="{CFDB14A8-16BA-BF7C-C8D7-1E6DAD65FFC9}"/>
                </a:ext>
              </a:extLst>
            </p:cNvPr>
            <p:cNvSpPr/>
            <p:nvPr/>
          </p:nvSpPr>
          <p:spPr>
            <a:xfrm>
              <a:off x="0" y="6299"/>
              <a:ext cx="5580934" cy="444600"/>
            </a:xfrm>
            <a:prstGeom prst="roundRect">
              <a:avLst>
                <a:gd name="adj" fmla="val 16667"/>
              </a:avLst>
            </a:prstGeom>
            <a:grpFill/>
            <a:ln>
              <a:noFill/>
            </a:ln>
            <a:effectLst>
              <a:outerShdw blurRad="40000" dist="20000" dir="5400000" rotWithShape="0">
                <a:srgbClr val="000000">
                  <a:alpha val="37647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/>
                </a:solidFill>
              </a:endParaRPr>
            </a:p>
          </p:txBody>
        </p:sp>
        <p:sp>
          <p:nvSpPr>
            <p:cNvPr id="110" name="Google Shape;110;p2">
              <a:extLst>
                <a:ext uri="{FF2B5EF4-FFF2-40B4-BE49-F238E27FC236}">
                  <a16:creationId xmlns:a16="http://schemas.microsoft.com/office/drawing/2014/main" id="{B1FC2D67-AE60-4AB2-F4BD-027A2C4342A0}"/>
                </a:ext>
              </a:extLst>
            </p:cNvPr>
            <p:cNvSpPr txBox="1"/>
            <p:nvPr/>
          </p:nvSpPr>
          <p:spPr>
            <a:xfrm>
              <a:off x="21704" y="28003"/>
              <a:ext cx="5537526" cy="401192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72375" tIns="72375" rIns="72375" bIns="7237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rPr lang="en-US" sz="4000" b="1" i="0" u="none" strike="noStrike" cap="none" dirty="0">
                  <a:solidFill>
                    <a:schemeClr val="bg2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  <a:sym typeface="Arial"/>
                </a:rPr>
                <a:t>Learning Objectives</a:t>
              </a:r>
            </a:p>
          </p:txBody>
        </p:sp>
      </p:grpSp>
      <p:sp>
        <p:nvSpPr>
          <p:cNvPr id="7" name="TextBox 6"/>
          <p:cNvSpPr txBox="1"/>
          <p:nvPr/>
        </p:nvSpPr>
        <p:spPr>
          <a:xfrm>
            <a:off x="8609524" y="85987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IN" dirty="0"/>
              <a:t>1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2B63C2A9-B054-BA3C-AEDE-C0C1F44D2B9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49623150"/>
              </p:ext>
            </p:extLst>
          </p:nvPr>
        </p:nvGraphicFramePr>
        <p:xfrm>
          <a:off x="724394" y="1205836"/>
          <a:ext cx="7705928" cy="1188847"/>
        </p:xfrm>
        <a:graphic>
          <a:graphicData uri="http://schemas.openxmlformats.org/drawingml/2006/table">
            <a:tbl>
              <a:tblPr bandRow="1">
                <a:tableStyleId>{97377635-EB9D-4884-B79A-0D259F93817B}</a:tableStyleId>
              </a:tblPr>
              <a:tblGrid>
                <a:gridCol w="7705928">
                  <a:extLst>
                    <a:ext uri="{9D8B030D-6E8A-4147-A177-3AD203B41FA5}">
                      <a16:colId xmlns:a16="http://schemas.microsoft.com/office/drawing/2014/main" val="3423502139"/>
                    </a:ext>
                  </a:extLst>
                </a:gridCol>
              </a:tblGrid>
              <a:tr h="612566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</a:pPr>
                      <a:r>
                        <a:rPr lang="en-IN" sz="3000" kern="100" dirty="0">
                          <a:solidFill>
                            <a:schemeClr val="bg2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CO2: </a:t>
                      </a:r>
                      <a:r>
                        <a:rPr lang="en-IN" sz="2500" b="0" i="0" u="none" strike="noStrike" cap="none" dirty="0">
                          <a:solidFill>
                            <a:schemeClr val="bg2"/>
                          </a:solidFill>
                          <a:effectLst/>
                          <a:latin typeface="Times New Roman" panose="02020603050405020304" pitchFamily="18" charset="0"/>
                          <a:ea typeface="Arial"/>
                          <a:cs typeface="Times New Roman" panose="02020603050405020304" pitchFamily="18" charset="0"/>
                          <a:sym typeface="Arial"/>
                        </a:rPr>
                        <a:t>Students will be able to understand the techniques used for solving linear and nonlinear Algebra.</a:t>
                      </a:r>
                      <a:endParaRPr lang="en-IN" sz="2500" kern="100" dirty="0">
                        <a:solidFill>
                          <a:schemeClr val="bg2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11208982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397580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>
          <a:extLst>
            <a:ext uri="{FF2B5EF4-FFF2-40B4-BE49-F238E27FC236}">
              <a16:creationId xmlns:a16="http://schemas.microsoft.com/office/drawing/2014/main" id="{0F165C73-F363-A304-734E-7CBF8D3F9F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" name="Google Shape;108;p2">
            <a:extLst>
              <a:ext uri="{FF2B5EF4-FFF2-40B4-BE49-F238E27FC236}">
                <a16:creationId xmlns:a16="http://schemas.microsoft.com/office/drawing/2014/main" id="{17B7C442-1162-E7EE-DA61-E33D8E4C9122}"/>
              </a:ext>
            </a:extLst>
          </p:cNvPr>
          <p:cNvGrpSpPr/>
          <p:nvPr/>
        </p:nvGrpSpPr>
        <p:grpSpPr>
          <a:xfrm>
            <a:off x="760020" y="218172"/>
            <a:ext cx="8265225" cy="444600"/>
            <a:chOff x="0" y="6299"/>
            <a:chExt cx="5580934" cy="444600"/>
          </a:xfrm>
          <a:noFill/>
        </p:grpSpPr>
        <p:sp>
          <p:nvSpPr>
            <p:cNvPr id="109" name="Google Shape;109;p2">
              <a:extLst>
                <a:ext uri="{FF2B5EF4-FFF2-40B4-BE49-F238E27FC236}">
                  <a16:creationId xmlns:a16="http://schemas.microsoft.com/office/drawing/2014/main" id="{8E0F9992-62FC-4C63-BED6-091FF56DEF08}"/>
                </a:ext>
              </a:extLst>
            </p:cNvPr>
            <p:cNvSpPr/>
            <p:nvPr/>
          </p:nvSpPr>
          <p:spPr>
            <a:xfrm>
              <a:off x="0" y="6299"/>
              <a:ext cx="5580934" cy="444600"/>
            </a:xfrm>
            <a:prstGeom prst="roundRect">
              <a:avLst>
                <a:gd name="adj" fmla="val 16667"/>
              </a:avLst>
            </a:prstGeom>
            <a:grpFill/>
            <a:ln>
              <a:noFill/>
            </a:ln>
            <a:effectLst>
              <a:outerShdw blurRad="40000" dist="20000" dir="5400000" rotWithShape="0">
                <a:srgbClr val="000000">
                  <a:alpha val="37647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/>
                </a:solidFill>
              </a:endParaRPr>
            </a:p>
          </p:txBody>
        </p:sp>
        <p:sp>
          <p:nvSpPr>
            <p:cNvPr id="110" name="Google Shape;110;p2">
              <a:extLst>
                <a:ext uri="{FF2B5EF4-FFF2-40B4-BE49-F238E27FC236}">
                  <a16:creationId xmlns:a16="http://schemas.microsoft.com/office/drawing/2014/main" id="{BFBE6ABC-C3B9-AA73-42F9-036BD547E8EB}"/>
                </a:ext>
              </a:extLst>
            </p:cNvPr>
            <p:cNvSpPr txBox="1"/>
            <p:nvPr/>
          </p:nvSpPr>
          <p:spPr>
            <a:xfrm>
              <a:off x="21704" y="28003"/>
              <a:ext cx="5537526" cy="401192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72375" tIns="72375" rIns="72375" bIns="72375" anchor="ctr" anchorCtr="0">
              <a:noAutofit/>
            </a:bodyPr>
            <a:lstStyle/>
            <a:p>
              <a:pPr algn="l"/>
              <a:r>
                <a:rPr lang="en-IN" sz="4000" b="1" i="0" dirty="0">
                  <a:solidFill>
                    <a:schemeClr val="accent6">
                      <a:lumMod val="50000"/>
                    </a:schemeClr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Significant Digits and Its Rules</a:t>
              </a:r>
            </a:p>
          </p:txBody>
        </p:sp>
      </p:grpSp>
      <p:sp>
        <p:nvSpPr>
          <p:cNvPr id="111" name="Google Shape;111;p2">
            <a:extLst>
              <a:ext uri="{FF2B5EF4-FFF2-40B4-BE49-F238E27FC236}">
                <a16:creationId xmlns:a16="http://schemas.microsoft.com/office/drawing/2014/main" id="{8B576DE2-C283-2E3E-CC36-4B7ABE8B874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85500" y="1422025"/>
            <a:ext cx="8001000" cy="29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1" i="0" u="none" strike="noStrike" cap="none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0" i="0" u="none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3" name="Google Shape;113;p2">
            <a:extLst>
              <a:ext uri="{FF2B5EF4-FFF2-40B4-BE49-F238E27FC236}">
                <a16:creationId xmlns:a16="http://schemas.microsoft.com/office/drawing/2014/main" id="{3427E39E-1443-8E67-323E-AC3515D4A144}"/>
              </a:ext>
            </a:extLst>
          </p:cNvPr>
          <p:cNvSpPr txBox="1"/>
          <p:nvPr/>
        </p:nvSpPr>
        <p:spPr>
          <a:xfrm>
            <a:off x="757500" y="784721"/>
            <a:ext cx="8267746" cy="44319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IN" sz="2400" b="1" i="0" dirty="0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Definition</a:t>
            </a:r>
          </a:p>
          <a:p>
            <a:pPr algn="l">
              <a:lnSpc>
                <a:spcPct val="150000"/>
              </a:lnSpc>
            </a:pPr>
            <a:r>
              <a:rPr lang="en-IN" sz="2000" b="0" i="0" dirty="0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Significant digits (or significant figures) are the meaningful digits in a number that indicate its precision.</a:t>
            </a:r>
          </a:p>
          <a:p>
            <a:pPr algn="l">
              <a:lnSpc>
                <a:spcPct val="150000"/>
              </a:lnSpc>
            </a:pPr>
            <a:r>
              <a:rPr lang="en-IN" sz="24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Rules:</a:t>
            </a:r>
          </a:p>
          <a:p>
            <a:pPr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b="1" i="0" dirty="0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Non-zero digits:</a:t>
            </a:r>
            <a:r>
              <a:rPr lang="en-IN" sz="2000" b="0" i="0" dirty="0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 All are significant (456 → 3 sig. digits)</a:t>
            </a:r>
          </a:p>
          <a:p>
            <a:pPr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b="1" i="0" dirty="0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Zeros between non-zero:</a:t>
            </a:r>
            <a:r>
              <a:rPr lang="en-IN" sz="2000" b="0" i="0" dirty="0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 Significant (2005 → 4 sig. digits)</a:t>
            </a:r>
          </a:p>
          <a:p>
            <a:pPr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b="1" i="0" dirty="0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Leading zeros:</a:t>
            </a:r>
            <a:r>
              <a:rPr lang="en-IN" sz="2000" b="0" i="0" dirty="0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 Not significant (0.0034 → 2 sig. digits)</a:t>
            </a:r>
          </a:p>
          <a:p>
            <a:pPr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b="1" i="0" dirty="0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Trailing zeros (decimal):</a:t>
            </a:r>
            <a:r>
              <a:rPr lang="en-IN" sz="2000" b="0" i="0" dirty="0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 Significant (2.300 → 4 sig. digits)</a:t>
            </a:r>
          </a:p>
          <a:p>
            <a:pPr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b="1" i="0" dirty="0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Trailing zeros (whole number):</a:t>
            </a:r>
            <a:r>
              <a:rPr lang="en-IN" sz="2000" b="0" i="0" dirty="0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 Ambiguous (1500 → 2, 3, or 4 sig. digits)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09524" y="85987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IN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3375124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>
          <a:extLst>
            <a:ext uri="{FF2B5EF4-FFF2-40B4-BE49-F238E27FC236}">
              <a16:creationId xmlns:a16="http://schemas.microsoft.com/office/drawing/2014/main" id="{EB83A878-A8C8-7563-ACC5-60FA0ECC44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8609524" y="85987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IN" dirty="0"/>
              <a:t>3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24D069F-9FE0-0231-78ED-F358A7B5195C}"/>
              </a:ext>
            </a:extLst>
          </p:cNvPr>
          <p:cNvSpPr txBox="1"/>
          <p:nvPr/>
        </p:nvSpPr>
        <p:spPr>
          <a:xfrm>
            <a:off x="780585" y="-8910"/>
            <a:ext cx="8112991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sz="4000" b="1" i="0" dirty="0">
                <a:solidFill>
                  <a:schemeClr val="accent6">
                    <a:lumMod val="50000"/>
                  </a:schemeClr>
                </a:solidFill>
                <a:effectLst/>
                <a:latin typeface="Times New Roman" panose="02020603050405020304" pitchFamily="18" charset="0"/>
              </a:rPr>
              <a:t>Floating-Point Representation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E028A36-3260-6453-8999-4CF7DCC05C61}"/>
              </a:ext>
            </a:extLst>
          </p:cNvPr>
          <p:cNvSpPr txBox="1"/>
          <p:nvPr/>
        </p:nvSpPr>
        <p:spPr>
          <a:xfrm>
            <a:off x="317241" y="1038445"/>
            <a:ext cx="8576335" cy="42780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IN" sz="2000" b="0" i="0" dirty="0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Computers store real numbers in floating-point format:</a:t>
            </a:r>
          </a:p>
          <a:p>
            <a:pPr algn="ctr">
              <a:lnSpc>
                <a:spcPct val="150000"/>
              </a:lnSpc>
            </a:pPr>
            <a:r>
              <a:rPr lang="en-IN" sz="2000" b="0" i="0" dirty="0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Number = ±(mantissa) × 10</a:t>
            </a:r>
            <a:r>
              <a:rPr lang="en-IN" sz="2000" b="0" i="0" baseline="30000" dirty="0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exponent</a:t>
            </a:r>
            <a:endParaRPr lang="en-IN" sz="2000" b="0" i="0" dirty="0">
              <a:solidFill>
                <a:schemeClr val="bg2"/>
              </a:solidFill>
              <a:effectLst/>
              <a:latin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IN" sz="2000" b="1" i="0" dirty="0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Example:</a:t>
            </a:r>
            <a:r>
              <a:rPr lang="en-IN" sz="2000" b="0" i="0" dirty="0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 3.14159 = 0.314159 × 10</a:t>
            </a:r>
            <a:r>
              <a:rPr lang="en-IN" sz="2000" b="0" i="0" baseline="30000" dirty="0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1</a:t>
            </a:r>
            <a:endParaRPr lang="en-IN" sz="2000" b="0" i="0" dirty="0">
              <a:solidFill>
                <a:schemeClr val="bg2"/>
              </a:solidFill>
              <a:effectLst/>
              <a:latin typeface="Times New Roman" panose="02020603050405020304" pitchFamily="18" charset="0"/>
            </a:endParaRPr>
          </a:p>
          <a:p>
            <a:pPr algn="l">
              <a:lnSpc>
                <a:spcPct val="150000"/>
              </a:lnSpc>
            </a:pPr>
            <a:r>
              <a:rPr lang="en-IN" sz="2400" b="1" i="0" dirty="0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IEEE Floating-Point Standards</a:t>
            </a:r>
          </a:p>
          <a:p>
            <a:pPr algn="l">
              <a:lnSpc>
                <a:spcPct val="150000"/>
              </a:lnSpc>
            </a:pPr>
            <a:r>
              <a:rPr lang="en-IN" sz="2000" b="1" i="0" dirty="0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Single Precision (32-bit)</a:t>
            </a:r>
          </a:p>
          <a:p>
            <a:pPr algn="l">
              <a:lnSpc>
                <a:spcPct val="150000"/>
              </a:lnSpc>
            </a:pPr>
            <a:r>
              <a:rPr lang="en-IN" sz="2000" b="0" i="0" dirty="0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1 sign bit | 8 exponent bits | 23 mantissa bits</a:t>
            </a:r>
          </a:p>
          <a:p>
            <a:pPr algn="l">
              <a:lnSpc>
                <a:spcPct val="150000"/>
              </a:lnSpc>
            </a:pPr>
            <a:r>
              <a:rPr lang="en-IN" sz="2000" b="1" i="0" dirty="0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Double Precision (64-bit)</a:t>
            </a:r>
          </a:p>
          <a:p>
            <a:pPr algn="l">
              <a:lnSpc>
                <a:spcPct val="150000"/>
              </a:lnSpc>
            </a:pPr>
            <a:r>
              <a:rPr lang="en-IN" sz="2000" b="0" i="0" dirty="0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1 sign bit | 11 exponent bits | 52 mantissa bits</a:t>
            </a:r>
          </a:p>
          <a:p>
            <a:pPr algn="l"/>
            <a:endParaRPr lang="en-IN" sz="2600" b="0" i="0" dirty="0">
              <a:solidFill>
                <a:schemeClr val="bg2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912309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>
          <a:extLst>
            <a:ext uri="{FF2B5EF4-FFF2-40B4-BE49-F238E27FC236}">
              <a16:creationId xmlns:a16="http://schemas.microsoft.com/office/drawing/2014/main" id="{B8FA9E54-824C-3174-92D1-1FD55557D5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" name="Google Shape;108;p2">
            <a:extLst>
              <a:ext uri="{FF2B5EF4-FFF2-40B4-BE49-F238E27FC236}">
                <a16:creationId xmlns:a16="http://schemas.microsoft.com/office/drawing/2014/main" id="{EA721AF1-4121-990B-D3BC-3A69461EE53B}"/>
              </a:ext>
            </a:extLst>
          </p:cNvPr>
          <p:cNvGrpSpPr/>
          <p:nvPr/>
        </p:nvGrpSpPr>
        <p:grpSpPr>
          <a:xfrm>
            <a:off x="783770" y="218172"/>
            <a:ext cx="8241475" cy="489802"/>
            <a:chOff x="0" y="6299"/>
            <a:chExt cx="5580934" cy="489802"/>
          </a:xfrm>
          <a:noFill/>
        </p:grpSpPr>
        <p:sp>
          <p:nvSpPr>
            <p:cNvPr id="109" name="Google Shape;109;p2">
              <a:extLst>
                <a:ext uri="{FF2B5EF4-FFF2-40B4-BE49-F238E27FC236}">
                  <a16:creationId xmlns:a16="http://schemas.microsoft.com/office/drawing/2014/main" id="{A2839E68-8CC4-454C-1CA9-8CC8B94AE13A}"/>
                </a:ext>
              </a:extLst>
            </p:cNvPr>
            <p:cNvSpPr/>
            <p:nvPr/>
          </p:nvSpPr>
          <p:spPr>
            <a:xfrm>
              <a:off x="0" y="6299"/>
              <a:ext cx="5580934" cy="444600"/>
            </a:xfrm>
            <a:prstGeom prst="roundRect">
              <a:avLst>
                <a:gd name="adj" fmla="val 16667"/>
              </a:avLst>
            </a:prstGeom>
            <a:grpFill/>
            <a:ln>
              <a:noFill/>
            </a:ln>
            <a:effectLst>
              <a:outerShdw blurRad="40000" dist="20000" dir="5400000" rotWithShape="0">
                <a:srgbClr val="000000">
                  <a:alpha val="37647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/>
                </a:solidFill>
              </a:endParaRPr>
            </a:p>
          </p:txBody>
        </p:sp>
        <p:sp>
          <p:nvSpPr>
            <p:cNvPr id="110" name="Google Shape;110;p2">
              <a:extLst>
                <a:ext uri="{FF2B5EF4-FFF2-40B4-BE49-F238E27FC236}">
                  <a16:creationId xmlns:a16="http://schemas.microsoft.com/office/drawing/2014/main" id="{AEB27271-7D91-E3E7-B4A8-A483F805DA4C}"/>
                </a:ext>
              </a:extLst>
            </p:cNvPr>
            <p:cNvSpPr txBox="1"/>
            <p:nvPr/>
          </p:nvSpPr>
          <p:spPr>
            <a:xfrm>
              <a:off x="21704" y="94909"/>
              <a:ext cx="5537526" cy="401192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72375" tIns="72375" rIns="72375" bIns="72375" anchor="ctr" anchorCtr="0">
              <a:noAutofit/>
            </a:bodyPr>
            <a:lstStyle/>
            <a:p>
              <a:r>
                <a:rPr lang="en-IN" sz="4000" b="1" i="0" dirty="0">
                  <a:solidFill>
                    <a:schemeClr val="accent6">
                      <a:lumMod val="50000"/>
                    </a:schemeClr>
                  </a:solidFill>
                  <a:effectLst/>
                  <a:latin typeface="Times New Roman" panose="02020603050405020304" pitchFamily="18" charset="0"/>
                </a:rPr>
                <a:t>Truncation Error &amp; Example</a:t>
              </a:r>
            </a:p>
          </p:txBody>
        </p:sp>
      </p:grpSp>
      <p:sp>
        <p:nvSpPr>
          <p:cNvPr id="10" name="TextBox 9"/>
          <p:cNvSpPr txBox="1"/>
          <p:nvPr/>
        </p:nvSpPr>
        <p:spPr>
          <a:xfrm>
            <a:off x="8609524" y="85987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IN" dirty="0"/>
              <a:t>4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AEE2C23-4867-1DDE-6ED1-03CE231953B5}"/>
              </a:ext>
            </a:extLst>
          </p:cNvPr>
          <p:cNvSpPr txBox="1"/>
          <p:nvPr/>
        </p:nvSpPr>
        <p:spPr>
          <a:xfrm>
            <a:off x="208342" y="1082448"/>
            <a:ext cx="8401181" cy="42165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sz="2400" b="1" i="0" dirty="0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Definition</a:t>
            </a:r>
          </a:p>
          <a:p>
            <a:pPr algn="l"/>
            <a:r>
              <a:rPr lang="en-IN" sz="2000" b="0" i="0" dirty="0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Error caused when an infinite process is cut (truncated) to a finite number of steps.</a:t>
            </a:r>
          </a:p>
          <a:p>
            <a:pPr algn="l"/>
            <a:r>
              <a:rPr lang="en-IN" sz="2400" b="1" i="0" dirty="0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Where It Occurs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sz="2000" b="0" i="0" dirty="0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Series expansions (Taylor series)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sz="2000" b="0" i="0" dirty="0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Numerical integration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sz="2000" b="0" i="0" dirty="0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Iterative methods</a:t>
            </a:r>
          </a:p>
          <a:p>
            <a:pPr algn="l"/>
            <a:endParaRPr lang="en-IN" sz="2400" b="1" dirty="0">
              <a:solidFill>
                <a:schemeClr val="bg2"/>
              </a:solidFill>
              <a:latin typeface="Times New Roman" panose="02020603050405020304" pitchFamily="18" charset="0"/>
            </a:endParaRPr>
          </a:p>
          <a:p>
            <a:pPr algn="l"/>
            <a:r>
              <a:rPr lang="en-IN" sz="24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Example:</a:t>
            </a:r>
            <a:endParaRPr lang="en-IN" sz="2400" b="1" i="0" dirty="0">
              <a:solidFill>
                <a:schemeClr val="bg2"/>
              </a:solidFill>
              <a:effectLst/>
              <a:latin typeface="Times New Roman" panose="02020603050405020304" pitchFamily="18" charset="0"/>
            </a:endParaRPr>
          </a:p>
          <a:p>
            <a:pPr algn="ctr"/>
            <a:r>
              <a:rPr lang="en-IN" sz="2000" b="0" i="0" dirty="0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e</a:t>
            </a:r>
            <a:r>
              <a:rPr lang="en-IN" sz="2000" b="0" i="0" baseline="30000" dirty="0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x</a:t>
            </a:r>
            <a:r>
              <a:rPr lang="en-IN" sz="2000" b="0" i="0" dirty="0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 = 1 + x + x</a:t>
            </a:r>
            <a:r>
              <a:rPr lang="en-IN" sz="2000" b="0" i="0" baseline="30000" dirty="0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2</a:t>
            </a:r>
            <a:r>
              <a:rPr lang="en-IN" sz="2000" b="0" i="0" dirty="0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/2! + x</a:t>
            </a:r>
            <a:r>
              <a:rPr lang="en-IN" sz="2000" b="0" i="0" baseline="30000" dirty="0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3</a:t>
            </a:r>
            <a:r>
              <a:rPr lang="en-IN" sz="2000" b="0" i="0" dirty="0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/3! + ...</a:t>
            </a:r>
          </a:p>
          <a:p>
            <a:pPr algn="l"/>
            <a:r>
              <a:rPr lang="en-IN" sz="2000" b="0" i="0" dirty="0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Using only the first 2 terms introduces truncation error.</a:t>
            </a:r>
          </a:p>
          <a:p>
            <a:pPr algn="l">
              <a:buFont typeface="Arial" panose="020B0604020202020204" pitchFamily="34" charset="0"/>
              <a:buChar char="•"/>
            </a:pPr>
            <a:endParaRPr lang="en-IN" sz="3200" b="0" i="0" dirty="0">
              <a:solidFill>
                <a:srgbClr val="CBD5E1"/>
              </a:solidFill>
              <a:effectLst/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119721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>
          <a:extLst>
            <a:ext uri="{FF2B5EF4-FFF2-40B4-BE49-F238E27FC236}">
              <a16:creationId xmlns:a16="http://schemas.microsoft.com/office/drawing/2014/main" id="{E23510B7-C3A2-E27A-3736-0F10336312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" name="Google Shape;108;p2">
            <a:extLst>
              <a:ext uri="{FF2B5EF4-FFF2-40B4-BE49-F238E27FC236}">
                <a16:creationId xmlns:a16="http://schemas.microsoft.com/office/drawing/2014/main" id="{78445F02-A161-533C-83C3-5BC21C2F7F4B}"/>
              </a:ext>
            </a:extLst>
          </p:cNvPr>
          <p:cNvGrpSpPr/>
          <p:nvPr/>
        </p:nvGrpSpPr>
        <p:grpSpPr>
          <a:xfrm>
            <a:off x="748144" y="218172"/>
            <a:ext cx="8277101" cy="444600"/>
            <a:chOff x="0" y="6299"/>
            <a:chExt cx="5580934" cy="444600"/>
          </a:xfrm>
          <a:noFill/>
        </p:grpSpPr>
        <p:sp>
          <p:nvSpPr>
            <p:cNvPr id="109" name="Google Shape;109;p2">
              <a:extLst>
                <a:ext uri="{FF2B5EF4-FFF2-40B4-BE49-F238E27FC236}">
                  <a16:creationId xmlns:a16="http://schemas.microsoft.com/office/drawing/2014/main" id="{20A44487-169C-8822-4CE0-BBB62C89DEBF}"/>
                </a:ext>
              </a:extLst>
            </p:cNvPr>
            <p:cNvSpPr/>
            <p:nvPr/>
          </p:nvSpPr>
          <p:spPr>
            <a:xfrm>
              <a:off x="0" y="6299"/>
              <a:ext cx="5580934" cy="444600"/>
            </a:xfrm>
            <a:prstGeom prst="roundRect">
              <a:avLst>
                <a:gd name="adj" fmla="val 16667"/>
              </a:avLst>
            </a:prstGeom>
            <a:grpFill/>
            <a:ln>
              <a:noFill/>
            </a:ln>
            <a:effectLst>
              <a:outerShdw blurRad="40000" dist="20000" dir="5400000" rotWithShape="0">
                <a:srgbClr val="000000">
                  <a:alpha val="37647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/>
                </a:solidFill>
              </a:endParaRPr>
            </a:p>
          </p:txBody>
        </p:sp>
        <p:sp>
          <p:nvSpPr>
            <p:cNvPr id="110" name="Google Shape;110;p2">
              <a:extLst>
                <a:ext uri="{FF2B5EF4-FFF2-40B4-BE49-F238E27FC236}">
                  <a16:creationId xmlns:a16="http://schemas.microsoft.com/office/drawing/2014/main" id="{67D92D25-44E7-E9BB-697B-B5F6A519F27B}"/>
                </a:ext>
              </a:extLst>
            </p:cNvPr>
            <p:cNvSpPr txBox="1"/>
            <p:nvPr/>
          </p:nvSpPr>
          <p:spPr>
            <a:xfrm>
              <a:off x="21704" y="28003"/>
              <a:ext cx="5537526" cy="401192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72375" tIns="72375" rIns="72375" bIns="7237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rPr lang="en-US" sz="4000" b="1" dirty="0">
                  <a:solidFill>
                    <a:schemeClr val="bg2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R</a:t>
              </a:r>
              <a:r>
                <a:rPr lang="en-US" sz="4000" b="1" i="0" u="none" strike="noStrike" cap="none" dirty="0">
                  <a:solidFill>
                    <a:schemeClr val="bg2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  <a:sym typeface="Arial"/>
                </a:rPr>
                <a:t>eferences/ Articles/ Videos</a:t>
              </a:r>
            </a:p>
          </p:txBody>
        </p:sp>
      </p:grpSp>
      <p:sp>
        <p:nvSpPr>
          <p:cNvPr id="111" name="Google Shape;111;p2">
            <a:extLst>
              <a:ext uri="{FF2B5EF4-FFF2-40B4-BE49-F238E27FC236}">
                <a16:creationId xmlns:a16="http://schemas.microsoft.com/office/drawing/2014/main" id="{95329CA0-B433-F78D-DDAC-218F49813DA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85500" y="1422025"/>
            <a:ext cx="8001000" cy="29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1" i="0" u="none" strike="noStrike" cap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0" i="0" u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3" name="Google Shape;113;p2">
            <a:extLst>
              <a:ext uri="{FF2B5EF4-FFF2-40B4-BE49-F238E27FC236}">
                <a16:creationId xmlns:a16="http://schemas.microsoft.com/office/drawing/2014/main" id="{E730872A-040D-2549-AF98-86A7A4840E43}"/>
              </a:ext>
            </a:extLst>
          </p:cNvPr>
          <p:cNvSpPr txBox="1"/>
          <p:nvPr/>
        </p:nvSpPr>
        <p:spPr>
          <a:xfrm>
            <a:off x="83127" y="1817005"/>
            <a:ext cx="8942119" cy="4800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just">
              <a:lnSpc>
                <a:spcPct val="90000"/>
              </a:lnSpc>
            </a:pPr>
            <a:r>
              <a:rPr lang="en-US" sz="2800" b="0" i="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https://</a:t>
            </a:r>
            <a:r>
              <a:rPr lang="en-US" sz="2800" b="0" i="0" u="none" strike="noStrike" cap="none" dirty="0" err="1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youtu.be</a:t>
            </a:r>
            <a:r>
              <a:rPr lang="en-US" sz="2800" b="0" i="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/</a:t>
            </a:r>
            <a:r>
              <a:rPr lang="en-US" sz="2800" b="0" i="0" u="none" strike="noStrike" cap="none" dirty="0" err="1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IKbQLSQxzyY?si</a:t>
            </a:r>
            <a:r>
              <a:rPr lang="en-US" sz="2800" b="0" i="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=rpc8tXOTR5bZBuCw</a:t>
            </a:r>
            <a:endParaRPr lang="en-US" sz="3000" b="0" i="0" u="none" strike="noStrike" cap="none" dirty="0">
              <a:solidFill>
                <a:schemeClr val="bg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Arial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609524" y="85987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IN" dirty="0"/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22947860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>
          <a:extLst>
            <a:ext uri="{FF2B5EF4-FFF2-40B4-BE49-F238E27FC236}">
              <a16:creationId xmlns:a16="http://schemas.microsoft.com/office/drawing/2014/main" id="{687ED0C6-7719-FB97-ED94-7F5CE38D07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" name="Google Shape;108;p2">
            <a:extLst>
              <a:ext uri="{FF2B5EF4-FFF2-40B4-BE49-F238E27FC236}">
                <a16:creationId xmlns:a16="http://schemas.microsoft.com/office/drawing/2014/main" id="{91D700B6-6EB7-B931-A6BA-3293795C4FD6}"/>
              </a:ext>
            </a:extLst>
          </p:cNvPr>
          <p:cNvGrpSpPr/>
          <p:nvPr/>
        </p:nvGrpSpPr>
        <p:grpSpPr>
          <a:xfrm>
            <a:off x="715861" y="-42871"/>
            <a:ext cx="8277101" cy="1217475"/>
            <a:chOff x="0" y="6299"/>
            <a:chExt cx="5580934" cy="1217475"/>
          </a:xfrm>
          <a:noFill/>
        </p:grpSpPr>
        <p:sp>
          <p:nvSpPr>
            <p:cNvPr id="109" name="Google Shape;109;p2">
              <a:extLst>
                <a:ext uri="{FF2B5EF4-FFF2-40B4-BE49-F238E27FC236}">
                  <a16:creationId xmlns:a16="http://schemas.microsoft.com/office/drawing/2014/main" id="{D9F7BC64-7A52-69C2-0340-DEC4747604CB}"/>
                </a:ext>
              </a:extLst>
            </p:cNvPr>
            <p:cNvSpPr/>
            <p:nvPr/>
          </p:nvSpPr>
          <p:spPr>
            <a:xfrm>
              <a:off x="0" y="6299"/>
              <a:ext cx="5580934" cy="444600"/>
            </a:xfrm>
            <a:prstGeom prst="roundRect">
              <a:avLst>
                <a:gd name="adj" fmla="val 16667"/>
              </a:avLst>
            </a:prstGeom>
            <a:grpFill/>
            <a:ln>
              <a:noFill/>
            </a:ln>
            <a:effectLst>
              <a:outerShdw blurRad="40000" dist="20000" dir="5400000" rotWithShape="0">
                <a:srgbClr val="000000">
                  <a:alpha val="37647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/>
                </a:solidFill>
              </a:endParaRPr>
            </a:p>
          </p:txBody>
        </p:sp>
        <p:sp>
          <p:nvSpPr>
            <p:cNvPr id="110" name="Google Shape;110;p2">
              <a:extLst>
                <a:ext uri="{FF2B5EF4-FFF2-40B4-BE49-F238E27FC236}">
                  <a16:creationId xmlns:a16="http://schemas.microsoft.com/office/drawing/2014/main" id="{DD12C81D-38E2-6BA8-4944-E9161F70F1EA}"/>
                </a:ext>
              </a:extLst>
            </p:cNvPr>
            <p:cNvSpPr txBox="1"/>
            <p:nvPr/>
          </p:nvSpPr>
          <p:spPr>
            <a:xfrm>
              <a:off x="0" y="822582"/>
              <a:ext cx="5537526" cy="401192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72375" tIns="72375" rIns="72375" bIns="72375" anchor="ctr" anchorCtr="0">
              <a:noAutofit/>
            </a:bodyPr>
            <a:lstStyle/>
            <a:p>
              <a:pPr lvl="0" algn="just">
                <a:lnSpc>
                  <a:spcPct val="90000"/>
                </a:lnSpc>
                <a:buSzPts val="1900"/>
              </a:pPr>
              <a:r>
                <a:rPr lang="en-US" sz="4000" b="1" dirty="0">
                  <a:solidFill>
                    <a:schemeClr val="bg2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Faculty-curated videos, NPTEL, Coursera, LinkedIn, or other relevant learning resources</a:t>
              </a:r>
            </a:p>
          </p:txBody>
        </p:sp>
      </p:grpSp>
      <p:sp>
        <p:nvSpPr>
          <p:cNvPr id="7" name="TextBox 6"/>
          <p:cNvSpPr txBox="1"/>
          <p:nvPr/>
        </p:nvSpPr>
        <p:spPr>
          <a:xfrm>
            <a:off x="8609524" y="85987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IN" dirty="0"/>
              <a:t>8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24A85E0-4100-F66B-64AD-E75BC4178BFF}"/>
              </a:ext>
            </a:extLst>
          </p:cNvPr>
          <p:cNvSpPr txBox="1"/>
          <p:nvPr/>
        </p:nvSpPr>
        <p:spPr>
          <a:xfrm>
            <a:off x="715861" y="2294413"/>
            <a:ext cx="7752278" cy="7571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  <a:hlinkClick r:id="rId3"/>
              </a:rPr>
              <a:t>https://onlinecourses.nptel.ac.in/noc26_ma62/preview</a:t>
            </a:r>
            <a:endParaRPr lang="en-US" sz="2400" b="0" i="0" u="none" strike="noStrike" cap="none" dirty="0">
              <a:solidFill>
                <a:schemeClr val="bg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Arial"/>
            </a:endParaRPr>
          </a:p>
          <a:p>
            <a:pPr marR="0" lvl="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https://</a:t>
            </a:r>
            <a:r>
              <a:rPr lang="en-US" sz="2400" b="0" i="0" u="none" strike="noStrike" cap="none" dirty="0" err="1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onlinecourses.nptel.ac.in</a:t>
            </a:r>
            <a:r>
              <a:rPr lang="en-US" sz="2400" b="0" i="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/noc26_ma20/preview</a:t>
            </a:r>
          </a:p>
        </p:txBody>
      </p:sp>
    </p:spTree>
    <p:extLst>
      <p:ext uri="{BB962C8B-B14F-4D97-AF65-F5344CB8AC3E}">
        <p14:creationId xmlns:p14="http://schemas.microsoft.com/office/powerpoint/2010/main" val="32888665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>
          <a:extLst>
            <a:ext uri="{FF2B5EF4-FFF2-40B4-BE49-F238E27FC236}">
              <a16:creationId xmlns:a16="http://schemas.microsoft.com/office/drawing/2014/main" id="{C6F26A9A-51A8-DA0C-152B-AD37E9CEC4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" name="Google Shape;108;p2">
            <a:extLst>
              <a:ext uri="{FF2B5EF4-FFF2-40B4-BE49-F238E27FC236}">
                <a16:creationId xmlns:a16="http://schemas.microsoft.com/office/drawing/2014/main" id="{A2A21673-0A1D-F07A-5F4A-24C8EDC3204D}"/>
              </a:ext>
            </a:extLst>
          </p:cNvPr>
          <p:cNvGrpSpPr/>
          <p:nvPr/>
        </p:nvGrpSpPr>
        <p:grpSpPr>
          <a:xfrm>
            <a:off x="712518" y="218172"/>
            <a:ext cx="8312727" cy="444600"/>
            <a:chOff x="0" y="6299"/>
            <a:chExt cx="5580934" cy="444600"/>
          </a:xfrm>
          <a:noFill/>
        </p:grpSpPr>
        <p:sp>
          <p:nvSpPr>
            <p:cNvPr id="109" name="Google Shape;109;p2">
              <a:extLst>
                <a:ext uri="{FF2B5EF4-FFF2-40B4-BE49-F238E27FC236}">
                  <a16:creationId xmlns:a16="http://schemas.microsoft.com/office/drawing/2014/main" id="{D38799F9-4E43-3EC1-B502-26CB35DA3A64}"/>
                </a:ext>
              </a:extLst>
            </p:cNvPr>
            <p:cNvSpPr/>
            <p:nvPr/>
          </p:nvSpPr>
          <p:spPr>
            <a:xfrm>
              <a:off x="0" y="6299"/>
              <a:ext cx="5580934" cy="444600"/>
            </a:xfrm>
            <a:prstGeom prst="roundRect">
              <a:avLst>
                <a:gd name="adj" fmla="val 16667"/>
              </a:avLst>
            </a:prstGeom>
            <a:grpFill/>
            <a:ln>
              <a:noFill/>
            </a:ln>
            <a:effectLst>
              <a:outerShdw blurRad="40000" dist="20000" dir="5400000" rotWithShape="0">
                <a:srgbClr val="000000">
                  <a:alpha val="37647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/>
                </a:solidFill>
              </a:endParaRPr>
            </a:p>
          </p:txBody>
        </p:sp>
        <p:sp>
          <p:nvSpPr>
            <p:cNvPr id="110" name="Google Shape;110;p2">
              <a:extLst>
                <a:ext uri="{FF2B5EF4-FFF2-40B4-BE49-F238E27FC236}">
                  <a16:creationId xmlns:a16="http://schemas.microsoft.com/office/drawing/2014/main" id="{1167C827-DCC4-87E3-24C7-4E2CCEE8F404}"/>
                </a:ext>
              </a:extLst>
            </p:cNvPr>
            <p:cNvSpPr txBox="1"/>
            <p:nvPr/>
          </p:nvSpPr>
          <p:spPr>
            <a:xfrm>
              <a:off x="21704" y="28003"/>
              <a:ext cx="5537526" cy="401192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72375" tIns="72375" rIns="72375" bIns="72375" anchor="ctr" anchorCtr="0">
              <a:noAutofit/>
            </a:bodyPr>
            <a:lstStyle/>
            <a:p>
              <a:pPr lvl="0" algn="ctr">
                <a:lnSpc>
                  <a:spcPct val="90000"/>
                </a:lnSpc>
                <a:buSzPts val="1900"/>
              </a:pPr>
              <a:r>
                <a:rPr lang="en-US" sz="4000" b="1" i="0" u="none" strike="noStrike" cap="none" dirty="0">
                  <a:solidFill>
                    <a:schemeClr val="bg2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  <a:sym typeface="Arial"/>
                </a:rPr>
                <a:t>Class-Wise </a:t>
              </a:r>
              <a:r>
                <a:rPr lang="en-IN" sz="4000" b="1" dirty="0">
                  <a:solidFill>
                    <a:schemeClr val="bg2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Feedback</a:t>
              </a:r>
              <a:endParaRPr lang="en-US" sz="4000" b="1" i="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endParaRPr>
            </a:p>
          </p:txBody>
        </p:sp>
      </p:grpSp>
      <p:sp>
        <p:nvSpPr>
          <p:cNvPr id="111" name="Google Shape;111;p2">
            <a:extLst>
              <a:ext uri="{FF2B5EF4-FFF2-40B4-BE49-F238E27FC236}">
                <a16:creationId xmlns:a16="http://schemas.microsoft.com/office/drawing/2014/main" id="{BD6EBDB1-8664-1692-8A39-12350449E11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-315311" y="1117226"/>
            <a:ext cx="9459311" cy="26559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20000"/>
          </a:bodyPr>
          <a:lstStyle/>
          <a:p>
            <a:pPr marL="342900" indent="-34290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600" b="0" i="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	</a:t>
            </a:r>
            <a:r>
              <a:rPr lang="en-US" sz="3000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Faculty members are encouraged to generate a class specific QR code at the end of each session to collect brief student feedback. This can support self-reflection, improve teaching practices, and allow students to share insights, suggestions, or concerns anonymously.</a:t>
            </a:r>
            <a:endParaRPr lang="en-US" sz="3000" dirty="0">
              <a:solidFill>
                <a:schemeClr val="bg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Arial"/>
            </a:endParaRPr>
          </a:p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400" b="1" i="0" u="none" strike="noStrike" cap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0" i="0" u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609524" y="85987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IN" dirty="0"/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32179637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>
          <a:extLst>
            <a:ext uri="{FF2B5EF4-FFF2-40B4-BE49-F238E27FC236}">
              <a16:creationId xmlns:a16="http://schemas.microsoft.com/office/drawing/2014/main" id="{8A55AB18-D4CA-00FD-9048-6518AF6BFB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">
            <a:extLst>
              <a:ext uri="{FF2B5EF4-FFF2-40B4-BE49-F238E27FC236}">
                <a16:creationId xmlns:a16="http://schemas.microsoft.com/office/drawing/2014/main" id="{F1900A86-A15B-28B5-54CA-49F17AC3B9F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85500" y="1422025"/>
            <a:ext cx="8001000" cy="29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1" i="0" u="none" strike="noStrike" cap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0" i="0" u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3" name="Google Shape;113;p2">
            <a:extLst>
              <a:ext uri="{FF2B5EF4-FFF2-40B4-BE49-F238E27FC236}">
                <a16:creationId xmlns:a16="http://schemas.microsoft.com/office/drawing/2014/main" id="{11F095B4-BE95-F6C7-73C0-ED3F8AB0372C}"/>
              </a:ext>
            </a:extLst>
          </p:cNvPr>
          <p:cNvSpPr txBox="1"/>
          <p:nvPr/>
        </p:nvSpPr>
        <p:spPr>
          <a:xfrm>
            <a:off x="385500" y="2170166"/>
            <a:ext cx="8471559" cy="1200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0" b="1" u="none" strike="noStrike" cap="none" dirty="0">
                <a:solidFill>
                  <a:srgbClr val="FF0000"/>
                </a:solidFill>
                <a:latin typeface="Vladimir Script" panose="03050402040407070305" pitchFamily="66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Thank You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12A2976-DC1D-EB73-7C31-7FA517DF4948}"/>
              </a:ext>
            </a:extLst>
          </p:cNvPr>
          <p:cNvSpPr txBox="1"/>
          <p:nvPr/>
        </p:nvSpPr>
        <p:spPr>
          <a:xfrm>
            <a:off x="385500" y="3948192"/>
            <a:ext cx="45720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For queries</a:t>
            </a:r>
          </a:p>
          <a:p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Email: heena.e6398@cumail.in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09524" y="85987"/>
            <a:ext cx="3834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IN" dirty="0"/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786127203"/>
      </p:ext>
    </p:extLst>
  </p:cSld>
  <p:clrMapOvr>
    <a:masterClrMapping/>
  </p:clrMapOvr>
</p:sld>
</file>

<file path=ppt/theme/theme1.xml><?xml version="1.0" encoding="utf-8"?>
<a:theme xmlns:a="http://schemas.openxmlformats.org/drawingml/2006/main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775</TotalTime>
  <Words>446</Words>
  <Application>Microsoft Macintosh PowerPoint</Application>
  <PresentationFormat>On-screen Show (16:9)</PresentationFormat>
  <Paragraphs>68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7" baseType="lpstr">
      <vt:lpstr>Calibri</vt:lpstr>
      <vt:lpstr>Lato</vt:lpstr>
      <vt:lpstr>Vladimir Script</vt:lpstr>
      <vt:lpstr>Arial Black</vt:lpstr>
      <vt:lpstr>Arial</vt:lpstr>
      <vt:lpstr>Cambria</vt:lpstr>
      <vt:lpstr>Times New Roman</vt:lpstr>
      <vt:lpstr>Streamline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sony</dc:creator>
  <cp:lastModifiedBy>Microsoft Office User</cp:lastModifiedBy>
  <cp:revision>86</cp:revision>
  <dcterms:modified xsi:type="dcterms:W3CDTF">2025-12-06T09:56:33Z</dcterms:modified>
</cp:coreProperties>
</file>