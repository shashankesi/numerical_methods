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3" r:id="rId3"/>
    <p:sldId id="284" r:id="rId4"/>
    <p:sldId id="306" r:id="rId5"/>
    <p:sldId id="315" r:id="rId6"/>
    <p:sldId id="316" r:id="rId7"/>
    <p:sldId id="285" r:id="rId8"/>
    <p:sldId id="310" r:id="rId9"/>
    <p:sldId id="308" r:id="rId10"/>
    <p:sldId id="311" r:id="rId11"/>
    <p:sldId id="317" r:id="rId12"/>
    <p:sldId id="312" r:id="rId13"/>
    <p:sldId id="314" r:id="rId14"/>
    <p:sldId id="300" r:id="rId15"/>
    <p:sldId id="301" r:id="rId16"/>
    <p:sldId id="307" r:id="rId17"/>
    <p:sldId id="305" r:id="rId18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Vladimir Script" panose="03050402040407070305" pitchFamily="66" charset="77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4"/>
    <p:restoredTop sz="94737"/>
  </p:normalViewPr>
  <p:slideViewPr>
    <p:cSldViewPr snapToGrid="0">
      <p:cViewPr varScale="1">
        <p:scale>
          <a:sx n="74" d="100"/>
          <a:sy n="74" d="100"/>
        </p:scale>
        <p:origin x="184" y="13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2570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56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0944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9765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2102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9516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2442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021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6_ma62/preview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618294"/>
            <a:ext cx="7602983" cy="408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UNIVERSITY INSTITUTE OF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ENGINEERING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CSE 3</a:t>
            </a:r>
            <a:r>
              <a:rPr lang="en-US" sz="2000" b="1" i="0" u="none" strike="noStrike" cap="none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RD</a:t>
            </a: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 YEAR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CS201/CS202/CS703/CS704/IT201/IT202/BI519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en-US" sz="2000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SEMESTER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NUMERICAL METHODS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23SMH-341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)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No. 1                     Chapter No. 2                    Lecture No. 2.7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: 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Regula </a:t>
            </a:r>
            <a:r>
              <a:rPr lang="en-IN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Falsi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</a:t>
            </a:r>
            <a:endParaRPr lang="en-IN" sz="20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 and E-Code: Dr. Heena Sharma (E6398)                                                        Designation: Assistant Professor</a:t>
            </a:r>
            <a:endParaRPr lang="en-US" sz="20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2A9-B054-BA3C-AEDE-C0C1F44D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23150"/>
              </p:ext>
            </p:extLst>
          </p:nvPr>
        </p:nvGraphicFramePr>
        <p:xfrm>
          <a:off x="724394" y="1205836"/>
          <a:ext cx="7705928" cy="1188847"/>
        </p:xfrm>
        <a:graphic>
          <a:graphicData uri="http://schemas.openxmlformats.org/drawingml/2006/table">
            <a:tbl>
              <a:tblPr bandRow="1">
                <a:tableStyleId>{97377635-EB9D-4884-B79A-0D259F93817B}</a:tableStyleId>
              </a:tblPr>
              <a:tblGrid>
                <a:gridCol w="7705928">
                  <a:extLst>
                    <a:ext uri="{9D8B030D-6E8A-4147-A177-3AD203B41FA5}">
                      <a16:colId xmlns:a16="http://schemas.microsoft.com/office/drawing/2014/main" val="3423502139"/>
                    </a:ext>
                  </a:extLst>
                </a:gridCol>
              </a:tblGrid>
              <a:tr h="6125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3000" kern="1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CO2: </a:t>
                      </a:r>
                      <a:r>
                        <a:rPr lang="en-IN" sz="2500" b="0" i="0" u="none" strike="noStrike" cap="none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Students will be able to understand the techniques used for solving linear and nonlinear Algebra.</a:t>
                      </a:r>
                      <a:endParaRPr lang="en-IN" sz="25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08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BFBE6ABC-C3B9-AA73-42F9-036BD547E8EB}"/>
              </a:ext>
            </a:extLst>
          </p:cNvPr>
          <p:cNvSpPr txBox="1"/>
          <p:nvPr/>
        </p:nvSpPr>
        <p:spPr>
          <a:xfrm>
            <a:off x="792163" y="239876"/>
            <a:ext cx="8200939" cy="401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375" tIns="72375" rIns="72375" bIns="72375" anchor="ctr" anchorCtr="0">
            <a:noAutofit/>
          </a:bodyPr>
          <a:lstStyle/>
          <a:p>
            <a:pPr algn="l"/>
            <a:r>
              <a:rPr lang="en-IN" sz="45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What is Regula </a:t>
            </a:r>
            <a:r>
              <a:rPr lang="en-IN" sz="4500" b="1" i="0" dirty="0" err="1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Falsi</a:t>
            </a:r>
            <a:r>
              <a:rPr lang="en-IN" sz="45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 Method?</a:t>
            </a: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183173" y="1118013"/>
            <a:ext cx="8548451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The oldest method of finding the real root of an equation f(x) = 0.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It </a:t>
            </a: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closely resembles the bisection method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but uses a different approach to locate the next approximation.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Method Principle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0CAA6-38A8-B1F0-6046-A14BB43BC179}"/>
              </a:ext>
            </a:extLst>
          </p:cNvPr>
          <p:cNvSpPr txBox="1"/>
          <p:nvPr/>
        </p:nvSpPr>
        <p:spPr>
          <a:xfrm>
            <a:off x="655608" y="1017920"/>
            <a:ext cx="7953916" cy="322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Setup:</a:t>
            </a: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Choose two points x₀ and x₁ such that f(x₀) and f(x₁) have opposite signs.</a:t>
            </a:r>
          </a:p>
          <a:p>
            <a:pPr algn="just">
              <a:lnSpc>
                <a:spcPct val="150000"/>
              </a:lnSpc>
            </a:pPr>
            <a:r>
              <a:rPr lang="en-IN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Condition:</a:t>
            </a: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f(x₀) × f(x₁) &lt; 0</a:t>
            </a:r>
          </a:p>
          <a:p>
            <a:pPr algn="just">
              <a:lnSpc>
                <a:spcPct val="150000"/>
              </a:lnSpc>
            </a:pP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This indicates a root lies between x₀ and x₁.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Geometric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0CAA6-38A8-B1F0-6046-A14BB43BC179}"/>
              </a:ext>
            </a:extLst>
          </p:cNvPr>
          <p:cNvSpPr txBox="1"/>
          <p:nvPr/>
        </p:nvSpPr>
        <p:spPr>
          <a:xfrm>
            <a:off x="258792" y="810884"/>
            <a:ext cx="8634784" cy="4035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Replace the curve AB by a chord joining:</a:t>
            </a:r>
          </a:p>
          <a:p>
            <a:pPr algn="just">
              <a:lnSpc>
                <a:spcPct val="150000"/>
              </a:lnSpc>
            </a:pP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• Point A: [x₀, f(x₀)]</a:t>
            </a:r>
          </a:p>
          <a:p>
            <a:pPr algn="just">
              <a:lnSpc>
                <a:spcPct val="150000"/>
              </a:lnSpc>
            </a:pP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• Point B: [x₁, f(x₁)]</a:t>
            </a:r>
          </a:p>
          <a:p>
            <a:pPr algn="just">
              <a:lnSpc>
                <a:spcPct val="150000"/>
              </a:lnSpc>
            </a:pP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Take the point where the chord crosses the x-axis as an approximation to the root.</a:t>
            </a:r>
          </a:p>
        </p:txBody>
      </p:sp>
    </p:spTree>
    <p:extLst>
      <p:ext uri="{BB962C8B-B14F-4D97-AF65-F5344CB8AC3E}">
        <p14:creationId xmlns:p14="http://schemas.microsoft.com/office/powerpoint/2010/main" val="3494040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Equation of the Chord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0CAA6-38A8-B1F0-6046-A14BB43BC179}"/>
              </a:ext>
            </a:extLst>
          </p:cNvPr>
          <p:cNvSpPr txBox="1"/>
          <p:nvPr/>
        </p:nvSpPr>
        <p:spPr>
          <a:xfrm>
            <a:off x="258792" y="1035173"/>
            <a:ext cx="8634784" cy="3504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7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y − f(x₀) = [f(x₁) − f(x₀)]/(x₁ − x₀) × (x − x₀)</a:t>
            </a:r>
          </a:p>
          <a:p>
            <a:pPr algn="just">
              <a:lnSpc>
                <a:spcPct val="150000"/>
              </a:lnSpc>
            </a:pPr>
            <a:r>
              <a:rPr lang="en-IN" sz="4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Joining points A[x₀, f(x₀)] and B[x₁, f(x₁)]</a:t>
            </a:r>
          </a:p>
          <a:p>
            <a:pPr algn="just">
              <a:lnSpc>
                <a:spcPct val="150000"/>
              </a:lnSpc>
            </a:pPr>
            <a:endParaRPr lang="en-IN" sz="35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184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60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</a:rPr>
                <a:t>First Iteration</a:t>
              </a:r>
              <a:endParaRPr lang="en-IN" sz="60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1290729"/>
            <a:ext cx="8401181" cy="208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Where the chord cuts the x-axis (y = 0):</a:t>
            </a:r>
          </a:p>
          <a:p>
            <a:pPr algn="ctr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x₀ − [f(x₀)(x₁ − x₀)] / [f(x₁) − f(x₀)]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This is the first approximation to the root.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Iterative Process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020594" y="85987"/>
            <a:ext cx="846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172528" y="930769"/>
            <a:ext cx="8694921" cy="380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3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Step 1:</a:t>
            </a:r>
            <a:r>
              <a:rPr lang="en-IN" sz="3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Check if f(x₀) and f(x₂) have opposite signs</a:t>
            </a:r>
          </a:p>
          <a:p>
            <a:pPr algn="just">
              <a:lnSpc>
                <a:spcPct val="150000"/>
              </a:lnSpc>
            </a:pPr>
            <a:r>
              <a:rPr lang="en-IN" sz="33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Step 2:</a:t>
            </a:r>
            <a:r>
              <a:rPr lang="en-IN" sz="3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If yes, replace x₁ by x₂ to get x₃</a:t>
            </a:r>
          </a:p>
          <a:p>
            <a:pPr algn="just">
              <a:lnSpc>
                <a:spcPct val="150000"/>
              </a:lnSpc>
            </a:pPr>
            <a:r>
              <a:rPr lang="en-IN" sz="33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Step 3:</a:t>
            </a:r>
            <a:r>
              <a:rPr lang="en-IN" sz="3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If not, replace x₀ by x₂ to get x₃</a:t>
            </a:r>
          </a:p>
          <a:p>
            <a:pPr algn="just">
              <a:lnSpc>
                <a:spcPct val="150000"/>
              </a:lnSpc>
            </a:pPr>
            <a:r>
              <a:rPr lang="en-IN" sz="33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Step 4:</a:t>
            </a:r>
            <a:r>
              <a:rPr lang="en-IN" sz="3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Repeat until desired accuracy is achieved</a:t>
            </a:r>
          </a:p>
        </p:txBody>
      </p:sp>
    </p:spTree>
    <p:extLst>
      <p:ext uri="{BB962C8B-B14F-4D97-AF65-F5344CB8AC3E}">
        <p14:creationId xmlns:p14="http://schemas.microsoft.com/office/powerpoint/2010/main" val="2673081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Rate of Convergence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100377"/>
            <a:ext cx="8401181" cy="3154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Linear Rate of Convergence</a:t>
            </a:r>
          </a:p>
          <a:p>
            <a:pPr lvl="1" algn="just">
              <a:lnSpc>
                <a:spcPct val="150000"/>
              </a:lnSpc>
            </a:pPr>
            <a:r>
              <a:rPr lang="en-IN" sz="3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Faster than Bisection Method</a:t>
            </a: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but slower than Newton-Raphson</a:t>
            </a:r>
          </a:p>
          <a:p>
            <a:pPr algn="just">
              <a:lnSpc>
                <a:spcPct val="150000"/>
              </a:lnSpc>
            </a:pPr>
            <a:endParaRPr lang="en-IN" sz="280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294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just"/>
              <a:r>
                <a:rPr lang="en-IN" sz="35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</a:rPr>
                <a:t>Example: </a:t>
              </a:r>
              <a:r>
                <a:rPr lang="en-IN" sz="36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x³ − 2x − 5 = 0</a:t>
              </a:r>
              <a:r>
                <a:rPr lang="en-IN" sz="35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</a:rPr>
                <a:t> </a:t>
              </a:r>
              <a:endParaRPr lang="en-IN" sz="35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169389"/>
            <a:ext cx="4173877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Let f(x) = x³ − 2x − 5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f(2) = 8 − 4 − 5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−1 (negative)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f(3) = 27 − 6 − 5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16 (positive)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Root lies between 2 and 3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95221-4334-6843-8DFF-2D7FC4E84DA3}"/>
              </a:ext>
            </a:extLst>
          </p:cNvPr>
          <p:cNvSpPr txBox="1"/>
          <p:nvPr/>
        </p:nvSpPr>
        <p:spPr>
          <a:xfrm>
            <a:off x="4625062" y="2177989"/>
            <a:ext cx="4497112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First Iteration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x₀ = 2, x₁ = 3, f(x₀) = −1, f(x₁) = 16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Using iteration formula: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2 − [−1 × (3 − 2)] / [16 − (−1)]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2 + 1/17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2.0588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f(2.0588)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−0.3908 (negative)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070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just"/>
              <a:r>
                <a:rPr lang="en-IN" sz="35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</a:rPr>
                <a:t>Example: </a:t>
              </a:r>
              <a:r>
                <a:rPr lang="en-IN" sz="36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x³ − 2x − 5 = 0</a:t>
              </a:r>
              <a:r>
                <a:rPr lang="en-IN" sz="35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</a:rPr>
                <a:t> </a:t>
              </a:r>
              <a:endParaRPr lang="en-IN" sz="35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8E21A-2E2E-FED2-9F28-AF44BC543822}"/>
              </a:ext>
            </a:extLst>
          </p:cNvPr>
          <p:cNvSpPr txBox="1"/>
          <p:nvPr/>
        </p:nvSpPr>
        <p:spPr>
          <a:xfrm>
            <a:off x="621102" y="1330290"/>
            <a:ext cx="7988422" cy="2908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Second Iteration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x₀ = 2.0588, x₁ = 3, f(x₀) = −0.3908, f(x₁) = 16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x₃ = 2.0588 − [−0.3908 × (3 − 2.0588)] / [16 − (−0.3908)]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x₃ = 2.0588 + 0.9412/19.3908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x₃ = </a:t>
            </a: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2.0813</a:t>
            </a:r>
            <a:endParaRPr lang="en-IN" sz="25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897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Successive Approximations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EA9E4-0A82-44D0-B274-493F5D22DE49}"/>
              </a:ext>
            </a:extLst>
          </p:cNvPr>
          <p:cNvSpPr txBox="1"/>
          <p:nvPr/>
        </p:nvSpPr>
        <p:spPr>
          <a:xfrm>
            <a:off x="603849" y="912016"/>
            <a:ext cx="7401464" cy="3485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x₁ = 2.0588</a:t>
            </a:r>
          </a:p>
          <a:p>
            <a:pPr lvl="1"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2.0813</a:t>
            </a:r>
          </a:p>
          <a:p>
            <a:pPr lvl="1"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x₃ = 2.0862</a:t>
            </a:r>
          </a:p>
          <a:p>
            <a:pPr lvl="1"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x₄ = 2.0915</a:t>
            </a:r>
          </a:p>
          <a:p>
            <a:pPr lvl="1"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x₅ = 2.0934</a:t>
            </a:r>
          </a:p>
          <a:p>
            <a:pPr lvl="1"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Root = 2.094 (correct to 3 decimal places)</a:t>
            </a:r>
            <a:endParaRPr lang="en-IN" sz="25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84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Practice Questions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D7998-137F-60BF-BD67-9DD08A654161}"/>
              </a:ext>
            </a:extLst>
          </p:cNvPr>
          <p:cNvSpPr txBox="1"/>
          <p:nvPr/>
        </p:nvSpPr>
        <p:spPr>
          <a:xfrm>
            <a:off x="432150" y="963774"/>
            <a:ext cx="8241474" cy="3485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Find the root of cos(x) = </a:t>
            </a:r>
            <a:r>
              <a:rPr lang="en-IN" sz="25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xe</a:t>
            </a:r>
            <a:r>
              <a:rPr lang="en-IN" sz="2500" b="0" i="0" baseline="30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using </a:t>
            </a:r>
            <a:r>
              <a:rPr lang="en-IN" sz="25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regula-falsi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method correct to 4 decimal places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Find a real root of x log₁₀(x) = 1.2 by </a:t>
            </a:r>
            <a:r>
              <a:rPr lang="en-IN" sz="25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regula-falsi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method correct to 4 decimal places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Use method of false position to find the fourth root of 32 correct to 3 decimal places</a:t>
            </a:r>
          </a:p>
        </p:txBody>
      </p:sp>
    </p:spTree>
    <p:extLst>
      <p:ext uri="{BB962C8B-B14F-4D97-AF65-F5344CB8AC3E}">
        <p14:creationId xmlns:p14="http://schemas.microsoft.com/office/powerpoint/2010/main" val="3923923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817005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youtu.be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hqlQeWRPyvI?si</a:t>
            </a:r>
            <a:r>
              <a:rPr lang="en-US" sz="2800" b="0" i="0" u="none" strike="noStrike" cap="none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=uCFKfC86NAPBhrlC</a:t>
            </a: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5E0-4100-F66B-64AD-E75BC4178BFF}"/>
              </a:ext>
            </a:extLst>
          </p:cNvPr>
          <p:cNvSpPr txBox="1"/>
          <p:nvPr/>
        </p:nvSpPr>
        <p:spPr>
          <a:xfrm>
            <a:off x="715861" y="2294413"/>
            <a:ext cx="77522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https://onlinecourses.nptel.ac.in/noc26_ma62/preview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4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onlinecourses.nptel.ac.in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/noc26_ma20/preview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22436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heena.e6398@cumail.in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1901</TotalTime>
  <Words>860</Words>
  <Application>Microsoft Macintosh PowerPoint</Application>
  <PresentationFormat>On-screen Show (16:9)</PresentationFormat>
  <Paragraphs>102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Calibri</vt:lpstr>
      <vt:lpstr>Lato</vt:lpstr>
      <vt:lpstr>Vladimir Script</vt:lpstr>
      <vt:lpstr>Arial Black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Microsoft Office User</cp:lastModifiedBy>
  <cp:revision>104</cp:revision>
  <dcterms:modified xsi:type="dcterms:W3CDTF">2025-12-07T09:33:25Z</dcterms:modified>
</cp:coreProperties>
</file>