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83" r:id="rId3"/>
    <p:sldId id="284" r:id="rId4"/>
    <p:sldId id="306" r:id="rId5"/>
    <p:sldId id="285" r:id="rId6"/>
    <p:sldId id="310" r:id="rId7"/>
    <p:sldId id="308" r:id="rId8"/>
    <p:sldId id="312" r:id="rId9"/>
    <p:sldId id="313" r:id="rId10"/>
    <p:sldId id="314" r:id="rId11"/>
    <p:sldId id="300" r:id="rId12"/>
    <p:sldId id="301" r:id="rId13"/>
    <p:sldId id="307" r:id="rId14"/>
    <p:sldId id="305" r:id="rId15"/>
  </p:sldIdLst>
  <p:sldSz cx="9144000" cy="5143500" type="screen16x9"/>
  <p:notesSz cx="6858000" cy="9144000"/>
  <p:embeddedFontLst>
    <p:embeddedFont>
      <p:font typeface="Arial Black" panose="020B0604020202020204" pitchFamily="34" charset="0"/>
      <p:bold r:id="rId17"/>
    </p:embeddedFon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Cambria" panose="02040503050406030204" pitchFamily="18" charset="0"/>
      <p:regular r:id="rId22"/>
      <p:bold r:id="rId23"/>
      <p:italic r:id="rId24"/>
      <p:boldItalic r:id="rId25"/>
    </p:embeddedFont>
    <p:embeddedFont>
      <p:font typeface="Lato" panose="020F0502020204030203" pitchFamily="34" charset="0"/>
      <p:regular r:id="rId26"/>
      <p:bold r:id="rId27"/>
      <p:italic r:id="rId28"/>
      <p:boldItalic r:id="rId29"/>
    </p:embeddedFont>
    <p:embeddedFont>
      <p:font typeface="Vladimir Script" panose="03050402040407070305" pitchFamily="66" charset="77"/>
      <p:regular r:id="rId3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48" roundtripDataSignature="AMtx7mgIfgr8mz0h5oJT84AK2itezMzV3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7377635-EB9D-4884-B79A-0D259F93817B}">
  <a:tblStyle styleId="{97377635-EB9D-4884-B79A-0D259F93817B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9E9E9"/>
          </a:solidFill>
        </a:fill>
      </a:tcStyle>
    </a:wholeTbl>
    <a:band1H>
      <a:tcTxStyle/>
      <a:tcStyle>
        <a:tcBdr/>
        <a:fill>
          <a:solidFill>
            <a:srgbClr val="D0D0D0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D0D0D0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78"/>
    <p:restoredTop sz="94737"/>
  </p:normalViewPr>
  <p:slideViewPr>
    <p:cSldViewPr snapToGrid="0">
      <p:cViewPr varScale="1">
        <p:scale>
          <a:sx n="73" d="100"/>
          <a:sy n="73" d="100"/>
        </p:scale>
        <p:origin x="184" y="140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29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7.fntdata"/><Relationship Id="rId28" Type="http://schemas.openxmlformats.org/officeDocument/2006/relationships/font" Target="fonts/font12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6.fntdata"/><Relationship Id="rId27" Type="http://schemas.openxmlformats.org/officeDocument/2006/relationships/font" Target="fonts/font11.fntdata"/><Relationship Id="rId30" Type="http://schemas.openxmlformats.org/officeDocument/2006/relationships/font" Target="fonts/font14.fntdata"/><Relationship Id="rId48" Type="http://customschemas.google.com/relationships/presentationmetadata" Target="metadata"/><Relationship Id="rId8" Type="http://schemas.openxmlformats.org/officeDocument/2006/relationships/slide" Target="slides/slide7.xml"/><Relationship Id="rId51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9308111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00AA9E-45AA-4AC2-8AA2-7DA856E9A7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86550A3-8119-6875-5A21-C5D3DA1F86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1F8D45D-F0E2-4C9E-7AD4-3CC086F6FF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51828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4BB2C93B-7FE2-A8D6-21D2-CB1FAAB41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B35863A3-7B58-0DD0-4438-352440F081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1C70A685-A7E2-6333-F188-6854C80611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119162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BF395B1-0DDA-EC2D-8CD4-6D4FF14A33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424A4F30-E86A-115B-0CE7-D952412617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6889E4CB-D564-C918-3A24-F3AEE033CE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459637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642971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19094496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497658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824425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962890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8AE2F180-9A0B-4C89-E2A4-C820E350D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FCB0DF4C-0C0C-F327-13CB-D147B88541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CD3BD526-06AE-0DCC-FB9B-29E2E50FDB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8926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618896A3-CA15-4C87-8FB7-24487FE57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29BF4E4D-8363-3E77-BFA5-048BFD297E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F1179ABD-E767-1A65-FB79-9B790ADA68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170333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E744BD3-2273-63E8-B289-EF3B2B107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7F32C7BD-C65E-21E0-A5D7-96E9D60193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A256D67B-D43A-765B-55B7-6128E93806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4182375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OBJEC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314450"/>
            <a:ext cx="80010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400" marR="0" lvl="1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6" y="22034"/>
            <a:ext cx="652311" cy="104895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1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8" name="Google Shape;18;p31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3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1" name="Google Shape;21;p31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2" name="Google Shape;22;p31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3" name="Google Shape;23;p3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E5F213-031A-95AD-897E-DD31668ADE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DF7FE-8238-E952-EC20-938FFD7042D7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2725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oogle Shape;25;p3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3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3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8" name="Google Shape;28;p32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9" name="Google Shape;29;p3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3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" name="Google Shape;32;p3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3" name="Google Shape;33;p3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3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35" name="Google Shape;35;p33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6" name="Google Shape;36;p33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7" name="Google Shape;37;p3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0" name="Google Shape;40;p3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1" name="Google Shape;41;p3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3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3" name="Google Shape;43;p3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4" name="Google Shape;44;p34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5" name="Google Shape;45;p34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6" name="Google Shape;46;p3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9" name="Google Shape;49;p3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3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3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2" name="Google Shape;52;p3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3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6" name="Google Shape;56;p3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7" name="Google Shape;57;p3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3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9" name="Google Shape;59;p36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0" name="Google Shape;60;p36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37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64" name="Google Shape;64;p3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3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" name="Google Shape;66;p37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3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0" name="Google Shape;70;p38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71" name="Google Shape;71;p3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3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3" name="Google Shape;73;p38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74" name="Google Shape;74;p38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75" name="Google Shape;75;p38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6" name="Google Shape;76;p3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39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9" name="Google Shape;79;p3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40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82" name="Google Shape;82;p40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40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4" name="Google Shape;84;p40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40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6" name="Google Shape;86;p4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0E067-05BA-3068-8F0D-B3C073B80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99BB7D-4B8D-4670-0220-D1EB44F3B350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87500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2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2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3" r:id="rId1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onlinecourses.nptel.ac.in/noc26_ma62/preview" TargetMode="Externa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7" y="1217517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488156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428756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/>
          <p:nvPr/>
        </p:nvSpPr>
        <p:spPr>
          <a:xfrm flipH="1">
            <a:off x="5284799" y="-48815"/>
            <a:ext cx="3859200" cy="4389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151914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392925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618294"/>
            <a:ext cx="7602983" cy="40882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UNIVERSITY INSTITUTE OF </a:t>
            </a:r>
            <a:r>
              <a:rPr lang="en-US" sz="2000" b="1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ENGINEERING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 Black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CSE 3</a:t>
            </a:r>
            <a:r>
              <a:rPr lang="en-US" sz="2000" b="1" i="0" u="none" strike="noStrike" cap="none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RD</a:t>
            </a: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 Black"/>
              </a:rPr>
              <a:t> YEAR</a:t>
            </a:r>
            <a:endParaRPr sz="2000" b="0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  <a:sym typeface="Arial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CS201/CS202/CS703/CS704/IT201/IT202/BI519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112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5</a:t>
            </a:r>
            <a:r>
              <a:rPr lang="en-US" sz="2000" baseline="30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TH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Times New Roman"/>
              </a:rPr>
              <a:t> SEMESTER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NUMERICAL METHODS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ctr" rtl="0">
              <a:lnSpc>
                <a:spcPct val="90000"/>
              </a:lnSpc>
              <a:spcBef>
                <a:spcPts val="98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(</a:t>
            </a:r>
            <a:r>
              <a:rPr lang="en-US" sz="2000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23SMH-341</a:t>
            </a:r>
            <a:r>
              <a:rPr lang="en-US" sz="2000" b="0" i="0" u="none" strike="noStrike" cap="none" dirty="0">
                <a:solidFill>
                  <a:schemeClr val="bg2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Arial"/>
              </a:rPr>
              <a:t>)</a:t>
            </a:r>
            <a:endParaRPr sz="2000" dirty="0">
              <a:solidFill>
                <a:schemeClr val="bg2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 No. 1                     Chapter No. 2                    Lecture No. 3.3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Topic : </a:t>
            </a:r>
            <a:r>
              <a:rPr lang="en-IN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Secant Method</a:t>
            </a:r>
            <a:endParaRPr lang="en-IN" sz="2000" kern="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Faculty Name and E-Code: Dr. Heena Sharma (E6398)                                                        Designation: Assistant Professor</a:t>
            </a:r>
            <a:endParaRPr lang="en-US" sz="2000" b="1" i="0" u="none" strike="noStrike" cap="none" dirty="0">
              <a:solidFill>
                <a:schemeClr val="bg2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5284800" y="0"/>
            <a:ext cx="3859199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1800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EVEN Semester Jan-Jun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EF27945-C1E1-DDBF-6B5A-32A668D1B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B82306DF-DC71-A9BC-8B35-D6290EE31CD4}"/>
              </a:ext>
            </a:extLst>
          </p:cNvPr>
          <p:cNvGrpSpPr/>
          <p:nvPr/>
        </p:nvGrpSpPr>
        <p:grpSpPr>
          <a:xfrm>
            <a:off x="724394" y="218172"/>
            <a:ext cx="8300849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CFDB14A8-16BA-BF7C-C8D7-1E6DAD65FFC9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B1FC2D67-AE60-4AB2-F4BD-027A2C4342A0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 Objectives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B63C2A9-B054-BA3C-AEDE-C0C1F44D2B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9623150"/>
              </p:ext>
            </p:extLst>
          </p:nvPr>
        </p:nvGraphicFramePr>
        <p:xfrm>
          <a:off x="724394" y="1205836"/>
          <a:ext cx="7705928" cy="1188847"/>
        </p:xfrm>
        <a:graphic>
          <a:graphicData uri="http://schemas.openxmlformats.org/drawingml/2006/table">
            <a:tbl>
              <a:tblPr bandRow="1">
                <a:tableStyleId>{97377635-EB9D-4884-B79A-0D259F93817B}</a:tableStyleId>
              </a:tblPr>
              <a:tblGrid>
                <a:gridCol w="7705928">
                  <a:extLst>
                    <a:ext uri="{9D8B030D-6E8A-4147-A177-3AD203B41FA5}">
                      <a16:colId xmlns:a16="http://schemas.microsoft.com/office/drawing/2014/main" val="3423502139"/>
                    </a:ext>
                  </a:extLst>
                </a:gridCol>
              </a:tblGrid>
              <a:tr h="61256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</a:pPr>
                      <a:r>
                        <a:rPr lang="en-IN" sz="3000" kern="100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CO2: </a:t>
                      </a:r>
                      <a:r>
                        <a:rPr lang="en-IN" sz="2500" b="0" i="0" u="none" strike="noStrike" cap="none" dirty="0">
                          <a:solidFill>
                            <a:schemeClr val="bg2"/>
                          </a:solidFill>
                          <a:effectLst/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  <a:sym typeface="Arial"/>
                        </a:rPr>
                        <a:t>Students will be able to understand the techniques used for solving linear and nonlinear Algebra.</a:t>
                      </a:r>
                      <a:endParaRPr lang="en-IN" sz="2500" kern="100" dirty="0">
                        <a:solidFill>
                          <a:schemeClr val="bg2"/>
                        </a:solidFill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120898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9758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0F165C73-F363-A304-734E-7CBF8D3F9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>
            <a:extLst>
              <a:ext uri="{FF2B5EF4-FFF2-40B4-BE49-F238E27FC236}">
                <a16:creationId xmlns:a16="http://schemas.microsoft.com/office/drawing/2014/main" id="{BFBE6ABC-C3B9-AA73-42F9-036BD547E8EB}"/>
              </a:ext>
            </a:extLst>
          </p:cNvPr>
          <p:cNvSpPr txBox="1"/>
          <p:nvPr/>
        </p:nvSpPr>
        <p:spPr>
          <a:xfrm>
            <a:off x="792163" y="239876"/>
            <a:ext cx="8200939" cy="401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375" tIns="72375" rIns="72375" bIns="72375" anchor="ctr" anchorCtr="0">
            <a:noAutofit/>
          </a:bodyPr>
          <a:lstStyle/>
          <a:p>
            <a:pPr algn="just"/>
            <a:r>
              <a:rPr lang="en-IN" sz="72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Secant Method</a:t>
            </a: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8B576DE2-C283-2E3E-CC36-4B7ABE8B87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3427E39E-1443-8E67-323E-AC3515D4A144}"/>
              </a:ext>
            </a:extLst>
          </p:cNvPr>
          <p:cNvSpPr txBox="1"/>
          <p:nvPr/>
        </p:nvSpPr>
        <p:spPr>
          <a:xfrm>
            <a:off x="183173" y="1118013"/>
            <a:ext cx="8548451" cy="267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An </a:t>
            </a:r>
            <a:r>
              <a:rPr lang="en-IN" sz="28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improvement over the method of false position</a:t>
            </a: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that does not require f(x₀) × f(x₁) &lt; 0.</a:t>
            </a:r>
          </a:p>
          <a:p>
            <a:pPr algn="just">
              <a:lnSpc>
                <a:spcPct val="150000"/>
              </a:lnSpc>
            </a:pPr>
            <a:r>
              <a:rPr lang="en-IN" sz="28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The function y = f(x) is approximated by a secant line using two most recent approximations.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337512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B83A878-A8C8-7563-ACC5-60FA0ECC44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3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24D069F-9FE0-0231-78ED-F358A7B5195C}"/>
              </a:ext>
            </a:extLst>
          </p:cNvPr>
          <p:cNvSpPr txBox="1"/>
          <p:nvPr/>
        </p:nvSpPr>
        <p:spPr>
          <a:xfrm>
            <a:off x="780585" y="-8910"/>
            <a:ext cx="811299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48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Key Differences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5422A5-C7DB-8C8F-211C-9730BBA10579}"/>
              </a:ext>
            </a:extLst>
          </p:cNvPr>
          <p:cNvSpPr txBox="1"/>
          <p:nvPr/>
        </p:nvSpPr>
        <p:spPr>
          <a:xfrm>
            <a:off x="527537" y="1351744"/>
            <a:ext cx="7948247" cy="224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No need for opposite signs at endpoints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Uses two most recent approximations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Interval need not contain the root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Faster convergence (rate = 1.6)</a:t>
            </a:r>
          </a:p>
        </p:txBody>
      </p:sp>
    </p:spTree>
    <p:extLst>
      <p:ext uri="{BB962C8B-B14F-4D97-AF65-F5344CB8AC3E}">
        <p14:creationId xmlns:p14="http://schemas.microsoft.com/office/powerpoint/2010/main" val="2691230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6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Secant Line Equation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1580710"/>
            <a:ext cx="8401181" cy="22622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y − f(x₁) = [f(x₁) − f(x₀)]/(x₁ − x₀) × (x − x₁)</a:t>
            </a:r>
          </a:p>
          <a:p>
            <a:pPr algn="just">
              <a:lnSpc>
                <a:spcPct val="150000"/>
              </a:lnSpc>
            </a:pPr>
            <a:r>
              <a:rPr lang="en-IN" sz="36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Secant line through x₀ and x₁</a:t>
            </a:r>
          </a:p>
          <a:p>
            <a:pPr algn="just">
              <a:lnSpc>
                <a:spcPct val="150000"/>
              </a:lnSpc>
            </a:pPr>
            <a:endParaRPr lang="en-IN" sz="25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19721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40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Iteration Formula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020594" y="85987"/>
            <a:ext cx="8468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371409" y="853797"/>
            <a:ext cx="8401181" cy="1393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First Approximation: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x₁ − (x₁ − x₀)/(f(x₁) − f(x₀)) × f(x₁)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86C027-8857-D7A5-E60C-5D523D4C81F5}"/>
              </a:ext>
            </a:extLst>
          </p:cNvPr>
          <p:cNvSpPr txBox="1"/>
          <p:nvPr/>
        </p:nvSpPr>
        <p:spPr>
          <a:xfrm>
            <a:off x="140677" y="2257348"/>
            <a:ext cx="8884568" cy="277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rPr>
              <a:t>General Iteration Formula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For successive approximations: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xₙ₊₁ = xₙ − (xₙ − xₙ₋₁)/(f(xₙ) − f(xₙ₋₁)) × f(xₙ)</a:t>
            </a:r>
          </a:p>
          <a:p>
            <a:pPr algn="just">
              <a:lnSpc>
                <a:spcPct val="150000"/>
              </a:lnSpc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where n ≥ 1</a:t>
            </a:r>
          </a:p>
        </p:txBody>
      </p:sp>
    </p:spTree>
    <p:extLst>
      <p:ext uri="{BB962C8B-B14F-4D97-AF65-F5344CB8AC3E}">
        <p14:creationId xmlns:p14="http://schemas.microsoft.com/office/powerpoint/2010/main" val="26730815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l"/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Rate of Convergence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EE2C23-4867-1DDE-6ED1-03CE231953B5}"/>
              </a:ext>
            </a:extLst>
          </p:cNvPr>
          <p:cNvSpPr txBox="1"/>
          <p:nvPr/>
        </p:nvSpPr>
        <p:spPr>
          <a:xfrm>
            <a:off x="208342" y="1100377"/>
            <a:ext cx="8401181" cy="347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3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Convergence Rate: 1.6</a:t>
            </a:r>
            <a:endParaRPr lang="en-IN" sz="3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Faster than false position method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Not guaranteed to converge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Fails if f(xₙ) = f(xₙ₋₁)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3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 Drawback: May diverge unlike false position</a:t>
            </a:r>
          </a:p>
        </p:txBody>
      </p:sp>
    </p:spTree>
    <p:extLst>
      <p:ext uri="{BB962C8B-B14F-4D97-AF65-F5344CB8AC3E}">
        <p14:creationId xmlns:p14="http://schemas.microsoft.com/office/powerpoint/2010/main" val="36872941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Example: </a:t>
              </a:r>
              <a:r>
                <a:rPr lang="en-IN" sz="44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x³ − 2x − 5 = 0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781E6B-17CB-95AB-DF36-58DBD092CCA3}"/>
              </a:ext>
            </a:extLst>
          </p:cNvPr>
          <p:cNvSpPr txBox="1"/>
          <p:nvPr/>
        </p:nvSpPr>
        <p:spPr>
          <a:xfrm>
            <a:off x="211015" y="973675"/>
            <a:ext cx="2989385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Let f(x) = x³ − 2x − 5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f(2) = 8 − 4 − 5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−1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f(3) = 27 − 6 − 5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16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Taking x₀ = 2, x₁ =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7ECF7-4F4F-38D5-6F84-D84AE7FE162F}"/>
              </a:ext>
            </a:extLst>
          </p:cNvPr>
          <p:cNvSpPr txBox="1"/>
          <p:nvPr/>
        </p:nvSpPr>
        <p:spPr>
          <a:xfrm>
            <a:off x="211013" y="2729928"/>
            <a:ext cx="4132385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First Iteration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x₁ − (x₁ − x₀)/(f(x₁) − f(x₀)) × f(x₁)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3 − (3 − 2)/(16 − (−1)) × 16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3 − 1/17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2.058823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f(x₂)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−0.390799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C7CBE8-CB6A-E3F1-6040-FAFBA0503A9D}"/>
              </a:ext>
            </a:extLst>
          </p:cNvPr>
          <p:cNvSpPr txBox="1"/>
          <p:nvPr/>
        </p:nvSpPr>
        <p:spPr>
          <a:xfrm>
            <a:off x="4026875" y="806619"/>
            <a:ext cx="4132385" cy="18836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Second Iteration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x₂ − (x₂ − x₁)/(f(x₂) − f(x₁)) × f(x₂)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2.081263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f(x₃) = </a:t>
            </a: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−0.147204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86FF901-3131-434A-9138-8EE67B9B3392}"/>
              </a:ext>
            </a:extLst>
          </p:cNvPr>
          <p:cNvSpPr txBox="1"/>
          <p:nvPr/>
        </p:nvSpPr>
        <p:spPr>
          <a:xfrm>
            <a:off x="4484081" y="2437570"/>
            <a:ext cx="5539154" cy="2806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Successive Iterations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x₂ = 2.058823, f(x₂) = −0.390799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x₃ = 2.081263, f(x₃) = −0.147204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x₄ = 2.094824, f(x₄) = 0.003042</a:t>
            </a:r>
          </a:p>
          <a:p>
            <a:pPr algn="just">
              <a:lnSpc>
                <a:spcPct val="150000"/>
              </a:lnSpc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x₅ = 2.094549</a:t>
            </a:r>
          </a:p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Root = 2.094 (correct to 3 decimal places)</a:t>
            </a:r>
            <a:endParaRPr lang="en-IN" sz="2000" b="0" i="0" dirty="0">
              <a:solidFill>
                <a:schemeClr val="bg2"/>
              </a:solidFill>
              <a:effectLst/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9842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Advantages &amp; Disadvantages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24657DE-E901-8B98-362B-A96418AC3DEB}"/>
              </a:ext>
            </a:extLst>
          </p:cNvPr>
          <p:cNvSpPr txBox="1"/>
          <p:nvPr/>
        </p:nvSpPr>
        <p:spPr>
          <a:xfrm>
            <a:off x="545123" y="1114351"/>
            <a:ext cx="8064401" cy="2331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the root of cos(x) = </a:t>
            </a:r>
            <a:r>
              <a:rPr lang="en-IN" sz="2500" b="0" i="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xe</a:t>
            </a:r>
            <a:r>
              <a:rPr lang="en-IN" sz="2500" b="0" i="0" baseline="30000" dirty="0" err="1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x</a:t>
            </a: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 using Secant method correct to 4 decimal places.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en-IN" sz="25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Find a real root of x log₁₀(x) = 1.2 by Secant method correct to 4 decimal places</a:t>
            </a:r>
          </a:p>
        </p:txBody>
      </p:sp>
    </p:spTree>
    <p:extLst>
      <p:ext uri="{BB962C8B-B14F-4D97-AF65-F5344CB8AC3E}">
        <p14:creationId xmlns:p14="http://schemas.microsoft.com/office/powerpoint/2010/main" val="9475353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B8FA9E54-824C-3174-92D1-1FD55557D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EA721AF1-4121-990B-D3BC-3A69461EE53B}"/>
              </a:ext>
            </a:extLst>
          </p:cNvPr>
          <p:cNvGrpSpPr/>
          <p:nvPr/>
        </p:nvGrpSpPr>
        <p:grpSpPr>
          <a:xfrm>
            <a:off x="783770" y="218172"/>
            <a:ext cx="8241475" cy="489802"/>
            <a:chOff x="0" y="6299"/>
            <a:chExt cx="5580934" cy="489802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A2839E68-8CC4-454C-1CA9-8CC8B94AE13A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AEB27271-7D91-E3E7-B4A8-A483F805DA4C}"/>
                </a:ext>
              </a:extLst>
            </p:cNvPr>
            <p:cNvSpPr txBox="1"/>
            <p:nvPr/>
          </p:nvSpPr>
          <p:spPr>
            <a:xfrm>
              <a:off x="21704" y="94909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r>
                <a:rPr lang="en-IN" sz="3500" b="1" i="0" dirty="0">
                  <a:solidFill>
                    <a:schemeClr val="accent6">
                      <a:lumMod val="50000"/>
                    </a:schemeClr>
                  </a:solidFill>
                  <a:effectLst/>
                  <a:latin typeface="Times New Roman" panose="02020603050405020304" pitchFamily="18" charset="0"/>
                </a:rPr>
                <a:t>Practice Questions</a:t>
              </a:r>
              <a:endParaRPr lang="en-IN" sz="4400" b="1" i="0" dirty="0">
                <a:solidFill>
                  <a:schemeClr val="accent6">
                    <a:lumMod val="50000"/>
                  </a:schemeClr>
                </a:solidFill>
                <a:effectLst/>
                <a:latin typeface="Times New Roman" panose="02020603050405020304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ABA32AB-0229-2B31-0C68-A545C9CBB83B}"/>
              </a:ext>
            </a:extLst>
          </p:cNvPr>
          <p:cNvSpPr txBox="1"/>
          <p:nvPr/>
        </p:nvSpPr>
        <p:spPr>
          <a:xfrm>
            <a:off x="334108" y="1323155"/>
            <a:ext cx="3868615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No requirement for opposite signs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Faster convergence rate (1.6)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Uses most recent approximations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Interval need not bracket the root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2D4970-B367-678E-3D1B-813C0781A05B}"/>
              </a:ext>
            </a:extLst>
          </p:cNvPr>
          <p:cNvSpPr txBox="1"/>
          <p:nvPr/>
        </p:nvSpPr>
        <p:spPr>
          <a:xfrm>
            <a:off x="4396154" y="1323153"/>
            <a:ext cx="4572000" cy="2345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Disadvantages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Not guaranteed to converge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Fails when f(xₙ) = f(xₙ₋₁)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May diverge from the root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0" i="0" dirty="0">
                <a:solidFill>
                  <a:schemeClr val="bg2"/>
                </a:solidFill>
                <a:effectLst/>
                <a:latin typeface="Times New Roman" panose="02020603050405020304" pitchFamily="18" charset="0"/>
              </a:rPr>
              <a:t>Less reliable than false position</a:t>
            </a:r>
          </a:p>
        </p:txBody>
      </p:sp>
    </p:spTree>
    <p:extLst>
      <p:ext uri="{BB962C8B-B14F-4D97-AF65-F5344CB8AC3E}">
        <p14:creationId xmlns:p14="http://schemas.microsoft.com/office/powerpoint/2010/main" val="2848065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4" y="21817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  <a:buFont typeface="Arial"/>
                <a:buNone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R</a:t>
              </a: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eferences/ Articles/ Videos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7" y="1817005"/>
            <a:ext cx="8942119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>
              <a:lnSpc>
                <a:spcPct val="90000"/>
              </a:lnSpc>
            </a:pP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8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youtu.be</a:t>
            </a:r>
            <a:r>
              <a:rPr lang="en-US" sz="28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/IoTI4plrEHg?si=wbR0nCBjL081-SyF</a:t>
            </a:r>
            <a:endParaRPr lang="en-US" sz="30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687ED0C6-7719-FB97-ED94-7F5CE38D0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91D700B6-6EB7-B931-A6BA-3293795C4FD6}"/>
              </a:ext>
            </a:extLst>
          </p:cNvPr>
          <p:cNvGrpSpPr/>
          <p:nvPr/>
        </p:nvGrpSpPr>
        <p:grpSpPr>
          <a:xfrm>
            <a:off x="715861" y="-42871"/>
            <a:ext cx="8277101" cy="1217475"/>
            <a:chOff x="0" y="6299"/>
            <a:chExt cx="5580934" cy="1217475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9F7BC64-7A52-69C2-0340-DEC4747604CB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DD12C81D-38E2-6BA8-4944-E9161F70F1EA}"/>
                </a:ext>
              </a:extLst>
            </p:cNvPr>
            <p:cNvSpPr txBox="1"/>
            <p:nvPr/>
          </p:nvSpPr>
          <p:spPr>
            <a:xfrm>
              <a:off x="0" y="822582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just">
                <a:lnSpc>
                  <a:spcPct val="90000"/>
                </a:lnSpc>
                <a:buSzPts val="1900"/>
              </a:pPr>
              <a:r>
                <a:rPr lang="en-US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Faculty-curated videos, NPTEL, Coursera, LinkedIn, or other relevant learning resources</a:t>
              </a:r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8609524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4A85E0-4100-F66B-64AD-E75BC4178BFF}"/>
              </a:ext>
            </a:extLst>
          </p:cNvPr>
          <p:cNvSpPr txBox="1"/>
          <p:nvPr/>
        </p:nvSpPr>
        <p:spPr>
          <a:xfrm>
            <a:off x="715861" y="2294413"/>
            <a:ext cx="7752278" cy="757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  <a:hlinkClick r:id="rId3"/>
              </a:rPr>
              <a:t>https://onlinecourses.nptel.ac.in/noc26_ma62/preview</a:t>
            </a:r>
            <a:endParaRPr lang="en-US" sz="2400" b="0" i="0" u="none" strike="noStrike" cap="none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R="0"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https://</a:t>
            </a:r>
            <a:r>
              <a:rPr lang="en-US" sz="2400" b="0" i="0" u="none" strike="noStrike" cap="none" dirty="0" err="1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onlinecourses.nptel.ac.in</a:t>
            </a:r>
            <a:r>
              <a:rPr lang="en-US" sz="24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/noc26_ma20/preview</a:t>
            </a:r>
          </a:p>
        </p:txBody>
      </p:sp>
    </p:spTree>
    <p:extLst>
      <p:ext uri="{BB962C8B-B14F-4D97-AF65-F5344CB8AC3E}">
        <p14:creationId xmlns:p14="http://schemas.microsoft.com/office/powerpoint/2010/main" val="32888665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C6F26A9A-51A8-DA0C-152B-AD37E9CE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A2A21673-0A1D-F07A-5F4A-24C8EDC3204D}"/>
              </a:ext>
            </a:extLst>
          </p:cNvPr>
          <p:cNvGrpSpPr/>
          <p:nvPr/>
        </p:nvGrpSpPr>
        <p:grpSpPr>
          <a:xfrm>
            <a:off x="712518" y="218172"/>
            <a:ext cx="8312727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D38799F9-4E43-3EC1-B502-26CB35DA3A64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1167C827-DCC4-87E3-24C7-4E2CCEE8F404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lvl="0" algn="ctr">
                <a:lnSpc>
                  <a:spcPct val="90000"/>
                </a:lnSpc>
                <a:buSzPts val="1900"/>
              </a:pPr>
              <a:r>
                <a:rPr lang="en-US" sz="4000" b="1" i="0" u="none" strike="noStrike" cap="none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Class-Wise </a:t>
              </a:r>
              <a:r>
                <a:rPr lang="en-IN" sz="4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Feedback</a:t>
              </a:r>
              <a:endParaRPr lang="en-US" sz="4000" b="1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endParaRP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BD6EBDB1-8664-1692-8A39-12350449E1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-315311" y="1117226"/>
            <a:ext cx="9459311" cy="265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342900" indent="-342900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sz="2600" b="0" i="0" u="none" strike="noStrike" cap="none" dirty="0">
                <a:solidFill>
                  <a:schemeClr val="bg2"/>
                </a:solidFill>
                <a:latin typeface="Calibri" panose="020F0502020204030204" pitchFamily="34" charset="0"/>
                <a:ea typeface="Times New Roman"/>
                <a:cs typeface="Calibri" panose="020F0502020204030204" pitchFamily="34" charset="0"/>
                <a:sym typeface="Times New Roman"/>
              </a:rPr>
              <a:t> 	</a:t>
            </a:r>
            <a:r>
              <a:rPr lang="en-US" sz="3000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Faculty members are encouraged to generate a class specific QR code at the end of each session to collect brief student feedback. This can support self-reflection, improve teaching practices, and allow students to share insights, suggestions, or concerns anonymously.</a:t>
            </a:r>
            <a:endParaRPr lang="en-US" sz="30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622436" y="8598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2179637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142202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marR="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1" i="0" u="none" strike="noStrike" cap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just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400" b="0" i="0" u="none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0" y="217016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 b="1" u="none" strike="noStrike" cap="none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2A2976-DC1D-EB73-7C31-7FA517DF4948}"/>
              </a:ext>
            </a:extLst>
          </p:cNvPr>
          <p:cNvSpPr txBox="1"/>
          <p:nvPr/>
        </p:nvSpPr>
        <p:spPr>
          <a:xfrm>
            <a:off x="385500" y="3948192"/>
            <a:ext cx="457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queries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Email: heena.e6398@cumail.in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9524" y="85987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IN" dirty="0"/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</TotalTime>
  <Words>781</Words>
  <Application>Microsoft Macintosh PowerPoint</Application>
  <PresentationFormat>On-screen Show (16:9)</PresentationFormat>
  <Paragraphs>102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2" baseType="lpstr">
      <vt:lpstr>Calibri</vt:lpstr>
      <vt:lpstr>Lato</vt:lpstr>
      <vt:lpstr>Vladimir Script</vt:lpstr>
      <vt:lpstr>Arial Black</vt:lpstr>
      <vt:lpstr>Arial</vt:lpstr>
      <vt:lpstr>Cambria</vt:lpstr>
      <vt:lpstr>Times New Roman</vt:lpstr>
      <vt:lpstr>Streamline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sony</dc:creator>
  <cp:lastModifiedBy>Microsoft Office User</cp:lastModifiedBy>
  <cp:revision>102</cp:revision>
  <dcterms:modified xsi:type="dcterms:W3CDTF">2025-12-08T04:40:06Z</dcterms:modified>
</cp:coreProperties>
</file>