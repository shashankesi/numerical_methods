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83" r:id="rId3"/>
    <p:sldId id="284" r:id="rId4"/>
    <p:sldId id="306" r:id="rId5"/>
    <p:sldId id="285" r:id="rId6"/>
    <p:sldId id="286" r:id="rId7"/>
    <p:sldId id="300" r:id="rId8"/>
    <p:sldId id="301" r:id="rId9"/>
    <p:sldId id="307" r:id="rId10"/>
    <p:sldId id="305" r:id="rId11"/>
  </p:sldIdLst>
  <p:sldSz cx="9144000" cy="5143500" type="screen16x9"/>
  <p:notesSz cx="6858000" cy="9144000"/>
  <p:embeddedFontLst>
    <p:embeddedFont>
      <p:font typeface="Arial Black" panose="020B0604020202020204" pitchFamily="34" charset="0"/>
      <p:bold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Cambria Math" panose="02040503050406030204" pitchFamily="18" charset="0"/>
      <p:regular r:id="rId22"/>
    </p:embeddedFont>
    <p:embeddedFont>
      <p:font typeface="Lato" panose="020F0502020204030203" pitchFamily="34" charset="0"/>
      <p:regular r:id="rId23"/>
      <p:bold r:id="rId24"/>
      <p:italic r:id="rId25"/>
      <p:boldItalic r:id="rId26"/>
    </p:embeddedFont>
    <p:embeddedFont>
      <p:font typeface="Vladimir Script" panose="03050402040407070305" pitchFamily="66" charset="77"/>
      <p:regular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8" roundtripDataSignature="AMtx7mgIfgr8mz0h5oJT84AK2itezMzV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7377635-EB9D-4884-B79A-0D259F93817B}">
  <a:tblStyle styleId="{97377635-EB9D-4884-B79A-0D259F93817B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9E9E9"/>
          </a:solidFill>
        </a:fill>
      </a:tcStyle>
    </a:wholeTbl>
    <a:band1H>
      <a:tcTxStyle/>
      <a:tcStyle>
        <a:tcBdr/>
        <a:fill>
          <a:solidFill>
            <a:srgbClr val="D0D0D0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0D0D0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322"/>
    <p:restoredTop sz="94737"/>
  </p:normalViewPr>
  <p:slideViewPr>
    <p:cSldViewPr snapToGrid="0">
      <p:cViewPr varScale="1">
        <p:scale>
          <a:sx n="64" d="100"/>
          <a:sy n="64" d="100"/>
        </p:scale>
        <p:origin x="192" y="153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font" Target="fonts/font15.fntdata"/><Relationship Id="rId48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9308111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1" name="Google Shape;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452151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3800AA9E-45AA-4AC2-8AA2-7DA856E9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>
            <a:extLst>
              <a:ext uri="{FF2B5EF4-FFF2-40B4-BE49-F238E27FC236}">
                <a16:creationId xmlns:a16="http://schemas.microsoft.com/office/drawing/2014/main" id="{286550A3-8119-6875-5A21-C5D3DA1F86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2:notes">
            <a:extLst>
              <a:ext uri="{FF2B5EF4-FFF2-40B4-BE49-F238E27FC236}">
                <a16:creationId xmlns:a16="http://schemas.microsoft.com/office/drawing/2014/main" id="{C1F8D45D-F0E2-4C9E-7AD4-3CC086F6FF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51828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4BB2C93B-7FE2-A8D6-21D2-CB1FAAB41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>
            <a:extLst>
              <a:ext uri="{FF2B5EF4-FFF2-40B4-BE49-F238E27FC236}">
                <a16:creationId xmlns:a16="http://schemas.microsoft.com/office/drawing/2014/main" id="{B35863A3-7B58-0DD0-4438-352440F081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2:notes">
            <a:extLst>
              <a:ext uri="{FF2B5EF4-FFF2-40B4-BE49-F238E27FC236}">
                <a16:creationId xmlns:a16="http://schemas.microsoft.com/office/drawing/2014/main" id="{1C70A685-A7E2-6333-F188-6854C80611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119162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6BF395B1-0DDA-EC2D-8CD4-6D4FF14A3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>
            <a:extLst>
              <a:ext uri="{FF2B5EF4-FFF2-40B4-BE49-F238E27FC236}">
                <a16:creationId xmlns:a16="http://schemas.microsoft.com/office/drawing/2014/main" id="{424A4F30-E86A-115B-0CE7-D952412617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2:notes">
            <a:extLst>
              <a:ext uri="{FF2B5EF4-FFF2-40B4-BE49-F238E27FC236}">
                <a16:creationId xmlns:a16="http://schemas.microsoft.com/office/drawing/2014/main" id="{6889E4CB-D564-C918-3A24-F3AEE033CE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59637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8AE2F180-9A0B-4C89-E2A4-C820E350D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>
            <a:extLst>
              <a:ext uri="{FF2B5EF4-FFF2-40B4-BE49-F238E27FC236}">
                <a16:creationId xmlns:a16="http://schemas.microsoft.com/office/drawing/2014/main" id="{FCB0DF4C-0C0C-F327-13CB-D147B8854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2:notes">
            <a:extLst>
              <a:ext uri="{FF2B5EF4-FFF2-40B4-BE49-F238E27FC236}">
                <a16:creationId xmlns:a16="http://schemas.microsoft.com/office/drawing/2014/main" id="{CD3BD526-06AE-0DCC-FB9B-29E2E50FDB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42971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42D7C363-8D9B-662D-D35E-EF694C156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>
            <a:extLst>
              <a:ext uri="{FF2B5EF4-FFF2-40B4-BE49-F238E27FC236}">
                <a16:creationId xmlns:a16="http://schemas.microsoft.com/office/drawing/2014/main" id="{873556C4-1FD6-C1D5-F772-CCFCA35CB2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2:notes">
            <a:extLst>
              <a:ext uri="{FF2B5EF4-FFF2-40B4-BE49-F238E27FC236}">
                <a16:creationId xmlns:a16="http://schemas.microsoft.com/office/drawing/2014/main" id="{5B74E6DD-E044-75B0-83F3-00BA217DA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422902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09D8B882-0A42-A997-B7C2-B7E4A790F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>
            <a:extLst>
              <a:ext uri="{FF2B5EF4-FFF2-40B4-BE49-F238E27FC236}">
                <a16:creationId xmlns:a16="http://schemas.microsoft.com/office/drawing/2014/main" id="{C0D5EBF7-7AF6-6579-8561-57B613E948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2:notes">
            <a:extLst>
              <a:ext uri="{FF2B5EF4-FFF2-40B4-BE49-F238E27FC236}">
                <a16:creationId xmlns:a16="http://schemas.microsoft.com/office/drawing/2014/main" id="{4533F13B-1510-E87D-A49C-D1857BE0DD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262007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618896A3-CA15-4C87-8FB7-24487FE57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>
            <a:extLst>
              <a:ext uri="{FF2B5EF4-FFF2-40B4-BE49-F238E27FC236}">
                <a16:creationId xmlns:a16="http://schemas.microsoft.com/office/drawing/2014/main" id="{29BF4E4D-8363-3E77-BFA5-048BFD297E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2:notes">
            <a:extLst>
              <a:ext uri="{FF2B5EF4-FFF2-40B4-BE49-F238E27FC236}">
                <a16:creationId xmlns:a16="http://schemas.microsoft.com/office/drawing/2014/main" id="{F1179ABD-E767-1A65-FB79-9B790ADA68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17033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CE744BD3-2273-63E8-B289-EF3B2B107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>
            <a:extLst>
              <a:ext uri="{FF2B5EF4-FFF2-40B4-BE49-F238E27FC236}">
                <a16:creationId xmlns:a16="http://schemas.microsoft.com/office/drawing/2014/main" id="{7F32C7BD-C65E-21E0-A5D7-96E9D60193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2:notes">
            <a:extLst>
              <a:ext uri="{FF2B5EF4-FFF2-40B4-BE49-F238E27FC236}">
                <a16:creationId xmlns:a16="http://schemas.microsoft.com/office/drawing/2014/main" id="{A256D67B-D43A-765B-55B7-6128E93806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418237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38CC7291-0158-2CF9-E3E7-C104BA876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>
            <a:extLst>
              <a:ext uri="{FF2B5EF4-FFF2-40B4-BE49-F238E27FC236}">
                <a16:creationId xmlns:a16="http://schemas.microsoft.com/office/drawing/2014/main" id="{8B9D57E8-6C07-996D-1CC3-BF44C62ABF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2:notes">
            <a:extLst>
              <a:ext uri="{FF2B5EF4-FFF2-40B4-BE49-F238E27FC236}">
                <a16:creationId xmlns:a16="http://schemas.microsoft.com/office/drawing/2014/main" id="{B91E2C0C-79EA-9DB7-B0A8-4CEF2F72D7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456188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userDrawn="1">
  <p:cSld name="OBJECT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9"/>
          <p:cNvSpPr txBox="1">
            <a:spLocks noGrp="1"/>
          </p:cNvSpPr>
          <p:nvPr>
            <p:ph type="body" idx="1"/>
          </p:nvPr>
        </p:nvSpPr>
        <p:spPr>
          <a:xfrm>
            <a:off x="914400" y="1314450"/>
            <a:ext cx="8001000" cy="33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>
              <a:lnSpc>
                <a:spcPct val="115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914400" marR="0" lvl="1" indent="-355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3" name="Picture 2" descr="A red rectangular sign with a logo and a globe&#10;&#10;AI-generated content may be incorrect.">
            <a:extLst>
              <a:ext uri="{FF2B5EF4-FFF2-40B4-BE49-F238E27FC236}">
                <a16:creationId xmlns:a16="http://schemas.microsoft.com/office/drawing/2014/main" id="{E3B45E01-6076-AFEE-F2AB-CE7DAC5DAF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0906" y="22034"/>
            <a:ext cx="652311" cy="104895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1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" name="Google Shape;18;p31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3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p31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2" name="Google Shape;22;p31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3" name="Google Shape;23;p3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5F213-031A-95AD-897E-DD31668AD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CEDF7FE-8238-E952-EC20-938FFD7042D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272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oogle Shape;25;p3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3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p3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8" name="Google Shape;28;p32"/>
          <p:cNvSpPr txBox="1">
            <a:spLocks noGrp="1"/>
          </p:cNvSpPr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p3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3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2" name="Google Shape;32;p3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3" name="Google Shape;33;p3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3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5" name="Google Shape;35;p33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6" name="Google Shape;36;p33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3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0" name="Google Shape;40;p3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1" name="Google Shape;41;p3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42;p3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3" name="Google Shape;43;p3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44" name="Google Shape;44;p34"/>
          <p:cNvSpPr txBox="1">
            <a:spLocks noGrp="1"/>
          </p:cNvSpPr>
          <p:nvPr>
            <p:ph type="body" idx="1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34"/>
          <p:cNvSpPr txBox="1">
            <a:spLocks noGrp="1"/>
          </p:cNvSpPr>
          <p:nvPr>
            <p:ph type="body" idx="2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6" name="Google Shape;46;p3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9" name="Google Shape;49;p3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3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3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" name="Google Shape;52;p3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53" name="Google Shape;53;p3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6" name="Google Shape;56;p3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7" name="Google Shape;57;p3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3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9" name="Google Shape;59;p36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60" name="Google Shape;60;p36"/>
          <p:cNvSpPr txBox="1">
            <a:spLocks noGrp="1"/>
          </p:cNvSpPr>
          <p:nvPr>
            <p:ph type="body" idx="1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p3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37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64" name="Google Shape;64;p3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" name="Google Shape;65;p3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6" name="Google Shape;66;p37"/>
          <p:cNvSpPr txBox="1">
            <a:spLocks noGrp="1"/>
          </p:cNvSpPr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37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8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0" name="Google Shape;70;p38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71" name="Google Shape;71;p3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3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3" name="Google Shape;73;p38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74" name="Google Shape;74;p38"/>
          <p:cNvSpPr txBox="1">
            <a:spLocks noGrp="1"/>
          </p:cNvSpPr>
          <p:nvPr>
            <p:ph type="subTitle" idx="1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5" name="Google Shape;75;p38"/>
          <p:cNvSpPr txBox="1">
            <a:spLocks noGrp="1"/>
          </p:cNvSpPr>
          <p:nvPr>
            <p:ph type="body" idx="2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3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9"/>
          <p:cNvSpPr txBox="1">
            <a:spLocks noGrp="1"/>
          </p:cNvSpPr>
          <p:nvPr>
            <p:ph type="body" idx="1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79" name="Google Shape;79;p3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oogle Shape;81;p40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82" name="Google Shape;82;p40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" name="Google Shape;83;p40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4" name="Google Shape;84;p40"/>
          <p:cNvSpPr txBox="1">
            <a:spLocks noGrp="1"/>
          </p:cNvSpPr>
          <p:nvPr>
            <p:ph type="title" hasCustomPrompt="1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5" name="Google Shape;85;p40"/>
          <p:cNvSpPr txBox="1">
            <a:spLocks noGrp="1"/>
          </p:cNvSpPr>
          <p:nvPr>
            <p:ph type="body" idx="1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40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0E067-05BA-3068-8F0D-B3C073B80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99BB7D-4B8D-4670-0220-D1EB44F3B3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750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2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2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3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zT83sJ5IrEE?si=s329YN-VxBpzZNd8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onlinecourses.nptel.ac.in/noc26_ma62/preview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handigarh University Archives - Worldwide Transcript"/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37" y="1217517"/>
            <a:ext cx="2782983" cy="2782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3" name="Google Shape;93;p1"/>
          <p:cNvSpPr txBox="1"/>
          <p:nvPr/>
        </p:nvSpPr>
        <p:spPr>
          <a:xfrm>
            <a:off x="6572250" y="48815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/>
          <p:nvPr/>
        </p:nvSpPr>
        <p:spPr>
          <a:xfrm rot="10800000" flipH="1">
            <a:off x="7796638" y="4287563"/>
            <a:ext cx="968400" cy="867900"/>
          </a:xfrm>
          <a:prstGeom prst="rtTriangle">
            <a:avLst/>
          </a:prstGeom>
          <a:solidFill>
            <a:srgbClr val="F2F2F2">
              <a:alpha val="1607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/>
          <p:nvPr/>
        </p:nvSpPr>
        <p:spPr>
          <a:xfrm flipH="1">
            <a:off x="5284799" y="-48815"/>
            <a:ext cx="3859200" cy="4389900"/>
          </a:xfrm>
          <a:prstGeom prst="rtTriangle">
            <a:avLst/>
          </a:prstGeom>
          <a:solidFill>
            <a:srgbClr val="F2F2F2">
              <a:alpha val="1607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/>
          <p:cNvSpPr/>
          <p:nvPr/>
        </p:nvSpPr>
        <p:spPr>
          <a:xfrm>
            <a:off x="1593056" y="1519145"/>
            <a:ext cx="5122200" cy="11856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2659">
                <a:srgbClr val="FFFFFF">
                  <a:alpha val="0"/>
                </a:srgbClr>
              </a:gs>
              <a:gs pos="15000">
                <a:srgbClr val="FFFFFF">
                  <a:alpha val="33333"/>
                </a:srgbClr>
              </a:gs>
              <a:gs pos="51000">
                <a:schemeClr val="lt1"/>
              </a:gs>
              <a:gs pos="94000">
                <a:srgbClr val="FFFFFF">
                  <a:alpha val="3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"/>
          <p:cNvSpPr/>
          <p:nvPr/>
        </p:nvSpPr>
        <p:spPr>
          <a:xfrm flipH="1">
            <a:off x="7360500" y="3929250"/>
            <a:ext cx="1774800" cy="1200300"/>
          </a:xfrm>
          <a:prstGeom prst="rtTriangle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"/>
          <p:cNvSpPr txBox="1"/>
          <p:nvPr/>
        </p:nvSpPr>
        <p:spPr>
          <a:xfrm>
            <a:off x="771896" y="618294"/>
            <a:ext cx="7602983" cy="40882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 Black"/>
              <a:buNone/>
            </a:pPr>
            <a:r>
              <a:rPr lang="en-US" sz="2000" b="1" i="0" u="none" strike="noStrike" cap="none" dirty="0">
                <a:solidFill>
                  <a:schemeClr val="bg2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  <a:sym typeface="Arial Black"/>
              </a:rPr>
              <a:t>UNIVERSITY INSTITUTE OF </a:t>
            </a:r>
            <a:r>
              <a:rPr lang="en-US" sz="2000" b="1" dirty="0">
                <a:solidFill>
                  <a:schemeClr val="bg2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  <a:sym typeface="Arial Black"/>
              </a:rPr>
              <a:t>ENGINEERING</a:t>
            </a:r>
            <a:endParaRPr sz="2000" b="0" i="0" u="none" strike="noStrike" cap="none" dirty="0">
              <a:solidFill>
                <a:schemeClr val="bg2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  <a:sym typeface="Arial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 Black"/>
              <a:buNone/>
            </a:pPr>
            <a:r>
              <a:rPr lang="en-US" sz="2000" b="1" i="0" u="none" strike="noStrike" cap="none" dirty="0">
                <a:solidFill>
                  <a:schemeClr val="bg2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  <a:sym typeface="Arial Black"/>
              </a:rPr>
              <a:t>CSE 3</a:t>
            </a:r>
            <a:r>
              <a:rPr lang="en-US" sz="2000" b="1" i="0" u="none" strike="noStrike" cap="none" baseline="30000" dirty="0">
                <a:solidFill>
                  <a:schemeClr val="bg2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  <a:sym typeface="Arial Black"/>
              </a:rPr>
              <a:t>RD</a:t>
            </a:r>
            <a:r>
              <a:rPr lang="en-US" sz="2000" b="1" i="0" u="none" strike="noStrike" cap="none" dirty="0">
                <a:solidFill>
                  <a:schemeClr val="bg2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  <a:sym typeface="Arial Black"/>
              </a:rPr>
              <a:t> YEAR</a:t>
            </a:r>
            <a:endParaRPr sz="2000" b="0" i="0" u="none" strike="noStrike" cap="none" dirty="0">
              <a:solidFill>
                <a:schemeClr val="bg2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  <a:sym typeface="Arial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en-US" sz="2000" b="0" i="0" u="none" strike="noStrike" cap="none" dirty="0">
                <a:solidFill>
                  <a:schemeClr val="bg2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  <a:sym typeface="Times New Roman"/>
              </a:rPr>
              <a:t>CS201/CS202/CS703/CS704/IT201/IT202/BI519</a:t>
            </a:r>
            <a:endParaRPr sz="2000" dirty="0">
              <a:solidFill>
                <a:schemeClr val="bg2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112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en-US" sz="2000" dirty="0">
                <a:solidFill>
                  <a:schemeClr val="bg2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  <a:sym typeface="Times New Roman"/>
              </a:rPr>
              <a:t>5</a:t>
            </a:r>
            <a:r>
              <a:rPr lang="en-US" sz="2000" baseline="30000" dirty="0">
                <a:solidFill>
                  <a:schemeClr val="bg2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  <a:sym typeface="Times New Roman"/>
              </a:rPr>
              <a:t>TH</a:t>
            </a:r>
            <a:r>
              <a:rPr lang="en-US" sz="2000" dirty="0">
                <a:solidFill>
                  <a:schemeClr val="bg2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2000" b="0" i="0" u="none" strike="noStrike" cap="none" dirty="0">
                <a:solidFill>
                  <a:schemeClr val="bg2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  <a:sym typeface="Times New Roman"/>
              </a:rPr>
              <a:t> SEMESTER</a:t>
            </a:r>
            <a:endParaRPr sz="2000" dirty="0">
              <a:solidFill>
                <a:schemeClr val="bg2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98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000" b="1" i="0" u="none" strike="noStrike" cap="none" dirty="0">
                <a:solidFill>
                  <a:schemeClr val="bg2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  <a:sym typeface="Arial"/>
              </a:rPr>
              <a:t>NUMERICAL METHODS</a:t>
            </a:r>
            <a:endParaRPr sz="2000" dirty="0">
              <a:solidFill>
                <a:schemeClr val="bg2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98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bg2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  <a:sym typeface="Arial"/>
              </a:rPr>
              <a:t>(</a:t>
            </a:r>
            <a:r>
              <a:rPr lang="en-US" sz="2000" dirty="0">
                <a:solidFill>
                  <a:schemeClr val="bg2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23SMH-341</a:t>
            </a:r>
            <a:r>
              <a:rPr lang="en-US" sz="2000" b="0" i="0" u="none" strike="noStrike" cap="none" dirty="0">
                <a:solidFill>
                  <a:schemeClr val="bg2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  <a:sym typeface="Arial"/>
              </a:rPr>
              <a:t>)</a:t>
            </a:r>
            <a:endParaRPr sz="2000" dirty="0">
              <a:solidFill>
                <a:schemeClr val="bg2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spcBef>
                <a:spcPts val="1120"/>
              </a:spcBef>
              <a:buSzPts val="3200"/>
            </a:pPr>
            <a:r>
              <a:rPr lang="en-US" sz="20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Unit No. 1                     Chapter No. 1                    Lecture No. 1</a:t>
            </a:r>
          </a:p>
          <a:p>
            <a:pPr>
              <a:spcBef>
                <a:spcPts val="1120"/>
              </a:spcBef>
              <a:buSzPts val="3200"/>
            </a:pPr>
            <a:r>
              <a:rPr lang="en-US" sz="20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Topic : </a:t>
            </a:r>
            <a:r>
              <a:rPr lang="en-IN" sz="20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Introduction of Numerical Methods</a:t>
            </a:r>
            <a:r>
              <a:rPr lang="en-I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spcBef>
                <a:spcPts val="1120"/>
              </a:spcBef>
              <a:buSzPts val="3200"/>
            </a:pPr>
            <a:r>
              <a:rPr lang="en-US" sz="20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Faculty Name and E-Code: Dr. Heena Sharma (E6398)                                                        Designation: Assistant Professor</a:t>
            </a:r>
            <a:endParaRPr lang="en-US" sz="2000" b="1" i="0" u="none" strike="noStrike" cap="none" dirty="0">
              <a:solidFill>
                <a:schemeClr val="bg2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5E2170-6E52-163D-4579-180ED8258362}"/>
              </a:ext>
            </a:extLst>
          </p:cNvPr>
          <p:cNvSpPr txBox="1"/>
          <p:nvPr/>
        </p:nvSpPr>
        <p:spPr>
          <a:xfrm>
            <a:off x="5284800" y="0"/>
            <a:ext cx="385919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N" sz="1800" b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Academic Session 2025-26 </a:t>
            </a:r>
          </a:p>
          <a:p>
            <a:pPr algn="r"/>
            <a:r>
              <a:rPr lang="en-IN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EVEN Semester Jan-Jun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0EF27945-C1E1-DDBF-6B5A-32A668D1B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Google Shape;108;p2">
            <a:extLst>
              <a:ext uri="{FF2B5EF4-FFF2-40B4-BE49-F238E27FC236}">
                <a16:creationId xmlns:a16="http://schemas.microsoft.com/office/drawing/2014/main" id="{B82306DF-DC71-A9BC-8B35-D6290EE31CD4}"/>
              </a:ext>
            </a:extLst>
          </p:cNvPr>
          <p:cNvGrpSpPr/>
          <p:nvPr/>
        </p:nvGrpSpPr>
        <p:grpSpPr>
          <a:xfrm>
            <a:off x="724394" y="218172"/>
            <a:ext cx="8300849" cy="444600"/>
            <a:chOff x="0" y="6299"/>
            <a:chExt cx="5580934" cy="444600"/>
          </a:xfrm>
          <a:noFill/>
        </p:grpSpPr>
        <p:sp>
          <p:nvSpPr>
            <p:cNvPr id="109" name="Google Shape;109;p2">
              <a:extLst>
                <a:ext uri="{FF2B5EF4-FFF2-40B4-BE49-F238E27FC236}">
                  <a16:creationId xmlns:a16="http://schemas.microsoft.com/office/drawing/2014/main" id="{CFDB14A8-16BA-BF7C-C8D7-1E6DAD65FFC9}"/>
                </a:ext>
              </a:extLst>
            </p:cNvPr>
            <p:cNvSpPr/>
            <p:nvPr/>
          </p:nvSpPr>
          <p:spPr>
            <a:xfrm>
              <a:off x="0" y="6299"/>
              <a:ext cx="5580934" cy="444600"/>
            </a:xfrm>
            <a:prstGeom prst="roundRect">
              <a:avLst>
                <a:gd name="adj" fmla="val 16667"/>
              </a:avLst>
            </a:prstGeom>
            <a:grpFill/>
            <a:ln>
              <a:noFill/>
            </a:ln>
            <a:effectLst>
              <a:outerShdw blurRad="40000" dist="20000" dir="5400000" rotWithShape="0">
                <a:srgbClr val="000000">
                  <a:alpha val="3764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bg2"/>
                </a:solidFill>
              </a:endParaRPr>
            </a:p>
          </p:txBody>
        </p:sp>
        <p:sp>
          <p:nvSpPr>
            <p:cNvPr id="110" name="Google Shape;110;p2">
              <a:extLst>
                <a:ext uri="{FF2B5EF4-FFF2-40B4-BE49-F238E27FC236}">
                  <a16:creationId xmlns:a16="http://schemas.microsoft.com/office/drawing/2014/main" id="{B1FC2D67-AE60-4AB2-F4BD-027A2C4342A0}"/>
                </a:ext>
              </a:extLst>
            </p:cNvPr>
            <p:cNvSpPr txBox="1"/>
            <p:nvPr/>
          </p:nvSpPr>
          <p:spPr>
            <a:xfrm>
              <a:off x="21704" y="28003"/>
              <a:ext cx="5537526" cy="40119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72375" tIns="72375" rIns="72375" bIns="723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rPr lang="en-US" sz="4000" b="1" i="0" u="none" strike="noStrike" cap="none" dirty="0">
                  <a:solidFill>
                    <a:schemeClr val="bg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  <a:sym typeface="Arial"/>
                </a:rPr>
                <a:t>Learning Objectives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8609524" y="8598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dirty="0"/>
              <a:t>1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63C2A9-B054-BA3C-AEDE-C0C1F44D2B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3205146"/>
              </p:ext>
            </p:extLst>
          </p:nvPr>
        </p:nvGraphicFramePr>
        <p:xfrm>
          <a:off x="724394" y="1205836"/>
          <a:ext cx="7705928" cy="3264662"/>
        </p:xfrm>
        <a:graphic>
          <a:graphicData uri="http://schemas.openxmlformats.org/drawingml/2006/table">
            <a:tbl>
              <a:tblPr bandRow="1">
                <a:tableStyleId>{97377635-EB9D-4884-B79A-0D259F93817B}</a:tableStyleId>
              </a:tblPr>
              <a:tblGrid>
                <a:gridCol w="7705928">
                  <a:extLst>
                    <a:ext uri="{9D8B030D-6E8A-4147-A177-3AD203B41FA5}">
                      <a16:colId xmlns:a16="http://schemas.microsoft.com/office/drawing/2014/main" val="3423502139"/>
                    </a:ext>
                  </a:extLst>
                </a:gridCol>
              </a:tblGrid>
              <a:tr h="612566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IN" sz="3000" kern="100" dirty="0">
                          <a:solidFill>
                            <a:schemeClr val="bg2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CO1: Students will be able to recall the use of programming language with Numerical methods.</a:t>
                      </a:r>
                      <a:endParaRPr lang="en-IN" sz="3000" kern="100" dirty="0">
                        <a:solidFill>
                          <a:schemeClr val="bg2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12089821"/>
                  </a:ext>
                </a:extLst>
              </a:tr>
              <a:tr h="612566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IN" sz="3000" kern="100" dirty="0">
                          <a:solidFill>
                            <a:schemeClr val="bg2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CO2: Students will be able to understand the techniques used for solving linear and nonlinear Algebra.</a:t>
                      </a:r>
                      <a:endParaRPr lang="en-IN" sz="3000" kern="100" dirty="0">
                        <a:solidFill>
                          <a:schemeClr val="bg2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897946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9758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0F165C73-F363-A304-734E-7CBF8D3F9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Google Shape;108;p2">
            <a:extLst>
              <a:ext uri="{FF2B5EF4-FFF2-40B4-BE49-F238E27FC236}">
                <a16:creationId xmlns:a16="http://schemas.microsoft.com/office/drawing/2014/main" id="{17B7C442-1162-E7EE-DA61-E33D8E4C9122}"/>
              </a:ext>
            </a:extLst>
          </p:cNvPr>
          <p:cNvGrpSpPr/>
          <p:nvPr/>
        </p:nvGrpSpPr>
        <p:grpSpPr>
          <a:xfrm>
            <a:off x="760020" y="218172"/>
            <a:ext cx="8265225" cy="444600"/>
            <a:chOff x="0" y="6299"/>
            <a:chExt cx="5580934" cy="444600"/>
          </a:xfrm>
          <a:noFill/>
        </p:grpSpPr>
        <p:sp>
          <p:nvSpPr>
            <p:cNvPr id="109" name="Google Shape;109;p2">
              <a:extLst>
                <a:ext uri="{FF2B5EF4-FFF2-40B4-BE49-F238E27FC236}">
                  <a16:creationId xmlns:a16="http://schemas.microsoft.com/office/drawing/2014/main" id="{8E0F9992-62FC-4C63-BED6-091FF56DEF08}"/>
                </a:ext>
              </a:extLst>
            </p:cNvPr>
            <p:cNvSpPr/>
            <p:nvPr/>
          </p:nvSpPr>
          <p:spPr>
            <a:xfrm>
              <a:off x="0" y="6299"/>
              <a:ext cx="5580934" cy="444600"/>
            </a:xfrm>
            <a:prstGeom prst="roundRect">
              <a:avLst>
                <a:gd name="adj" fmla="val 16667"/>
              </a:avLst>
            </a:prstGeom>
            <a:grpFill/>
            <a:ln>
              <a:noFill/>
            </a:ln>
            <a:effectLst>
              <a:outerShdw blurRad="40000" dist="20000" dir="5400000" rotWithShape="0">
                <a:srgbClr val="000000">
                  <a:alpha val="3764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bg2"/>
                </a:solidFill>
              </a:endParaRPr>
            </a:p>
          </p:txBody>
        </p:sp>
        <p:sp>
          <p:nvSpPr>
            <p:cNvPr id="110" name="Google Shape;110;p2">
              <a:extLst>
                <a:ext uri="{FF2B5EF4-FFF2-40B4-BE49-F238E27FC236}">
                  <a16:creationId xmlns:a16="http://schemas.microsoft.com/office/drawing/2014/main" id="{BFBE6ABC-C3B9-AA73-42F9-036BD547E8EB}"/>
                </a:ext>
              </a:extLst>
            </p:cNvPr>
            <p:cNvSpPr txBox="1"/>
            <p:nvPr/>
          </p:nvSpPr>
          <p:spPr>
            <a:xfrm>
              <a:off x="21704" y="28003"/>
              <a:ext cx="5537526" cy="40119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72375" tIns="72375" rIns="72375" bIns="723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rPr lang="en-US" sz="4000" b="1" i="0" u="none" strike="noStrike" cap="none" dirty="0">
                  <a:solidFill>
                    <a:schemeClr val="bg2"/>
                  </a:solidFill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  <a:sym typeface="Arial"/>
                </a:rPr>
                <a:t>Numerical Methods</a:t>
              </a:r>
            </a:p>
          </p:txBody>
        </p:sp>
      </p:grpSp>
      <p:sp>
        <p:nvSpPr>
          <p:cNvPr id="111" name="Google Shape;111;p2">
            <a:extLst>
              <a:ext uri="{FF2B5EF4-FFF2-40B4-BE49-F238E27FC236}">
                <a16:creationId xmlns:a16="http://schemas.microsoft.com/office/drawing/2014/main" id="{8B576DE2-C283-2E3E-CC36-4B7ABE8B87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5500" y="1422025"/>
            <a:ext cx="8001000" cy="2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bg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2400" b="1" i="0" u="none" strike="noStrike" cap="none">
              <a:solidFill>
                <a:schemeClr val="bg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bg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2400" b="0" i="0" u="none">
              <a:solidFill>
                <a:schemeClr val="bg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3" name="Google Shape;113;p2">
            <a:extLst>
              <a:ext uri="{FF2B5EF4-FFF2-40B4-BE49-F238E27FC236}">
                <a16:creationId xmlns:a16="http://schemas.microsoft.com/office/drawing/2014/main" id="{3427E39E-1443-8E67-323E-AC3515D4A144}"/>
              </a:ext>
            </a:extLst>
          </p:cNvPr>
          <p:cNvSpPr txBox="1"/>
          <p:nvPr/>
        </p:nvSpPr>
        <p:spPr>
          <a:xfrm>
            <a:off x="83127" y="1089514"/>
            <a:ext cx="8942119" cy="4201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Techniques to obtain </a:t>
            </a: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approximate solutions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mathematical problems, Used when: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Exact (analytical) solutions do not exist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Exact solutions are too complex to derive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Computers are required for fast results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Provide </a:t>
            </a: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efficient, practical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answers with controlled accuracy.</a:t>
            </a:r>
            <a:br>
              <a:rPr lang="en-US" sz="2800" i="0" u="none" strike="noStrike" cap="none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</a:br>
            <a:endParaRPr lang="en-US" sz="2800" i="0" u="none" strike="noStrike" cap="none" dirty="0">
              <a:solidFill>
                <a:schemeClr val="bg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609524" y="8598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337512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EB83A878-A8C8-7563-ACC5-60FA0ECC4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8609524" y="8598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4D069F-9FE0-0231-78ED-F358A7B5195C}"/>
              </a:ext>
            </a:extLst>
          </p:cNvPr>
          <p:cNvSpPr txBox="1"/>
          <p:nvPr/>
        </p:nvSpPr>
        <p:spPr>
          <a:xfrm>
            <a:off x="780585" y="-8910"/>
            <a:ext cx="8112991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Do We Need Numerical Methods?</a:t>
            </a:r>
            <a:endParaRPr lang="en-US" sz="3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028A36-3260-6453-8999-4CF7DCC05C61}"/>
              </a:ext>
            </a:extLst>
          </p:cNvPr>
          <p:cNvSpPr txBox="1"/>
          <p:nvPr/>
        </p:nvSpPr>
        <p:spPr>
          <a:xfrm>
            <a:off x="780585" y="665225"/>
            <a:ext cx="7828939" cy="432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real-world problems are </a:t>
            </a: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nonlinear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or </a:t>
            </a:r>
            <a:r>
              <a:rPr lang="en-IN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unsolvable analytically. </a:t>
            </a: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systems often lead to equations with: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 closed-form solutions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Very large datasets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Multivariable complexity</a:t>
            </a:r>
          </a:p>
          <a:p>
            <a:pPr algn="just"/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Numerical methods allow us to: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Model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Simulate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Optimize</a:t>
            </a:r>
          </a:p>
          <a:p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 and scientific systems</a:t>
            </a:r>
          </a:p>
        </p:txBody>
      </p:sp>
    </p:spTree>
    <p:extLst>
      <p:ext uri="{BB962C8B-B14F-4D97-AF65-F5344CB8AC3E}">
        <p14:creationId xmlns:p14="http://schemas.microsoft.com/office/powerpoint/2010/main" val="2691230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B8FA9E54-824C-3174-92D1-1FD55557D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Google Shape;108;p2">
            <a:extLst>
              <a:ext uri="{FF2B5EF4-FFF2-40B4-BE49-F238E27FC236}">
                <a16:creationId xmlns:a16="http://schemas.microsoft.com/office/drawing/2014/main" id="{EA721AF1-4121-990B-D3BC-3A69461EE53B}"/>
              </a:ext>
            </a:extLst>
          </p:cNvPr>
          <p:cNvGrpSpPr/>
          <p:nvPr/>
        </p:nvGrpSpPr>
        <p:grpSpPr>
          <a:xfrm>
            <a:off x="783770" y="218172"/>
            <a:ext cx="8241475" cy="489802"/>
            <a:chOff x="0" y="6299"/>
            <a:chExt cx="5580934" cy="489802"/>
          </a:xfrm>
          <a:noFill/>
        </p:grpSpPr>
        <p:sp>
          <p:nvSpPr>
            <p:cNvPr id="109" name="Google Shape;109;p2">
              <a:extLst>
                <a:ext uri="{FF2B5EF4-FFF2-40B4-BE49-F238E27FC236}">
                  <a16:creationId xmlns:a16="http://schemas.microsoft.com/office/drawing/2014/main" id="{A2839E68-8CC4-454C-1CA9-8CC8B94AE13A}"/>
                </a:ext>
              </a:extLst>
            </p:cNvPr>
            <p:cNvSpPr/>
            <p:nvPr/>
          </p:nvSpPr>
          <p:spPr>
            <a:xfrm>
              <a:off x="0" y="6299"/>
              <a:ext cx="5580934" cy="444600"/>
            </a:xfrm>
            <a:prstGeom prst="roundRect">
              <a:avLst>
                <a:gd name="adj" fmla="val 16667"/>
              </a:avLst>
            </a:prstGeom>
            <a:grpFill/>
            <a:ln>
              <a:noFill/>
            </a:ln>
            <a:effectLst>
              <a:outerShdw blurRad="40000" dist="20000" dir="5400000" rotWithShape="0">
                <a:srgbClr val="000000">
                  <a:alpha val="3764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bg2"/>
                </a:solidFill>
              </a:endParaRPr>
            </a:p>
          </p:txBody>
        </p:sp>
        <p:sp>
          <p:nvSpPr>
            <p:cNvPr id="110" name="Google Shape;110;p2">
              <a:extLst>
                <a:ext uri="{FF2B5EF4-FFF2-40B4-BE49-F238E27FC236}">
                  <a16:creationId xmlns:a16="http://schemas.microsoft.com/office/drawing/2014/main" id="{AEB27271-7D91-E3E7-B4A8-A483F805DA4C}"/>
                </a:ext>
              </a:extLst>
            </p:cNvPr>
            <p:cNvSpPr txBox="1"/>
            <p:nvPr/>
          </p:nvSpPr>
          <p:spPr>
            <a:xfrm>
              <a:off x="21704" y="94909"/>
              <a:ext cx="5537526" cy="40119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72375" tIns="72375" rIns="72375" bIns="723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rPr lang="en-US" sz="3500" b="1" i="0" u="none" strike="noStrike" cap="none" dirty="0">
                  <a:solidFill>
                    <a:schemeClr val="bg2"/>
                  </a:solidFill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  <a:sym typeface="Arial"/>
                </a:rPr>
                <a:t>Major Reasons for Using Numerical Methods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8609524" y="8598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dirty="0"/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EE2C23-4867-1DDE-6ED1-03CE231953B5}"/>
                  </a:ext>
                </a:extLst>
              </p:cNvPr>
              <p:cNvSpPr txBox="1"/>
              <p:nvPr/>
            </p:nvSpPr>
            <p:spPr>
              <a:xfrm>
                <a:off x="208342" y="1065612"/>
                <a:ext cx="8401181" cy="34371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indent="-4572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IN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Analytical solution impossible</a:t>
                </a:r>
                <a:r>
                  <a:rPr lang="en-I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(e.g., </a:t>
                </a:r>
                <a14:m>
                  <m:oMath xmlns:m="http://schemas.openxmlformats.org/officeDocument/2006/math">
                    <m:nary>
                      <m:naryPr>
                        <m:subHide m:val="on"/>
                        <m:supHide m:val="on"/>
                        <m:ctrlPr>
                          <a:rPr lang="en-IN" sz="28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IN" sz="28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IN" sz="28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IN" sz="28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IN" sz="2800" i="1" dirty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IN" sz="2800" i="1" dirty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IN" sz="2800" i="1" dirty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</m:sup>
                        </m:sSup>
                      </m:e>
                    </m:nary>
                    <m:r>
                      <a:rPr lang="en-IN" sz="28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IN" sz="28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𝑑𝑥</m:t>
                    </m:r>
                    <m:r>
                      <a:rPr lang="en-IN" sz="28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IN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IN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Equations too complex</a:t>
                </a:r>
                <a:r>
                  <a:rPr lang="en-I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for algebraic methods</a:t>
                </a:r>
              </a:p>
              <a:p>
                <a:pPr marL="457200" indent="-4572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IN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Large systems</a:t>
                </a:r>
                <a:r>
                  <a:rPr lang="en-I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(e.g., 1000+ linear equations)</a:t>
                </a:r>
              </a:p>
              <a:p>
                <a:pPr marL="457200" indent="-4572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IN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Real data contains noise / errors</a:t>
                </a:r>
                <a:endParaRPr lang="en-IN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IN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Fast computation</a:t>
                </a:r>
                <a:r>
                  <a:rPr lang="en-IN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required (industry, simulations)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EE2C23-4867-1DDE-6ED1-03CE23195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42" y="1065612"/>
                <a:ext cx="8401181" cy="3437159"/>
              </a:xfrm>
              <a:prstGeom prst="rect">
                <a:avLst/>
              </a:prstGeom>
              <a:blipFill>
                <a:blip r:embed="rId3"/>
                <a:stretch>
                  <a:fillRect l="-1360" t="-17712" b="-40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1972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0CA46449-103B-2CB3-E783-17367956C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Google Shape;108;p2">
            <a:extLst>
              <a:ext uri="{FF2B5EF4-FFF2-40B4-BE49-F238E27FC236}">
                <a16:creationId xmlns:a16="http://schemas.microsoft.com/office/drawing/2014/main" id="{84166334-C828-AD3D-C0BC-F44CA2987782}"/>
              </a:ext>
            </a:extLst>
          </p:cNvPr>
          <p:cNvGrpSpPr/>
          <p:nvPr/>
        </p:nvGrpSpPr>
        <p:grpSpPr>
          <a:xfrm>
            <a:off x="771896" y="218172"/>
            <a:ext cx="8158348" cy="444600"/>
            <a:chOff x="0" y="6299"/>
            <a:chExt cx="5580934" cy="444600"/>
          </a:xfrm>
          <a:noFill/>
        </p:grpSpPr>
        <p:sp>
          <p:nvSpPr>
            <p:cNvPr id="109" name="Google Shape;109;p2">
              <a:extLst>
                <a:ext uri="{FF2B5EF4-FFF2-40B4-BE49-F238E27FC236}">
                  <a16:creationId xmlns:a16="http://schemas.microsoft.com/office/drawing/2014/main" id="{DD9B08A7-769B-C34B-B089-27CB3484F37B}"/>
                </a:ext>
              </a:extLst>
            </p:cNvPr>
            <p:cNvSpPr/>
            <p:nvPr/>
          </p:nvSpPr>
          <p:spPr>
            <a:xfrm>
              <a:off x="0" y="6299"/>
              <a:ext cx="5580934" cy="444600"/>
            </a:xfrm>
            <a:prstGeom prst="roundRect">
              <a:avLst>
                <a:gd name="adj" fmla="val 16667"/>
              </a:avLst>
            </a:prstGeom>
            <a:grpFill/>
            <a:ln>
              <a:noFill/>
            </a:ln>
            <a:effectLst>
              <a:outerShdw blurRad="40000" dist="20000" dir="5400000" rotWithShape="0">
                <a:srgbClr val="000000">
                  <a:alpha val="3764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bg2"/>
                </a:solidFill>
              </a:endParaRPr>
            </a:p>
          </p:txBody>
        </p:sp>
        <p:sp>
          <p:nvSpPr>
            <p:cNvPr id="110" name="Google Shape;110;p2">
              <a:extLst>
                <a:ext uri="{FF2B5EF4-FFF2-40B4-BE49-F238E27FC236}">
                  <a16:creationId xmlns:a16="http://schemas.microsoft.com/office/drawing/2014/main" id="{916722A6-EB51-DD67-909C-CF9EC7E57A48}"/>
                </a:ext>
              </a:extLst>
            </p:cNvPr>
            <p:cNvSpPr txBox="1"/>
            <p:nvPr/>
          </p:nvSpPr>
          <p:spPr>
            <a:xfrm>
              <a:off x="21704" y="28003"/>
              <a:ext cx="5537526" cy="40119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72375" tIns="72375" rIns="72375" bIns="723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rPr lang="en-US" sz="4000" b="1" i="0" u="none" strike="noStrike" cap="none" dirty="0">
                  <a:solidFill>
                    <a:schemeClr val="bg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  <a:sym typeface="Arial"/>
                </a:rPr>
                <a:t>Applications of the Topic</a:t>
              </a:r>
            </a:p>
          </p:txBody>
        </p:sp>
      </p:grpSp>
      <p:sp>
        <p:nvSpPr>
          <p:cNvPr id="111" name="Google Shape;111;p2">
            <a:extLst>
              <a:ext uri="{FF2B5EF4-FFF2-40B4-BE49-F238E27FC236}">
                <a16:creationId xmlns:a16="http://schemas.microsoft.com/office/drawing/2014/main" id="{93079442-C689-D16E-FD88-DB31772825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5500" y="1113182"/>
            <a:ext cx="8001000" cy="3790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IN" dirty="0">
                <a:solidFill>
                  <a:schemeClr val="bg2"/>
                </a:solidFill>
              </a:rPr>
              <a:t>Engineering: stress analysis, structural design, power system analysis.</a:t>
            </a:r>
          </a:p>
          <a:p>
            <a:r>
              <a:rPr lang="en-IN" dirty="0">
                <a:solidFill>
                  <a:schemeClr val="bg2"/>
                </a:solidFill>
              </a:rPr>
              <a:t>Physical sciences: astronomy, Schrödinger equation solutions.</a:t>
            </a:r>
          </a:p>
          <a:p>
            <a:r>
              <a:rPr lang="en-IN" dirty="0">
                <a:solidFill>
                  <a:schemeClr val="bg2"/>
                </a:solidFill>
              </a:rPr>
              <a:t>Finance: option pricing, forecasting, risk analysis.</a:t>
            </a:r>
          </a:p>
          <a:p>
            <a:r>
              <a:rPr lang="en-IN" dirty="0">
                <a:solidFill>
                  <a:schemeClr val="bg2"/>
                </a:solidFill>
              </a:rPr>
              <a:t>Medical imaging: CT/MRI reconstruction algorithms.</a:t>
            </a:r>
          </a:p>
          <a:p>
            <a:r>
              <a:rPr lang="en-IN" dirty="0">
                <a:solidFill>
                  <a:schemeClr val="bg2"/>
                </a:solidFill>
              </a:rPr>
              <a:t>Computer graphics: rendering, animation, image processing.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9524" y="8598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192499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E23510B7-C3A2-E27A-3736-0F103363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Google Shape;108;p2">
            <a:extLst>
              <a:ext uri="{FF2B5EF4-FFF2-40B4-BE49-F238E27FC236}">
                <a16:creationId xmlns:a16="http://schemas.microsoft.com/office/drawing/2014/main" id="{78445F02-A161-533C-83C3-5BC21C2F7F4B}"/>
              </a:ext>
            </a:extLst>
          </p:cNvPr>
          <p:cNvGrpSpPr/>
          <p:nvPr/>
        </p:nvGrpSpPr>
        <p:grpSpPr>
          <a:xfrm>
            <a:off x="748144" y="218172"/>
            <a:ext cx="8277101" cy="444600"/>
            <a:chOff x="0" y="6299"/>
            <a:chExt cx="5580934" cy="444600"/>
          </a:xfrm>
          <a:noFill/>
        </p:grpSpPr>
        <p:sp>
          <p:nvSpPr>
            <p:cNvPr id="109" name="Google Shape;109;p2">
              <a:extLst>
                <a:ext uri="{FF2B5EF4-FFF2-40B4-BE49-F238E27FC236}">
                  <a16:creationId xmlns:a16="http://schemas.microsoft.com/office/drawing/2014/main" id="{20A44487-169C-8822-4CE0-BBB62C89DEBF}"/>
                </a:ext>
              </a:extLst>
            </p:cNvPr>
            <p:cNvSpPr/>
            <p:nvPr/>
          </p:nvSpPr>
          <p:spPr>
            <a:xfrm>
              <a:off x="0" y="6299"/>
              <a:ext cx="5580934" cy="444600"/>
            </a:xfrm>
            <a:prstGeom prst="roundRect">
              <a:avLst>
                <a:gd name="adj" fmla="val 16667"/>
              </a:avLst>
            </a:prstGeom>
            <a:grpFill/>
            <a:ln>
              <a:noFill/>
            </a:ln>
            <a:effectLst>
              <a:outerShdw blurRad="40000" dist="20000" dir="5400000" rotWithShape="0">
                <a:srgbClr val="000000">
                  <a:alpha val="3764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bg2"/>
                </a:solidFill>
              </a:endParaRPr>
            </a:p>
          </p:txBody>
        </p:sp>
        <p:sp>
          <p:nvSpPr>
            <p:cNvPr id="110" name="Google Shape;110;p2">
              <a:extLst>
                <a:ext uri="{FF2B5EF4-FFF2-40B4-BE49-F238E27FC236}">
                  <a16:creationId xmlns:a16="http://schemas.microsoft.com/office/drawing/2014/main" id="{67D92D25-44E7-E9BB-697B-B5F6A519F27B}"/>
                </a:ext>
              </a:extLst>
            </p:cNvPr>
            <p:cNvSpPr txBox="1"/>
            <p:nvPr/>
          </p:nvSpPr>
          <p:spPr>
            <a:xfrm>
              <a:off x="21704" y="28003"/>
              <a:ext cx="5537526" cy="40119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72375" tIns="72375" rIns="72375" bIns="7237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rPr lang="en-US" sz="4000" b="1" dirty="0">
                  <a:solidFill>
                    <a:schemeClr val="bg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</a:t>
              </a:r>
              <a:r>
                <a:rPr lang="en-US" sz="4000" b="1" i="0" u="none" strike="noStrike" cap="none" dirty="0">
                  <a:solidFill>
                    <a:schemeClr val="bg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  <a:sym typeface="Arial"/>
                </a:rPr>
                <a:t>eferences/ Articles/ Videos</a:t>
              </a:r>
            </a:p>
          </p:txBody>
        </p:sp>
      </p:grpSp>
      <p:sp>
        <p:nvSpPr>
          <p:cNvPr id="111" name="Google Shape;111;p2">
            <a:extLst>
              <a:ext uri="{FF2B5EF4-FFF2-40B4-BE49-F238E27FC236}">
                <a16:creationId xmlns:a16="http://schemas.microsoft.com/office/drawing/2014/main" id="{95329CA0-B433-F78D-DDAC-218F49813D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5500" y="1422025"/>
            <a:ext cx="8001000" cy="2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bg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2400" b="1" i="0" u="none" strike="noStrike" cap="none">
              <a:solidFill>
                <a:schemeClr val="bg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bg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2400" b="0" i="0" u="none">
              <a:solidFill>
                <a:schemeClr val="bg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3" name="Google Shape;113;p2">
            <a:extLst>
              <a:ext uri="{FF2B5EF4-FFF2-40B4-BE49-F238E27FC236}">
                <a16:creationId xmlns:a16="http://schemas.microsoft.com/office/drawing/2014/main" id="{E730872A-040D-2549-AF98-86A7A4840E43}"/>
              </a:ext>
            </a:extLst>
          </p:cNvPr>
          <p:cNvSpPr txBox="1"/>
          <p:nvPr/>
        </p:nvSpPr>
        <p:spPr>
          <a:xfrm>
            <a:off x="83127" y="1817005"/>
            <a:ext cx="8942119" cy="895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>
              <a:lnSpc>
                <a:spcPct val="90000"/>
              </a:lnSpc>
            </a:pPr>
            <a:r>
              <a:rPr lang="en-US" sz="2800" b="0" i="0" u="none" strike="noStrike" cap="none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3"/>
              </a:rPr>
              <a:t>https://youtu.be/zT83sJ5IrEE?si=s329YN-VxBpzZNd8</a:t>
            </a:r>
            <a:endParaRPr lang="en-US" sz="2800" b="0" i="0" u="none" strike="noStrike" cap="none" dirty="0">
              <a:solidFill>
                <a:schemeClr val="bg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lvl="0" algn="just">
              <a:lnSpc>
                <a:spcPct val="90000"/>
              </a:lnSpc>
            </a:pPr>
            <a:endParaRPr lang="en-US" sz="3000" b="0" i="0" u="none" strike="noStrike" cap="none" dirty="0">
              <a:solidFill>
                <a:schemeClr val="bg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609524" y="8598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294786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687ED0C6-7719-FB97-ED94-7F5CE38D0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Google Shape;108;p2">
            <a:extLst>
              <a:ext uri="{FF2B5EF4-FFF2-40B4-BE49-F238E27FC236}">
                <a16:creationId xmlns:a16="http://schemas.microsoft.com/office/drawing/2014/main" id="{91D700B6-6EB7-B931-A6BA-3293795C4FD6}"/>
              </a:ext>
            </a:extLst>
          </p:cNvPr>
          <p:cNvGrpSpPr/>
          <p:nvPr/>
        </p:nvGrpSpPr>
        <p:grpSpPr>
          <a:xfrm>
            <a:off x="715861" y="-42871"/>
            <a:ext cx="8277101" cy="1217475"/>
            <a:chOff x="0" y="6299"/>
            <a:chExt cx="5580934" cy="1217475"/>
          </a:xfrm>
          <a:noFill/>
        </p:grpSpPr>
        <p:sp>
          <p:nvSpPr>
            <p:cNvPr id="109" name="Google Shape;109;p2">
              <a:extLst>
                <a:ext uri="{FF2B5EF4-FFF2-40B4-BE49-F238E27FC236}">
                  <a16:creationId xmlns:a16="http://schemas.microsoft.com/office/drawing/2014/main" id="{D9F7BC64-7A52-69C2-0340-DEC4747604CB}"/>
                </a:ext>
              </a:extLst>
            </p:cNvPr>
            <p:cNvSpPr/>
            <p:nvPr/>
          </p:nvSpPr>
          <p:spPr>
            <a:xfrm>
              <a:off x="0" y="6299"/>
              <a:ext cx="5580934" cy="444600"/>
            </a:xfrm>
            <a:prstGeom prst="roundRect">
              <a:avLst>
                <a:gd name="adj" fmla="val 16667"/>
              </a:avLst>
            </a:prstGeom>
            <a:grpFill/>
            <a:ln>
              <a:noFill/>
            </a:ln>
            <a:effectLst>
              <a:outerShdw blurRad="40000" dist="20000" dir="5400000" rotWithShape="0">
                <a:srgbClr val="000000">
                  <a:alpha val="3764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bg2"/>
                </a:solidFill>
              </a:endParaRPr>
            </a:p>
          </p:txBody>
        </p:sp>
        <p:sp>
          <p:nvSpPr>
            <p:cNvPr id="110" name="Google Shape;110;p2">
              <a:extLst>
                <a:ext uri="{FF2B5EF4-FFF2-40B4-BE49-F238E27FC236}">
                  <a16:creationId xmlns:a16="http://schemas.microsoft.com/office/drawing/2014/main" id="{DD12C81D-38E2-6BA8-4944-E9161F70F1EA}"/>
                </a:ext>
              </a:extLst>
            </p:cNvPr>
            <p:cNvSpPr txBox="1"/>
            <p:nvPr/>
          </p:nvSpPr>
          <p:spPr>
            <a:xfrm>
              <a:off x="0" y="822582"/>
              <a:ext cx="5537526" cy="40119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72375" tIns="72375" rIns="72375" bIns="72375" anchor="ctr" anchorCtr="0">
              <a:noAutofit/>
            </a:bodyPr>
            <a:lstStyle/>
            <a:p>
              <a:pPr lvl="0" algn="just">
                <a:lnSpc>
                  <a:spcPct val="90000"/>
                </a:lnSpc>
                <a:buSzPts val="1900"/>
              </a:pPr>
              <a:r>
                <a:rPr lang="en-US" sz="4000" b="1" dirty="0">
                  <a:solidFill>
                    <a:schemeClr val="bg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Faculty-curated videos, NPTEL, Coursera, LinkedIn, or other relevant learning resources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8609524" y="8598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dirty="0"/>
              <a:t>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4A85E0-4100-F66B-64AD-E75BC4178BFF}"/>
              </a:ext>
            </a:extLst>
          </p:cNvPr>
          <p:cNvSpPr txBox="1"/>
          <p:nvPr/>
        </p:nvSpPr>
        <p:spPr>
          <a:xfrm>
            <a:off x="715861" y="2294413"/>
            <a:ext cx="7752278" cy="7571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0" i="0" u="none" strike="noStrike" cap="none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3"/>
              </a:rPr>
              <a:t>https://onlinecourses.nptel.ac.in/noc26_ma62/preview</a:t>
            </a:r>
            <a:endParaRPr lang="en-US" sz="2400" b="0" i="0" u="none" strike="noStrike" cap="none" dirty="0">
              <a:solidFill>
                <a:schemeClr val="bg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marR="0" lvl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0" i="0" u="none" strike="noStrike" cap="none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https://</a:t>
            </a:r>
            <a:r>
              <a:rPr lang="en-US" sz="2400" b="0" i="0" u="none" strike="noStrike" cap="none" dirty="0" err="1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onlinecourses.nptel.ac.in</a:t>
            </a:r>
            <a:r>
              <a:rPr lang="en-US" sz="2400" b="0" i="0" u="none" strike="noStrike" cap="none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/noc26_ma20/preview</a:t>
            </a:r>
          </a:p>
        </p:txBody>
      </p:sp>
    </p:spTree>
    <p:extLst>
      <p:ext uri="{BB962C8B-B14F-4D97-AF65-F5344CB8AC3E}">
        <p14:creationId xmlns:p14="http://schemas.microsoft.com/office/powerpoint/2010/main" val="3288866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C6F26A9A-51A8-DA0C-152B-AD37E9CE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Google Shape;108;p2">
            <a:extLst>
              <a:ext uri="{FF2B5EF4-FFF2-40B4-BE49-F238E27FC236}">
                <a16:creationId xmlns:a16="http://schemas.microsoft.com/office/drawing/2014/main" id="{A2A21673-0A1D-F07A-5F4A-24C8EDC3204D}"/>
              </a:ext>
            </a:extLst>
          </p:cNvPr>
          <p:cNvGrpSpPr/>
          <p:nvPr/>
        </p:nvGrpSpPr>
        <p:grpSpPr>
          <a:xfrm>
            <a:off x="712518" y="218172"/>
            <a:ext cx="8312727" cy="444600"/>
            <a:chOff x="0" y="6299"/>
            <a:chExt cx="5580934" cy="444600"/>
          </a:xfrm>
          <a:noFill/>
        </p:grpSpPr>
        <p:sp>
          <p:nvSpPr>
            <p:cNvPr id="109" name="Google Shape;109;p2">
              <a:extLst>
                <a:ext uri="{FF2B5EF4-FFF2-40B4-BE49-F238E27FC236}">
                  <a16:creationId xmlns:a16="http://schemas.microsoft.com/office/drawing/2014/main" id="{D38799F9-4E43-3EC1-B502-26CB35DA3A64}"/>
                </a:ext>
              </a:extLst>
            </p:cNvPr>
            <p:cNvSpPr/>
            <p:nvPr/>
          </p:nvSpPr>
          <p:spPr>
            <a:xfrm>
              <a:off x="0" y="6299"/>
              <a:ext cx="5580934" cy="444600"/>
            </a:xfrm>
            <a:prstGeom prst="roundRect">
              <a:avLst>
                <a:gd name="adj" fmla="val 16667"/>
              </a:avLst>
            </a:prstGeom>
            <a:grpFill/>
            <a:ln>
              <a:noFill/>
            </a:ln>
            <a:effectLst>
              <a:outerShdw blurRad="40000" dist="20000" dir="5400000" rotWithShape="0">
                <a:srgbClr val="000000">
                  <a:alpha val="3764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bg2"/>
                </a:solidFill>
              </a:endParaRPr>
            </a:p>
          </p:txBody>
        </p:sp>
        <p:sp>
          <p:nvSpPr>
            <p:cNvPr id="110" name="Google Shape;110;p2">
              <a:extLst>
                <a:ext uri="{FF2B5EF4-FFF2-40B4-BE49-F238E27FC236}">
                  <a16:creationId xmlns:a16="http://schemas.microsoft.com/office/drawing/2014/main" id="{1167C827-DCC4-87E3-24C7-4E2CCEE8F404}"/>
                </a:ext>
              </a:extLst>
            </p:cNvPr>
            <p:cNvSpPr txBox="1"/>
            <p:nvPr/>
          </p:nvSpPr>
          <p:spPr>
            <a:xfrm>
              <a:off x="21704" y="28003"/>
              <a:ext cx="5537526" cy="401192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72375" tIns="72375" rIns="72375" bIns="72375" anchor="ctr" anchorCtr="0">
              <a:noAutofit/>
            </a:bodyPr>
            <a:lstStyle/>
            <a:p>
              <a:pPr lvl="0" algn="ctr">
                <a:lnSpc>
                  <a:spcPct val="90000"/>
                </a:lnSpc>
                <a:buSzPts val="1900"/>
              </a:pPr>
              <a:r>
                <a:rPr lang="en-US" sz="4000" b="1" i="0" u="none" strike="noStrike" cap="none" dirty="0">
                  <a:solidFill>
                    <a:schemeClr val="bg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  <a:sym typeface="Arial"/>
                </a:rPr>
                <a:t>Class-Wise </a:t>
              </a:r>
              <a:r>
                <a:rPr lang="en-IN" sz="4000" b="1" dirty="0">
                  <a:solidFill>
                    <a:schemeClr val="bg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  <a:endParaRPr lang="en-US" sz="4000" b="1" i="0" u="none" strike="noStrike" cap="none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endParaRPr>
            </a:p>
          </p:txBody>
        </p:sp>
      </p:grpSp>
      <p:sp>
        <p:nvSpPr>
          <p:cNvPr id="111" name="Google Shape;111;p2">
            <a:extLst>
              <a:ext uri="{FF2B5EF4-FFF2-40B4-BE49-F238E27FC236}">
                <a16:creationId xmlns:a16="http://schemas.microsoft.com/office/drawing/2014/main" id="{BD6EBDB1-8664-1692-8A39-12350449E1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-315311" y="1117226"/>
            <a:ext cx="9459311" cy="2655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342900" indent="-342900" algn="just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600" b="0" i="0" u="none" strike="noStrike" cap="none" dirty="0">
                <a:solidFill>
                  <a:schemeClr val="bg2"/>
                </a:solidFill>
                <a:latin typeface="Calibri" panose="020F0502020204030204" pitchFamily="34" charset="0"/>
                <a:ea typeface="Times New Roman"/>
                <a:cs typeface="Calibri" panose="020F0502020204030204" pitchFamily="34" charset="0"/>
                <a:sym typeface="Times New Roman"/>
              </a:rPr>
              <a:t> 	</a:t>
            </a:r>
            <a:r>
              <a:rPr lang="en-US" sz="3000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Faculty members are encouraged to generate a class specific QR code at the end of each session to collect brief student feedback. This can support self-reflection, improve teaching practices, and allow students to share insights, suggestions, or concerns anonymously.</a:t>
            </a:r>
            <a:endParaRPr lang="en-US" sz="3000" dirty="0">
              <a:solidFill>
                <a:schemeClr val="bg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1" i="0" u="none" strike="noStrike" cap="none" dirty="0">
              <a:solidFill>
                <a:schemeClr val="bg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bg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2400" b="0" i="0" u="none" dirty="0">
              <a:solidFill>
                <a:schemeClr val="bg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09524" y="8598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217963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8A55AB18-D4CA-00FD-9048-6518AF6BF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">
            <a:extLst>
              <a:ext uri="{FF2B5EF4-FFF2-40B4-BE49-F238E27FC236}">
                <a16:creationId xmlns:a16="http://schemas.microsoft.com/office/drawing/2014/main" id="{F1900A86-A15B-28B5-54CA-49F17AC3B9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5500" y="1422025"/>
            <a:ext cx="8001000" cy="2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bg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2400" b="1" i="0" u="none" strike="noStrike" cap="none" dirty="0">
              <a:solidFill>
                <a:schemeClr val="bg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bg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2400" b="0" i="0" u="none" dirty="0">
              <a:solidFill>
                <a:schemeClr val="bg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3" name="Google Shape;113;p2">
            <a:extLst>
              <a:ext uri="{FF2B5EF4-FFF2-40B4-BE49-F238E27FC236}">
                <a16:creationId xmlns:a16="http://schemas.microsoft.com/office/drawing/2014/main" id="{11F095B4-BE95-F6C7-73C0-ED3F8AB0372C}"/>
              </a:ext>
            </a:extLst>
          </p:cNvPr>
          <p:cNvSpPr txBox="1"/>
          <p:nvPr/>
        </p:nvSpPr>
        <p:spPr>
          <a:xfrm>
            <a:off x="385500" y="2170166"/>
            <a:ext cx="8471559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1" u="none" strike="noStrike" cap="none" dirty="0">
                <a:solidFill>
                  <a:srgbClr val="FF0000"/>
                </a:solidFill>
                <a:latin typeface="Vladimir Script" panose="03050402040407070305" pitchFamily="66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2A2976-DC1D-EB73-7C31-7FA517DF4948}"/>
              </a:ext>
            </a:extLst>
          </p:cNvPr>
          <p:cNvSpPr txBox="1"/>
          <p:nvPr/>
        </p:nvSpPr>
        <p:spPr>
          <a:xfrm>
            <a:off x="385500" y="3948192"/>
            <a:ext cx="457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 queries</a:t>
            </a:r>
          </a:p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Email: heena.e6398@cumail.in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09524" y="8598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86127203"/>
      </p:ext>
    </p:extLst>
  </p:cSld>
  <p:clrMapOvr>
    <a:masterClrMapping/>
  </p:clrMapOvr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716</TotalTime>
  <Words>448</Words>
  <Application>Microsoft Macintosh PowerPoint</Application>
  <PresentationFormat>On-screen Show (16:9)</PresentationFormat>
  <Paragraphs>69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Calibri</vt:lpstr>
      <vt:lpstr>Lato</vt:lpstr>
      <vt:lpstr>Cambria Math</vt:lpstr>
      <vt:lpstr>Vladimir Script</vt:lpstr>
      <vt:lpstr>Arial Black</vt:lpstr>
      <vt:lpstr>Arial</vt:lpstr>
      <vt:lpstr>Cambria</vt:lpstr>
      <vt:lpstr>Times New Roman</vt:lpstr>
      <vt:lpstr>Streamline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sony</dc:creator>
  <cp:lastModifiedBy>Microsoft Office User</cp:lastModifiedBy>
  <cp:revision>78</cp:revision>
  <dcterms:modified xsi:type="dcterms:W3CDTF">2025-12-06T08:54:15Z</dcterms:modified>
</cp:coreProperties>
</file>