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83" r:id="rId3"/>
    <p:sldId id="284" r:id="rId4"/>
    <p:sldId id="306" r:id="rId5"/>
    <p:sldId id="285" r:id="rId6"/>
    <p:sldId id="310" r:id="rId7"/>
    <p:sldId id="308" r:id="rId8"/>
    <p:sldId id="300" r:id="rId9"/>
    <p:sldId id="301" r:id="rId10"/>
    <p:sldId id="307" r:id="rId11"/>
    <p:sldId id="305" r:id="rId12"/>
  </p:sldIdLst>
  <p:sldSz cx="9144000" cy="5143500" type="screen16x9"/>
  <p:notesSz cx="6858000" cy="9144000"/>
  <p:embeddedFontLst>
    <p:embeddedFont>
      <p:font typeface="Arial Black" panose="020B0604020202020204" pitchFamily="34" charset="0"/>
      <p:bold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mbria" panose="02040503050406030204" pitchFamily="18" charset="0"/>
      <p:regular r:id="rId19"/>
      <p:bold r:id="rId20"/>
      <p:italic r:id="rId21"/>
      <p:boldItalic r:id="rId22"/>
    </p:embeddedFon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Vladimir Script" panose="03050402040407070305" pitchFamily="66" charset="77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88"/>
    <p:restoredTop sz="94737"/>
  </p:normalViewPr>
  <p:slideViewPr>
    <p:cSldViewPr snapToGrid="0">
      <p:cViewPr varScale="1">
        <p:scale>
          <a:sx n="52" d="100"/>
          <a:sy n="52" d="100"/>
        </p:scale>
        <p:origin x="200" y="17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BB2C93B-7FE2-A8D6-21D2-CB1FAAB4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35863A3-7B58-0DD0-4438-352440F08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C70A685-A7E2-6333-F188-6854C8061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1916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4297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90944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49765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18896A3-CA15-4C87-8FB7-24487FE5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9BF4E4D-8363-3E77-BFA5-048BFD297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1179ABD-E767-1A65-FB79-9B790ADA6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7033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1823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courses.nptel.ac.in/noc26_ma62/preview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71896" y="618294"/>
            <a:ext cx="7602983" cy="408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UNIVERSITY INSTITUTE OF 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ENGINEERING</a:t>
            </a:r>
            <a:endParaRPr sz="2000" b="0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CSE 3</a:t>
            </a:r>
            <a:r>
              <a:rPr lang="en-US" sz="2000" b="1" i="0" u="none" strike="noStrike" cap="none" baseline="30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RD</a:t>
            </a: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 YEAR</a:t>
            </a:r>
            <a:endParaRPr sz="2000" b="0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CS201/CS202/CS703/CS704/IT201/IT202/BI519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5</a:t>
            </a:r>
            <a:r>
              <a:rPr lang="en-US" sz="2000" baseline="30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TH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SEMESTER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NUMERICAL METHODS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(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23SMH-341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)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 No. 1                     Chapter No. </a:t>
            </a:r>
            <a:r>
              <a:rPr lang="en-US" sz="20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                    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 No. 2.2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Topic : </a:t>
            </a:r>
            <a:r>
              <a:rPr lang="en-IN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Transcendental Equations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Faculty Name and E-Code: Dr. Heena Sharma (E6398)                                                        Designation: Assistant Professor</a:t>
            </a:r>
            <a:endParaRPr lang="en-US" sz="2000" b="1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63C2A9-B054-BA3C-AEDE-C0C1F44D2B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623150"/>
              </p:ext>
            </p:extLst>
          </p:nvPr>
        </p:nvGraphicFramePr>
        <p:xfrm>
          <a:off x="724394" y="1205836"/>
          <a:ext cx="7705928" cy="1188847"/>
        </p:xfrm>
        <a:graphic>
          <a:graphicData uri="http://schemas.openxmlformats.org/drawingml/2006/table">
            <a:tbl>
              <a:tblPr bandRow="1">
                <a:tableStyleId>{97377635-EB9D-4884-B79A-0D259F93817B}</a:tableStyleId>
              </a:tblPr>
              <a:tblGrid>
                <a:gridCol w="7705928">
                  <a:extLst>
                    <a:ext uri="{9D8B030D-6E8A-4147-A177-3AD203B41FA5}">
                      <a16:colId xmlns:a16="http://schemas.microsoft.com/office/drawing/2014/main" val="3423502139"/>
                    </a:ext>
                  </a:extLst>
                </a:gridCol>
              </a:tblGrid>
              <a:tr h="6125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IN" sz="3000" kern="100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CO2: </a:t>
                      </a:r>
                      <a:r>
                        <a:rPr lang="en-IN" sz="2500" b="0" i="0" u="none" strike="noStrike" cap="none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Students will be able to understand the techniques used for solving linear and nonlinear Algebra.</a:t>
                      </a:r>
                      <a:endParaRPr lang="en-IN" sz="2500" kern="1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2089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F165C73-F363-A304-734E-7CBF8D3F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7B7C442-1162-E7EE-DA61-E33D8E4C9122}"/>
              </a:ext>
            </a:extLst>
          </p:cNvPr>
          <p:cNvGrpSpPr/>
          <p:nvPr/>
        </p:nvGrpSpPr>
        <p:grpSpPr>
          <a:xfrm>
            <a:off x="760020" y="218172"/>
            <a:ext cx="826522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8E0F9992-62FC-4C63-BED6-091FF56DEF0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FBE6ABC-C3B9-AA73-42F9-036BD547E8E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48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Equation Classification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B576DE2-C283-2E3E-CC36-4B7ABE8B8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3427E39E-1443-8E67-323E-AC3515D4A144}"/>
              </a:ext>
            </a:extLst>
          </p:cNvPr>
          <p:cNvSpPr txBox="1"/>
          <p:nvPr/>
        </p:nvSpPr>
        <p:spPr>
          <a:xfrm>
            <a:off x="183173" y="1118013"/>
            <a:ext cx="8548451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IN" sz="28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Equations encountered in numerical methods are broadly classified into:</a:t>
            </a:r>
          </a:p>
          <a:p>
            <a:pPr algn="l">
              <a:lnSpc>
                <a:spcPct val="150000"/>
              </a:lnSpc>
            </a:pPr>
            <a:endParaRPr lang="en-IN" sz="28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Polynomial Equations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Transcendental Equations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3751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4D069F-9FE0-0231-78ED-F358A7B5195C}"/>
              </a:ext>
            </a:extLst>
          </p:cNvPr>
          <p:cNvSpPr txBox="1"/>
          <p:nvPr/>
        </p:nvSpPr>
        <p:spPr>
          <a:xfrm>
            <a:off x="780585" y="-8910"/>
            <a:ext cx="81129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48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Transcendental Equations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28A36-3260-6453-8999-4CF7DCC05C61}"/>
              </a:ext>
            </a:extLst>
          </p:cNvPr>
          <p:cNvSpPr txBox="1"/>
          <p:nvPr/>
        </p:nvSpPr>
        <p:spPr>
          <a:xfrm>
            <a:off x="317241" y="1146021"/>
            <a:ext cx="8576335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Definition</a:t>
            </a:r>
          </a:p>
          <a:p>
            <a:pPr algn="l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An equation containing non-algebraic functions such as exponential, logarithmic, trigonometric, or hyperbolic functions.</a:t>
            </a:r>
          </a:p>
          <a:p>
            <a:pPr algn="l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General Form</a:t>
            </a:r>
          </a:p>
          <a:p>
            <a:pPr algn="ctr"/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f(x) = 0</a:t>
            </a:r>
          </a:p>
          <a:p>
            <a:endParaRPr lang="en-IN" sz="20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where f(x) includes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sine, cosine, exponential, logarithm, etc.</a:t>
            </a:r>
          </a:p>
          <a:p>
            <a:pPr algn="l"/>
            <a:endParaRPr lang="en-IN" sz="2600" b="0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230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40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Non-Algebraic Functions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371409" y="1256227"/>
            <a:ext cx="8401181" cy="3316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Exponential:</a:t>
            </a:r>
            <a:r>
              <a:rPr lang="en-IN" sz="3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e</a:t>
            </a:r>
            <a:r>
              <a:rPr lang="en-IN" sz="3600" b="0" i="0" baseline="3000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</a:t>
            </a:r>
            <a:endParaRPr lang="en-IN" sz="36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Logarithmic:</a:t>
            </a:r>
            <a:r>
              <a:rPr lang="en-IN" sz="3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ln x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Trigonometric:</a:t>
            </a:r>
            <a:r>
              <a:rPr lang="en-IN" sz="3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sin x, cos x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Hyperbolic:</a:t>
            </a:r>
            <a:r>
              <a:rPr lang="en-IN" sz="3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</a:t>
            </a:r>
            <a:r>
              <a:rPr lang="en-IN" sz="3600" b="0" i="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sinh</a:t>
            </a:r>
            <a:r>
              <a:rPr lang="en-IN" sz="3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x, cosh x</a:t>
            </a:r>
          </a:p>
        </p:txBody>
      </p:sp>
    </p:spTree>
    <p:extLst>
      <p:ext uri="{BB962C8B-B14F-4D97-AF65-F5344CB8AC3E}">
        <p14:creationId xmlns:p14="http://schemas.microsoft.com/office/powerpoint/2010/main" val="1211972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40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Examples of Polynomial Equations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371409" y="1301953"/>
            <a:ext cx="840118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1. e</a:t>
            </a:r>
            <a:r>
              <a:rPr lang="en-IN" sz="3600" b="0" i="0" baseline="3000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IN" sz="3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+ 3x = 0</a:t>
            </a:r>
          </a:p>
          <a:p>
            <a:pPr algn="l"/>
            <a:r>
              <a:rPr lang="en-IN" sz="3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2. sin x − x/2 = 0</a:t>
            </a:r>
          </a:p>
          <a:p>
            <a:pPr algn="l"/>
            <a:r>
              <a:rPr lang="en-IN" sz="3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3. ln x + x</a:t>
            </a:r>
            <a:r>
              <a:rPr lang="en-IN" sz="3600" b="0" i="0" baseline="3000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2</a:t>
            </a:r>
            <a:r>
              <a:rPr lang="en-IN" sz="3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= 0</a:t>
            </a:r>
          </a:p>
          <a:p>
            <a:pPr algn="l"/>
            <a:r>
              <a:rPr lang="en-IN" sz="3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4. cos x − x = 0</a:t>
            </a:r>
          </a:p>
          <a:p>
            <a:pPr algn="l"/>
            <a:r>
              <a:rPr lang="en-IN" sz="3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5. e</a:t>
            </a:r>
            <a:r>
              <a:rPr lang="en-IN" sz="3600" b="0" i="0" baseline="3000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IN" sz="3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− 2x − 1 = 0</a:t>
            </a:r>
          </a:p>
        </p:txBody>
      </p:sp>
    </p:spTree>
    <p:extLst>
      <p:ext uri="{BB962C8B-B14F-4D97-AF65-F5344CB8AC3E}">
        <p14:creationId xmlns:p14="http://schemas.microsoft.com/office/powerpoint/2010/main" val="2673081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40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Characteristics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208342" y="1100377"/>
            <a:ext cx="8401181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IN" sz="24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Solutions</a:t>
            </a:r>
          </a:p>
          <a:p>
            <a:pPr algn="l">
              <a:lnSpc>
                <a:spcPct val="150000"/>
              </a:lnSpc>
            </a:pPr>
            <a:r>
              <a:rPr lang="en-IN" sz="24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Solutions may be multiple or infinite in number.</a:t>
            </a:r>
          </a:p>
          <a:p>
            <a:pPr algn="l">
              <a:lnSpc>
                <a:spcPct val="150000"/>
              </a:lnSpc>
            </a:pPr>
            <a:endParaRPr lang="en-IN" sz="2400" b="1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IN" sz="24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Function </a:t>
            </a:r>
            <a:r>
              <a:rPr lang="en-IN" sz="2400" b="1" i="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Behavior</a:t>
            </a:r>
            <a:endParaRPr lang="en-IN" sz="2400" b="1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IN" sz="2400" b="0" i="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Behavior</a:t>
            </a:r>
            <a:r>
              <a:rPr lang="en-IN" sz="24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is often non-linear and oscillatory.</a:t>
            </a:r>
          </a:p>
        </p:txBody>
      </p:sp>
    </p:spTree>
    <p:extLst>
      <p:ext uri="{BB962C8B-B14F-4D97-AF65-F5344CB8AC3E}">
        <p14:creationId xmlns:p14="http://schemas.microsoft.com/office/powerpoint/2010/main" val="3687294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817005"/>
            <a:ext cx="8942119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lnSpc>
                <a:spcPct val="90000"/>
              </a:lnSpc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https://</a:t>
            </a:r>
            <a:r>
              <a:rPr lang="en-US" sz="28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youtu.be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/at1P2AOzB_8?si=</a:t>
            </a:r>
            <a:r>
              <a:rPr lang="en-US" sz="28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knHPZDjepmBEgphu</a:t>
            </a:r>
            <a:endParaRPr lang="en-US" sz="30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87ED0C6-7719-FB97-ED94-7F5CE38D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1D700B6-6EB7-B931-A6BA-3293795C4FD6}"/>
              </a:ext>
            </a:extLst>
          </p:cNvPr>
          <p:cNvGrpSpPr/>
          <p:nvPr/>
        </p:nvGrpSpPr>
        <p:grpSpPr>
          <a:xfrm>
            <a:off x="715861" y="-42871"/>
            <a:ext cx="8277101" cy="1217475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9F7BC64-7A52-69C2-0340-DEC4747604C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D12C81D-38E2-6BA8-4944-E9161F70F1EA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Faculty-curated videos, NPTEL, Coursera, LinkedIn, or other relevant learning resources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4A85E0-4100-F66B-64AD-E75BC4178BFF}"/>
              </a:ext>
            </a:extLst>
          </p:cNvPr>
          <p:cNvSpPr txBox="1"/>
          <p:nvPr/>
        </p:nvSpPr>
        <p:spPr>
          <a:xfrm>
            <a:off x="715861" y="2294413"/>
            <a:ext cx="7752278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3"/>
              </a:rPr>
              <a:t>https://onlinecourses.nptel.ac.in/noc26_ma62/preview</a:t>
            </a:r>
            <a:endParaRPr lang="en-US" sz="24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https://</a:t>
            </a:r>
            <a:r>
              <a:rPr lang="en-US" sz="24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onlinecourses.nptel.ac.in</a:t>
            </a: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/noc26_ma20/preview</a:t>
            </a:r>
          </a:p>
        </p:txBody>
      </p:sp>
    </p:spTree>
    <p:extLst>
      <p:ext uri="{BB962C8B-B14F-4D97-AF65-F5344CB8AC3E}">
        <p14:creationId xmlns:p14="http://schemas.microsoft.com/office/powerpoint/2010/main" val="3288866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Class-Wise </a:t>
              </a: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315311" y="1117226"/>
            <a:ext cx="9459311" cy="265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	</a:t>
            </a:r>
            <a:r>
              <a:rPr lang="en-US" sz="3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 members are encouraged to generate a class specific QR code at the end of each session to collect brief student feedback. This can support self-reflection, improve teaching practices, and allow students to share insights, suggestions, or concerns anonymously.</a:t>
            </a:r>
            <a:endParaRPr lang="en-US" sz="3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17963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heena.e6398@cumail.in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807</TotalTime>
  <Words>376</Words>
  <Application>Microsoft Macintosh PowerPoint</Application>
  <PresentationFormat>On-screen Show (16:9)</PresentationFormat>
  <Paragraphs>70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Calibri</vt:lpstr>
      <vt:lpstr>Lato</vt:lpstr>
      <vt:lpstr>Vladimir Script</vt:lpstr>
      <vt:lpstr>Arial Black</vt:lpstr>
      <vt:lpstr>Arial</vt:lpstr>
      <vt:lpstr>Cambria</vt:lpstr>
      <vt:lpstr>Times New Roman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Microsoft Office User</cp:lastModifiedBy>
  <cp:revision>94</cp:revision>
  <dcterms:modified xsi:type="dcterms:W3CDTF">2025-12-06T10:29:52Z</dcterms:modified>
</cp:coreProperties>
</file>