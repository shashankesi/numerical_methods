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83" r:id="rId3"/>
    <p:sldId id="284" r:id="rId4"/>
    <p:sldId id="306" r:id="rId5"/>
    <p:sldId id="285" r:id="rId6"/>
    <p:sldId id="310" r:id="rId7"/>
    <p:sldId id="308" r:id="rId8"/>
    <p:sldId id="312" r:id="rId9"/>
    <p:sldId id="313" r:id="rId10"/>
    <p:sldId id="315" r:id="rId11"/>
    <p:sldId id="314" r:id="rId12"/>
    <p:sldId id="300" r:id="rId13"/>
    <p:sldId id="301" r:id="rId14"/>
    <p:sldId id="307" r:id="rId15"/>
    <p:sldId id="305" r:id="rId16"/>
  </p:sldIdLst>
  <p:sldSz cx="9144000" cy="5143500" type="screen16x9"/>
  <p:notesSz cx="6858000" cy="9144000"/>
  <p:embeddedFontLst>
    <p:embeddedFont>
      <p:font typeface="Arial Black" panose="020B0604020202020204" pitchFamily="34" charset="0"/>
      <p:bold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Cambria" panose="02040503050406030204" pitchFamily="18" charset="0"/>
      <p:regular r:id="rId23"/>
      <p:bold r:id="rId24"/>
      <p:italic r:id="rId25"/>
      <p:boldItalic r:id="rId26"/>
    </p:embeddedFont>
    <p:embeddedFont>
      <p:font typeface="Lato" panose="020F0502020204030203" pitchFamily="34" charset="0"/>
      <p:regular r:id="rId27"/>
      <p:bold r:id="rId28"/>
      <p:italic r:id="rId29"/>
      <p:boldItalic r:id="rId30"/>
    </p:embeddedFont>
    <p:embeddedFont>
      <p:font typeface="Vladimir Script" panose="03050402040407070305" pitchFamily="66" charset="77"/>
      <p:regular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04"/>
    <p:restoredTop sz="94737"/>
  </p:normalViewPr>
  <p:slideViewPr>
    <p:cSldViewPr snapToGrid="0">
      <p:cViewPr varScale="1">
        <p:scale>
          <a:sx n="73" d="100"/>
          <a:sy n="73" d="100"/>
        </p:scale>
        <p:origin x="184" y="14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00AA9E-45AA-4AC2-8AA2-7DA856E9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550A3-8119-6875-5A21-C5D3DA1F8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1F8D45D-F0E2-4C9E-7AD4-3CC086F6FF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5182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BB2C93B-7FE2-A8D6-21D2-CB1FAAB41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35863A3-7B58-0DD0-4438-352440F081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C70A685-A7E2-6333-F188-6854C80611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1916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BF395B1-0DDA-EC2D-8CD4-6D4FF14A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24A4F30-E86A-115B-0CE7-D95241261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889E4CB-D564-C918-3A24-F3AEE033C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5963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4297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909449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497658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824425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628901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340144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89266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9D8B882-0A42-A997-B7C2-B7E4A79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0D5EBF7-7AF6-6579-8561-57B613E94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533F13B-1510-E87D-A49C-D1857BE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262007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18896A3-CA15-4C87-8FB7-24487FE57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9BF4E4D-8363-3E77-BFA5-048BFD297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1179ABD-E767-1A65-FB79-9B790ADA6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170333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418237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courses.nptel.ac.in/noc26_ma62/preview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771896" y="618294"/>
            <a:ext cx="7602983" cy="408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UNIVERSITY INSTITUTE OF </a:t>
            </a: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ENGINEERING</a:t>
            </a:r>
            <a:endParaRPr sz="2000" b="0" i="0" u="none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CSE 3</a:t>
            </a:r>
            <a:r>
              <a:rPr lang="en-US" sz="2000" b="1" i="0" u="none" strike="noStrike" cap="none" baseline="30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RD</a:t>
            </a: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 YEAR</a:t>
            </a:r>
            <a:endParaRPr sz="2000" b="0" i="0" u="none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CS201/CS202/CS703/CS704/IT201/IT202/BI519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5</a:t>
            </a:r>
            <a:r>
              <a:rPr lang="en-US" sz="2000" baseline="30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TH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 SEMESTER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NUMERICAL METHODS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(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23SMH-341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)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 No. 1                     Chapter No. 2                    Lecture No. 3.4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Topic : </a:t>
            </a:r>
            <a:r>
              <a:rPr lang="en-IN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Iteration Method</a:t>
            </a:r>
            <a:endParaRPr lang="en-IN" sz="20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120"/>
              </a:spcBef>
              <a:buSzPts val="3200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Faculty Name and E-Code: Dr. Heena Sharma (E6398)                                                        Designation: Assistant Professor</a:t>
            </a:r>
            <a:endParaRPr lang="en-US" sz="2000" b="1" i="0" u="none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2025-26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Semester Jan-Jun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EF27945-C1E1-DDBF-6B5A-32A668D1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63C2A9-B054-BA3C-AEDE-C0C1F44D2B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623150"/>
              </p:ext>
            </p:extLst>
          </p:nvPr>
        </p:nvGraphicFramePr>
        <p:xfrm>
          <a:off x="724394" y="1205836"/>
          <a:ext cx="7705928" cy="1188847"/>
        </p:xfrm>
        <a:graphic>
          <a:graphicData uri="http://schemas.openxmlformats.org/drawingml/2006/table">
            <a:tbl>
              <a:tblPr bandRow="1">
                <a:tableStyleId>{97377635-EB9D-4884-B79A-0D259F93817B}</a:tableStyleId>
              </a:tblPr>
              <a:tblGrid>
                <a:gridCol w="7705928">
                  <a:extLst>
                    <a:ext uri="{9D8B030D-6E8A-4147-A177-3AD203B41FA5}">
                      <a16:colId xmlns:a16="http://schemas.microsoft.com/office/drawing/2014/main" val="3423502139"/>
                    </a:ext>
                  </a:extLst>
                </a:gridCol>
              </a:tblGrid>
              <a:tr h="61256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IN" sz="3000" kern="100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CO2: </a:t>
                      </a:r>
                      <a:r>
                        <a:rPr lang="en-IN" sz="2500" b="0" i="0" u="none" strike="noStrike" cap="none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Students will be able to understand the techniques used for solving linear and nonlinear Algebra.</a:t>
                      </a:r>
                      <a:endParaRPr lang="en-IN" sz="2500" kern="1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2089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975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F165C73-F363-A304-734E-7CBF8D3F9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>
            <a:extLst>
              <a:ext uri="{FF2B5EF4-FFF2-40B4-BE49-F238E27FC236}">
                <a16:creationId xmlns:a16="http://schemas.microsoft.com/office/drawing/2014/main" id="{BFBE6ABC-C3B9-AA73-42F9-036BD547E8EB}"/>
              </a:ext>
            </a:extLst>
          </p:cNvPr>
          <p:cNvSpPr txBox="1"/>
          <p:nvPr/>
        </p:nvSpPr>
        <p:spPr>
          <a:xfrm>
            <a:off x="792163" y="239876"/>
            <a:ext cx="8200939" cy="401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375" tIns="72375" rIns="72375" bIns="72375" anchor="ctr" anchorCtr="0">
            <a:noAutofit/>
          </a:bodyPr>
          <a:lstStyle/>
          <a:p>
            <a:pPr algn="just"/>
            <a:r>
              <a:rPr lang="en-IN" sz="7200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Iteration Method</a:t>
            </a:r>
          </a:p>
        </p:txBody>
      </p: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B576DE2-C283-2E3E-CC36-4B7ABE8B8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3427E39E-1443-8E67-323E-AC3515D4A144}"/>
              </a:ext>
            </a:extLst>
          </p:cNvPr>
          <p:cNvSpPr txBox="1"/>
          <p:nvPr/>
        </p:nvSpPr>
        <p:spPr>
          <a:xfrm>
            <a:off x="183173" y="1118013"/>
            <a:ext cx="8548451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A method to find roots of f(x) = 0 by finding the </a:t>
            </a:r>
            <a:r>
              <a:rPr lang="en-IN" sz="36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intersection of y = x and y = </a:t>
            </a:r>
            <a:r>
              <a:rPr lang="el-GR" sz="36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φ(</a:t>
            </a:r>
            <a:r>
              <a:rPr lang="en-IN" sz="36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x)</a:t>
            </a:r>
            <a:endParaRPr lang="en-IN" sz="36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3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Also known as </a:t>
            </a:r>
            <a:r>
              <a:rPr lang="en-IN" sz="36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Fixed Point Iteration</a:t>
            </a:r>
            <a:r>
              <a:rPr lang="en-IN" sz="3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or </a:t>
            </a:r>
            <a:r>
              <a:rPr lang="en-IN" sz="36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Function Iteration</a:t>
            </a:r>
            <a:endParaRPr lang="en-IN" sz="36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37512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B83A878-A8C8-7563-ACC5-60FA0ECC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4D069F-9FE0-0231-78ED-F358A7B5195C}"/>
              </a:ext>
            </a:extLst>
          </p:cNvPr>
          <p:cNvSpPr txBox="1"/>
          <p:nvPr/>
        </p:nvSpPr>
        <p:spPr>
          <a:xfrm>
            <a:off x="780585" y="-8910"/>
            <a:ext cx="81129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4800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Method Principle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5422A5-C7DB-8C8F-211C-9730BBA10579}"/>
              </a:ext>
            </a:extLst>
          </p:cNvPr>
          <p:cNvSpPr txBox="1"/>
          <p:nvPr/>
        </p:nvSpPr>
        <p:spPr>
          <a:xfrm>
            <a:off x="527537" y="1351744"/>
            <a:ext cx="7948247" cy="3534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2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Step 1:</a:t>
            </a:r>
            <a:r>
              <a:rPr lang="en-IN" sz="32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Rewrite f(x) = 0 as x = </a:t>
            </a:r>
            <a:r>
              <a:rPr lang="el-GR" sz="32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φ(</a:t>
            </a:r>
            <a:r>
              <a:rPr lang="en-IN" sz="32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x)</a:t>
            </a:r>
          </a:p>
          <a:p>
            <a:pPr algn="just">
              <a:lnSpc>
                <a:spcPct val="150000"/>
              </a:lnSpc>
            </a:pPr>
            <a:r>
              <a:rPr lang="en-IN" sz="32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Step 2:</a:t>
            </a:r>
            <a:r>
              <a:rPr lang="en-IN" sz="32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Start with initial approximation x₀</a:t>
            </a:r>
          </a:p>
          <a:p>
            <a:pPr algn="just">
              <a:lnSpc>
                <a:spcPct val="150000"/>
              </a:lnSpc>
            </a:pPr>
            <a:r>
              <a:rPr lang="en-IN" sz="32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Step 3:</a:t>
            </a:r>
            <a:r>
              <a:rPr lang="en-IN" sz="32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Generate successive approximations:</a:t>
            </a:r>
          </a:p>
          <a:p>
            <a:pPr algn="ctr">
              <a:lnSpc>
                <a:spcPct val="150000"/>
              </a:lnSpc>
            </a:pPr>
            <a:r>
              <a:rPr lang="en-IN" sz="32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xₙ = </a:t>
            </a:r>
            <a:r>
              <a:rPr lang="el-GR" sz="32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φ(</a:t>
            </a:r>
            <a:r>
              <a:rPr lang="en-IN" sz="32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xₙ₋₁), n ≥ 1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230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40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Graphical Interpretation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E2C23-4867-1DDE-6ED1-03CE231953B5}"/>
              </a:ext>
            </a:extLst>
          </p:cNvPr>
          <p:cNvSpPr txBox="1"/>
          <p:nvPr/>
        </p:nvSpPr>
        <p:spPr>
          <a:xfrm>
            <a:off x="371409" y="771815"/>
            <a:ext cx="8401181" cy="4242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44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• </a:t>
            </a:r>
            <a:r>
              <a:rPr lang="en-IN" sz="3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Plot the line </a:t>
            </a:r>
            <a:r>
              <a:rPr lang="en-IN" sz="35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y = x</a:t>
            </a:r>
            <a:endParaRPr lang="en-IN" sz="35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3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• Plot the curve </a:t>
            </a:r>
            <a:r>
              <a:rPr lang="en-IN" sz="35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y = </a:t>
            </a:r>
            <a:r>
              <a:rPr lang="el-GR" sz="35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φ(</a:t>
            </a:r>
            <a:r>
              <a:rPr lang="en-IN" sz="35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x)</a:t>
            </a:r>
            <a:endParaRPr lang="en-IN" sz="35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3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• Find intersection point</a:t>
            </a:r>
          </a:p>
          <a:p>
            <a:pPr algn="just">
              <a:lnSpc>
                <a:spcPct val="150000"/>
              </a:lnSpc>
            </a:pPr>
            <a:r>
              <a:rPr lang="en-IN" sz="3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The intersection represents the root </a:t>
            </a:r>
            <a:r>
              <a:rPr lang="el-GR" sz="3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α </a:t>
            </a:r>
            <a:r>
              <a:rPr lang="en-IN" sz="3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where </a:t>
            </a:r>
            <a:r>
              <a:rPr lang="el-GR" sz="3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α = φ(α)</a:t>
            </a:r>
          </a:p>
        </p:txBody>
      </p:sp>
    </p:spTree>
    <p:extLst>
      <p:ext uri="{BB962C8B-B14F-4D97-AF65-F5344CB8AC3E}">
        <p14:creationId xmlns:p14="http://schemas.microsoft.com/office/powerpoint/2010/main" val="1211972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40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Convergence Theorem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020594" y="85987"/>
            <a:ext cx="846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86C027-8857-D7A5-E60C-5D523D4C81F5}"/>
              </a:ext>
            </a:extLst>
          </p:cNvPr>
          <p:cNvSpPr txBox="1"/>
          <p:nvPr/>
        </p:nvSpPr>
        <p:spPr>
          <a:xfrm>
            <a:off x="140677" y="903327"/>
            <a:ext cx="8884568" cy="3675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4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Conditions for Convergence:</a:t>
            </a:r>
            <a:endParaRPr lang="en-IN" sz="4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l-GR" sz="4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α </a:t>
            </a:r>
            <a:r>
              <a:rPr lang="en-IN" sz="4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is a root of f(x) = 0, i.e., </a:t>
            </a:r>
            <a:r>
              <a:rPr lang="el-GR" sz="4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α = φ(α)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 is an interval containing x = </a:t>
            </a:r>
            <a:r>
              <a:rPr lang="el-GR" sz="4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α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l-GR" sz="4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|φ'(</a:t>
            </a:r>
            <a:r>
              <a:rPr lang="en-IN" sz="4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x)| &lt; 1 for all x in I</a:t>
            </a:r>
          </a:p>
        </p:txBody>
      </p:sp>
    </p:spTree>
    <p:extLst>
      <p:ext uri="{BB962C8B-B14F-4D97-AF65-F5344CB8AC3E}">
        <p14:creationId xmlns:p14="http://schemas.microsoft.com/office/powerpoint/2010/main" val="2673081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35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Sufficient Convergence Condition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E2C23-4867-1DDE-6ED1-03CE231953B5}"/>
              </a:ext>
            </a:extLst>
          </p:cNvPr>
          <p:cNvSpPr txBox="1"/>
          <p:nvPr/>
        </p:nvSpPr>
        <p:spPr>
          <a:xfrm>
            <a:off x="208342" y="942112"/>
            <a:ext cx="8401181" cy="403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If |</a:t>
            </a:r>
            <a:r>
              <a:rPr lang="el-GR" sz="3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φ'(</a:t>
            </a:r>
            <a:r>
              <a:rPr lang="en-IN" sz="3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x)| &lt; 1 for all x in interval I containing root </a:t>
            </a:r>
            <a:r>
              <a:rPr lang="el-GR" sz="3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α, </a:t>
            </a:r>
            <a:r>
              <a:rPr lang="en-IN" sz="3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then:</a:t>
            </a:r>
          </a:p>
          <a:p>
            <a:pPr algn="just">
              <a:lnSpc>
                <a:spcPct val="150000"/>
              </a:lnSpc>
            </a:pPr>
            <a:r>
              <a:rPr lang="en-IN" sz="3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Sequence {xₙ} → </a:t>
            </a:r>
            <a:r>
              <a:rPr lang="el-GR" sz="3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α </a:t>
            </a:r>
            <a:r>
              <a:rPr lang="en-IN" sz="3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for any x₀ ∈ I</a:t>
            </a:r>
          </a:p>
          <a:p>
            <a:pPr algn="just">
              <a:lnSpc>
                <a:spcPct val="150000"/>
              </a:lnSpc>
            </a:pPr>
            <a:r>
              <a:rPr lang="en-IN" sz="35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Also: |xₙ - </a:t>
            </a:r>
            <a:r>
              <a:rPr lang="el-GR" sz="35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α| ≤ </a:t>
            </a:r>
            <a:r>
              <a:rPr lang="en-IN" sz="3500" b="1" i="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k</a:t>
            </a:r>
            <a:r>
              <a:rPr lang="en-IN" sz="3500" b="1" i="0" baseline="3000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n</a:t>
            </a:r>
            <a:r>
              <a:rPr lang="en-IN" sz="35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|x₀ - </a:t>
            </a:r>
            <a:r>
              <a:rPr lang="el-GR" sz="35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α|, </a:t>
            </a:r>
            <a:r>
              <a:rPr lang="en-IN" sz="35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where k = max|</a:t>
            </a:r>
            <a:r>
              <a:rPr lang="el-GR" sz="35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φ'(</a:t>
            </a:r>
            <a:r>
              <a:rPr lang="en-IN" sz="35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x)|</a:t>
            </a:r>
            <a:endParaRPr lang="en-IN" sz="35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294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r>
                <a:rPr lang="en-IN" sz="35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Example: </a:t>
              </a:r>
              <a:r>
                <a:rPr lang="en-IN" sz="4400" b="1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</a:rPr>
                <a:t>Cos(x)</a:t>
              </a:r>
              <a:r>
                <a:rPr lang="en-IN" sz="44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 − 3x − 1 = 0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FBB2DB-F284-34F3-2AD4-1A2C29F7DC75}"/>
              </a:ext>
            </a:extLst>
          </p:cNvPr>
          <p:cNvSpPr txBox="1"/>
          <p:nvPr/>
        </p:nvSpPr>
        <p:spPr>
          <a:xfrm>
            <a:off x="-2" y="920920"/>
            <a:ext cx="4360987" cy="1883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Let f(x) = cos(x) − 3x + 1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f(0) = 1 − 0 + 1 = </a:t>
            </a: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2 (positive)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f(</a:t>
            </a:r>
            <a:r>
              <a:rPr lang="el-GR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π/2) = 0 − 3π/2 + 1 ≈ </a:t>
            </a:r>
            <a:r>
              <a:rPr lang="el-GR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−3.71 (</a:t>
            </a: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negative)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Root lies between 0 and </a:t>
            </a:r>
            <a:r>
              <a:rPr lang="el-GR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π/2</a:t>
            </a:r>
            <a:endParaRPr lang="el-GR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232D01-B0E8-3805-7870-D01D4C8E60F1}"/>
              </a:ext>
            </a:extLst>
          </p:cNvPr>
          <p:cNvSpPr txBox="1"/>
          <p:nvPr/>
        </p:nvSpPr>
        <p:spPr>
          <a:xfrm>
            <a:off x="-17588" y="2820062"/>
            <a:ext cx="4132388" cy="1883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Rewrite as: x = (cos x + 1)/3 = </a:t>
            </a:r>
            <a:r>
              <a:rPr lang="el-GR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φ(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x)</a:t>
            </a: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Then: </a:t>
            </a:r>
            <a:r>
              <a:rPr lang="el-GR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φ'(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x) = −sin(x)/3</a:t>
            </a: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|</a:t>
            </a:r>
            <a:r>
              <a:rPr lang="el-GR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φ'(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x)| = |sin(x)|/3 &lt; 1/3 &lt; 1 ✓</a:t>
            </a:r>
          </a:p>
          <a:p>
            <a:pPr algn="just">
              <a:lnSpc>
                <a:spcPct val="150000"/>
              </a:lnSpc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Convergence condition satisfied!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0E6904-C545-E3A2-3B99-32912118EDC0}"/>
              </a:ext>
            </a:extLst>
          </p:cNvPr>
          <p:cNvSpPr txBox="1"/>
          <p:nvPr/>
        </p:nvSpPr>
        <p:spPr>
          <a:xfrm>
            <a:off x="4576397" y="602181"/>
            <a:ext cx="4615960" cy="2345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Starting with x₀ = 0</a:t>
            </a: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x₁ = </a:t>
            </a:r>
            <a:r>
              <a:rPr lang="el-GR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φ(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x₀) = (cos 0 + 1)/3 = </a:t>
            </a: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0.6667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x₂ = </a:t>
            </a:r>
            <a:r>
              <a:rPr lang="el-GR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φ(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x₁) = (cos 0.6667 + 1)/3 = </a:t>
            </a: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0.5953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x₃ = </a:t>
            </a:r>
            <a:r>
              <a:rPr lang="el-GR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φ(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x₂) = (cos 0.5953 + 1)/3 = </a:t>
            </a: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0.6093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Continuing the pattern...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03FF5C-352A-82DB-E43C-EAD47EBE597C}"/>
              </a:ext>
            </a:extLst>
          </p:cNvPr>
          <p:cNvSpPr txBox="1"/>
          <p:nvPr/>
        </p:nvSpPr>
        <p:spPr>
          <a:xfrm>
            <a:off x="4484080" y="2723283"/>
            <a:ext cx="4642338" cy="2345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Successive Approximations</a:t>
            </a: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x₁ = 0.6667, x₂ = 0.5953, x₃ = 0.6093</a:t>
            </a: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x₄ = 0.6067, x₅ = 0.6072, x₆ = 0.6071</a:t>
            </a:r>
          </a:p>
          <a:p>
            <a:pPr algn="just">
              <a:lnSpc>
                <a:spcPct val="150000"/>
              </a:lnSpc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Root = 0.607 (correct to 3 decimal places)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984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r>
                <a:rPr lang="en-IN" sz="35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Advantages &amp; Disadvantages</a:t>
              </a:r>
              <a:endParaRPr lang="en-IN" sz="4400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AA7E47-AC45-2850-0BC5-6477E62FF6F8}"/>
              </a:ext>
            </a:extLst>
          </p:cNvPr>
          <p:cNvSpPr txBox="1"/>
          <p:nvPr/>
        </p:nvSpPr>
        <p:spPr>
          <a:xfrm>
            <a:off x="341033" y="1266645"/>
            <a:ext cx="4406813" cy="2683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3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Advantages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No requirement for opposite signs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Faster convergence rate (1.6)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Uses most recent approximations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Interval need not bracket the root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F6C710-C630-9E64-3464-1AE15B060196}"/>
              </a:ext>
            </a:extLst>
          </p:cNvPr>
          <p:cNvSpPr txBox="1"/>
          <p:nvPr/>
        </p:nvSpPr>
        <p:spPr>
          <a:xfrm>
            <a:off x="4695097" y="1284228"/>
            <a:ext cx="4572000" cy="2683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3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Disadvantages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Not guaranteed to converge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Fails when f(xₙ) = f(xₙ₋₁)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May diverge from the root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Less reliable than false position</a:t>
            </a:r>
          </a:p>
        </p:txBody>
      </p:sp>
    </p:spTree>
    <p:extLst>
      <p:ext uri="{BB962C8B-B14F-4D97-AF65-F5344CB8AC3E}">
        <p14:creationId xmlns:p14="http://schemas.microsoft.com/office/powerpoint/2010/main" val="947535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r>
                <a:rPr lang="en-IN" sz="35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Advantages &amp; Disadvantages</a:t>
              </a:r>
              <a:endParaRPr lang="en-IN" sz="4400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AA7E47-AC45-2850-0BC5-6477E62FF6F8}"/>
              </a:ext>
            </a:extLst>
          </p:cNvPr>
          <p:cNvSpPr txBox="1"/>
          <p:nvPr/>
        </p:nvSpPr>
        <p:spPr>
          <a:xfrm>
            <a:off x="217941" y="1002876"/>
            <a:ext cx="4406813" cy="4016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3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Advantages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Simple and easy to implement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Theoretically guaranteed convergence if |</a:t>
            </a:r>
            <a:r>
              <a:rPr lang="el-GR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φ'(</a:t>
            </a: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x)| &lt; 1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Useful for variety of equations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Convergence often faster than bisection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F6C710-C630-9E64-3464-1AE15B060196}"/>
              </a:ext>
            </a:extLst>
          </p:cNvPr>
          <p:cNvSpPr txBox="1"/>
          <p:nvPr/>
        </p:nvSpPr>
        <p:spPr>
          <a:xfrm>
            <a:off x="4536832" y="774271"/>
            <a:ext cx="4572000" cy="4639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5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Disadvantages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Requires rearrangement of equation as x = </a:t>
            </a:r>
            <a:r>
              <a:rPr lang="el-GR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φ(</a:t>
            </a: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x)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Many possible rearrangements with different convergence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May diverge if |</a:t>
            </a:r>
            <a:r>
              <a:rPr lang="el-GR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φ'(</a:t>
            </a: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x)| ≥ 1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Sensitive to initial approximation</a:t>
            </a:r>
          </a:p>
          <a:p>
            <a:pPr algn="just">
              <a:lnSpc>
                <a:spcPct val="150000"/>
              </a:lnSpc>
            </a:pPr>
            <a:endParaRPr lang="en-IN" sz="25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9108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r>
                <a:rPr lang="en-IN" sz="35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Practice Questions</a:t>
              </a:r>
              <a:endParaRPr lang="en-IN" sz="4400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9C80B0-CE9E-253A-1D48-47CE1D3A286E}"/>
              </a:ext>
            </a:extLst>
          </p:cNvPr>
          <p:cNvSpPr txBox="1"/>
          <p:nvPr/>
        </p:nvSpPr>
        <p:spPr>
          <a:xfrm>
            <a:off x="246185" y="1164461"/>
            <a:ext cx="8647391" cy="2908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Using iteration method, find a root of x³ + x² − 1 = 0 correct to 4 decimal places.</a:t>
            </a:r>
            <a:endParaRPr lang="en-IN" sz="25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Find the negative root of x³ − 2x + 5 = 0 correct to 4 decimal places.</a:t>
            </a:r>
            <a:endParaRPr lang="en-IN" sz="25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Find a real root of 2x − log₁₀(x) = 7 correct to 4 decimal places</a:t>
            </a:r>
          </a:p>
        </p:txBody>
      </p:sp>
    </p:spTree>
    <p:extLst>
      <p:ext uri="{BB962C8B-B14F-4D97-AF65-F5344CB8AC3E}">
        <p14:creationId xmlns:p14="http://schemas.microsoft.com/office/powerpoint/2010/main" val="2848065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23510B7-C3A2-E27A-3736-0F103363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eferences/ Articles/ Videos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83127" y="1817005"/>
            <a:ext cx="8942119" cy="48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lnSpc>
                <a:spcPct val="90000"/>
              </a:lnSpc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https://</a:t>
            </a:r>
            <a:r>
              <a:rPr lang="en-US" sz="2800" b="0" i="0" u="none" strike="noStrike" cap="none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youtu.be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/D4Bl1bZV9t8?si=axO6CshFxD_iDCBf</a:t>
            </a:r>
            <a:endParaRPr lang="en-US" sz="30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294786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87ED0C6-7719-FB97-ED94-7F5CE38D0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1D700B6-6EB7-B931-A6BA-3293795C4FD6}"/>
              </a:ext>
            </a:extLst>
          </p:cNvPr>
          <p:cNvGrpSpPr/>
          <p:nvPr/>
        </p:nvGrpSpPr>
        <p:grpSpPr>
          <a:xfrm>
            <a:off x="715861" y="-42871"/>
            <a:ext cx="8277101" cy="1217475"/>
            <a:chOff x="0" y="6299"/>
            <a:chExt cx="5580934" cy="1217475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9F7BC64-7A52-69C2-0340-DEC4747604C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DD12C81D-38E2-6BA8-4944-E9161F70F1EA}"/>
                </a:ext>
              </a:extLst>
            </p:cNvPr>
            <p:cNvSpPr txBox="1"/>
            <p:nvPr/>
          </p:nvSpPr>
          <p:spPr>
            <a:xfrm>
              <a:off x="0" y="822582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just">
                <a:lnSpc>
                  <a:spcPct val="90000"/>
                </a:lnSpc>
                <a:buSzPts val="1900"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Faculty-curated videos, NPTEL, Coursera, LinkedIn, or other relevant learning resources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4A85E0-4100-F66B-64AD-E75BC4178BFF}"/>
              </a:ext>
            </a:extLst>
          </p:cNvPr>
          <p:cNvSpPr txBox="1"/>
          <p:nvPr/>
        </p:nvSpPr>
        <p:spPr>
          <a:xfrm>
            <a:off x="715861" y="2294413"/>
            <a:ext cx="7752278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  <a:hlinkClick r:id="rId3"/>
              </a:rPr>
              <a:t>https://onlinecourses.nptel.ac.in/noc26_ma62/preview</a:t>
            </a:r>
            <a:endParaRPr lang="en-US" sz="24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https://</a:t>
            </a:r>
            <a:r>
              <a:rPr lang="en-US" sz="2400" b="0" i="0" u="none" strike="noStrike" cap="none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onlinecourses.nptel.ac.in</a:t>
            </a: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/noc26_ma20/preview</a:t>
            </a:r>
          </a:p>
        </p:txBody>
      </p:sp>
    </p:spTree>
    <p:extLst>
      <p:ext uri="{BB962C8B-B14F-4D97-AF65-F5344CB8AC3E}">
        <p14:creationId xmlns:p14="http://schemas.microsoft.com/office/powerpoint/2010/main" val="3288866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Class-Wise </a:t>
              </a:r>
              <a:r>
                <a:rPr lang="en-IN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Feedback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315311" y="1117226"/>
            <a:ext cx="9459311" cy="2655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	</a:t>
            </a:r>
            <a:r>
              <a:rPr lang="en-US" sz="3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Faculty members are encouraged to generate a class specific QR code at the end of each session to collect brief student feedback. This can support self-reflection, improve teaching practices, and allow students to share insights, suggestions, or concerns anonymously.</a:t>
            </a:r>
            <a:endParaRPr lang="en-US" sz="3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22436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217963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heena.e6398@cumail.in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86127203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882</TotalTime>
  <Words>866</Words>
  <Application>Microsoft Macintosh PowerPoint</Application>
  <PresentationFormat>On-screen Show (16:9)</PresentationFormat>
  <Paragraphs>111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Calibri</vt:lpstr>
      <vt:lpstr>Lato</vt:lpstr>
      <vt:lpstr>Vladimir Script</vt:lpstr>
      <vt:lpstr>Arial Black</vt:lpstr>
      <vt:lpstr>Arial</vt:lpstr>
      <vt:lpstr>Cambria</vt:lpstr>
      <vt:lpstr>Times New Roman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Microsoft Office User</cp:lastModifiedBy>
  <cp:revision>109</cp:revision>
  <dcterms:modified xsi:type="dcterms:W3CDTF">2025-12-08T05:24:50Z</dcterms:modified>
</cp:coreProperties>
</file>