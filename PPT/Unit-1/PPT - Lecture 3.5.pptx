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4" r:id="rId4"/>
    <p:sldId id="306" r:id="rId5"/>
    <p:sldId id="285" r:id="rId6"/>
    <p:sldId id="316" r:id="rId7"/>
    <p:sldId id="312" r:id="rId8"/>
    <p:sldId id="317" r:id="rId9"/>
    <p:sldId id="313" r:id="rId10"/>
    <p:sldId id="318" r:id="rId11"/>
    <p:sldId id="314" r:id="rId12"/>
    <p:sldId id="300" r:id="rId13"/>
    <p:sldId id="301" r:id="rId14"/>
    <p:sldId id="307" r:id="rId15"/>
    <p:sldId id="305" r:id="rId1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Vladimir Script" panose="03050402040407070305" pitchFamily="66" charset="77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04"/>
    <p:restoredTop sz="94737"/>
  </p:normalViewPr>
  <p:slideViewPr>
    <p:cSldViewPr snapToGrid="0">
      <p:cViewPr varScale="1">
        <p:scale>
          <a:sx n="73" d="100"/>
          <a:sy n="73" d="100"/>
        </p:scale>
        <p:origin x="184" y="1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0215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6498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289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342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926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3.5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Newton-Raphson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just"/>
            <a:r>
              <a:rPr lang="en-IN" sz="4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</a:rPr>
              <a:t>Newton-Raphson</a:t>
            </a:r>
            <a:r>
              <a:rPr lang="en-IN" sz="4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 Method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 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rapidly converging method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for finding roots of f(x) = 0.</a:t>
            </a:r>
          </a:p>
          <a:p>
            <a:pPr algn="just">
              <a:lnSpc>
                <a:spcPct val="150000"/>
              </a:lnSpc>
            </a:pP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Uses both the function value f(x) and its </a:t>
            </a:r>
            <a:r>
              <a:rPr lang="en-IN" sz="3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derivative f'(x)</a:t>
            </a:r>
            <a:r>
              <a:rPr lang="en-IN" sz="3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for faster convergence.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Mathematical Derivation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422A5-C7DB-8C8F-211C-9730BBA10579}"/>
              </a:ext>
            </a:extLst>
          </p:cNvPr>
          <p:cNvSpPr txBox="1"/>
          <p:nvPr/>
        </p:nvSpPr>
        <p:spPr>
          <a:xfrm>
            <a:off x="193431" y="1105558"/>
            <a:ext cx="8700145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Given x₀ as approximate root and x₁ = x₀ + h as exact root: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Expand f(x₀ + h) using Taylor's series: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f(x₀) + hf'(x₀) + h²/2!f''(x₀) + ... = 0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Neglecting h² and higher powers (h is small):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Formula Derivation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28315-9382-61C6-253B-7F3DB1259AF4}"/>
              </a:ext>
            </a:extLst>
          </p:cNvPr>
          <p:cNvSpPr txBox="1"/>
          <p:nvPr/>
        </p:nvSpPr>
        <p:spPr>
          <a:xfrm>
            <a:off x="633045" y="1079187"/>
            <a:ext cx="7631723" cy="23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From f(x₀) + hf'(x₀) = 0:</a:t>
            </a:r>
          </a:p>
          <a:p>
            <a:pPr algn="ctr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h = −f(x₀) / f'(x₀)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Therefore, the first approximation:</a:t>
            </a:r>
          </a:p>
          <a:p>
            <a:pPr algn="ctr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x₀ − f(x₀) / f'(x₀)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General Newton-Raphson Formula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28315-9382-61C6-253B-7F3DB1259AF4}"/>
              </a:ext>
            </a:extLst>
          </p:cNvPr>
          <p:cNvSpPr txBox="1"/>
          <p:nvPr/>
        </p:nvSpPr>
        <p:spPr>
          <a:xfrm>
            <a:off x="316523" y="1079187"/>
            <a:ext cx="8493896" cy="3093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For successive approximations:</a:t>
            </a:r>
          </a:p>
          <a:p>
            <a:pPr algn="ctr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xₙ₊₁ = xₙ − f(xₙ) / f'(xₙ)</a:t>
            </a:r>
          </a:p>
          <a:p>
            <a:pPr algn="l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Also known as </a:t>
            </a:r>
            <a:r>
              <a:rPr lang="en-IN" sz="3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Newton's iteration formula</a:t>
            </a:r>
            <a:endParaRPr lang="en-IN" sz="36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72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00989"/>
            <a:ext cx="8325031" cy="461783"/>
            <a:chOff x="0" y="-10884"/>
            <a:chExt cx="5637516" cy="461783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99990" y="-10884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Example: x⁴ − x − 10 = 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7A3240-F760-1CB8-A2CF-EFDBC59908B9}"/>
              </a:ext>
            </a:extLst>
          </p:cNvPr>
          <p:cNvSpPr txBox="1"/>
          <p:nvPr/>
        </p:nvSpPr>
        <p:spPr>
          <a:xfrm>
            <a:off x="211015" y="1008839"/>
            <a:ext cx="374552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Let f(x) = x⁴ − x − 10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f(1) = 1 − 1 − 10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−10 (negative)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f(2) = 16 − 2 − 10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4 (positive)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1 and 2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17F4F-C718-2528-5A2F-AEDDC515519C}"/>
              </a:ext>
            </a:extLst>
          </p:cNvPr>
          <p:cNvSpPr txBox="1"/>
          <p:nvPr/>
        </p:nvSpPr>
        <p:spPr>
          <a:xfrm>
            <a:off x="3956537" y="2395826"/>
            <a:ext cx="5068707" cy="2529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Derivative and Initial Value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Derivative: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f'(x) = 4x³ − 1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Newton-Raphson formula: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xₙ₊₁ = xₙ − f(xₙ) / f'(xₙ)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Initial value: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x₀ = 2</a:t>
            </a: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00989"/>
            <a:ext cx="8325031" cy="461783"/>
            <a:chOff x="0" y="-10884"/>
            <a:chExt cx="5637516" cy="461783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99990" y="-10884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Example: x⁴ − x − 10 = 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B283E-8ADE-F4A1-36F1-D6CA1D3D03B8}"/>
              </a:ext>
            </a:extLst>
          </p:cNvPr>
          <p:cNvSpPr txBox="1"/>
          <p:nvPr/>
        </p:nvSpPr>
        <p:spPr>
          <a:xfrm>
            <a:off x="-17587" y="916495"/>
            <a:ext cx="2919049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First Iteration (n = 0)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f(2) = 16 − 2 − 10 = 4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f'(2) = 4(2³) − 1 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= 32 − 1 = 31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x₀ − f(x₀) / f'(x₀)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2 − 4/31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1.871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80127-8320-3887-999B-0A576499EE10}"/>
              </a:ext>
            </a:extLst>
          </p:cNvPr>
          <p:cNvSpPr txBox="1"/>
          <p:nvPr/>
        </p:nvSpPr>
        <p:spPr>
          <a:xfrm>
            <a:off x="2486617" y="916494"/>
            <a:ext cx="3193208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Second Iteration (n = 1)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f(1.871) = (1.871)⁴ − 1.871 − 10 ≈ −0.3835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f'(1.871) = 4(1.871)³ − 1 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≈ 25.199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1.871 − (−0.3835) / 25.199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1.856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5B7E7-8763-20C8-8BF5-7FAD27A5BB23}"/>
              </a:ext>
            </a:extLst>
          </p:cNvPr>
          <p:cNvSpPr txBox="1"/>
          <p:nvPr/>
        </p:nvSpPr>
        <p:spPr>
          <a:xfrm>
            <a:off x="5785336" y="901121"/>
            <a:ext cx="310824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Third Iteration (n = 2)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f(1.856) = (1.856)⁴ − 1.856 − 10 ≈ 0.010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f'(1.856) = 4(1.856)³ − 1 ≈ 24.574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1.856 − 0.010 / 24.574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1.856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227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Convergence Analysis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CAA415-78F6-A061-2E8A-77987E0E2FF7}"/>
              </a:ext>
            </a:extLst>
          </p:cNvPr>
          <p:cNvSpPr txBox="1"/>
          <p:nvPr/>
        </p:nvSpPr>
        <p:spPr>
          <a:xfrm>
            <a:off x="580291" y="1197848"/>
            <a:ext cx="7631723" cy="348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Successive approximations: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1.871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1.856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1.856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= 1.856 (correct to 3 decimal places)</a:t>
            </a: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Note: Converged in just 3 iterations!</a:t>
            </a:r>
          </a:p>
        </p:txBody>
      </p:sp>
    </p:spTree>
    <p:extLst>
      <p:ext uri="{BB962C8B-B14F-4D97-AF65-F5344CB8AC3E}">
        <p14:creationId xmlns:p14="http://schemas.microsoft.com/office/powerpoint/2010/main" val="94753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Advantages &amp; Disadvantages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A7E47-AC45-2850-0BC5-6477E62FF6F8}"/>
              </a:ext>
            </a:extLst>
          </p:cNvPr>
          <p:cNvSpPr txBox="1"/>
          <p:nvPr/>
        </p:nvSpPr>
        <p:spPr>
          <a:xfrm>
            <a:off x="77260" y="1090795"/>
            <a:ext cx="4406813" cy="374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Very fast convergence (quadratic)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Requires fewer iterations than previous methods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Reliable near the root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Simple formula to implement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F6C710-C630-9E64-3464-1AE15B060196}"/>
              </a:ext>
            </a:extLst>
          </p:cNvPr>
          <p:cNvSpPr txBox="1"/>
          <p:nvPr/>
        </p:nvSpPr>
        <p:spPr>
          <a:xfrm>
            <a:off x="4501662" y="914948"/>
            <a:ext cx="4572000" cy="4806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Requires derivative f'(x) evaluation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May diverge if f'(x) = 0 at some point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Derivative may be difficult to compute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3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Needs good initial approximation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3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2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Practice Questions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C80B0-CE9E-253A-1D48-47CE1D3A286E}"/>
              </a:ext>
            </a:extLst>
          </p:cNvPr>
          <p:cNvSpPr txBox="1"/>
          <p:nvPr/>
        </p:nvSpPr>
        <p:spPr>
          <a:xfrm>
            <a:off x="246185" y="1164461"/>
            <a:ext cx="8647391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by Newton's method the real root of 3x = cos(x) + 1, correct to 4 decimal places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Using Newton's iterative method, find the real root of x log₁₀(x) = 1.2, correct to 5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284806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/ML-wQKRhP3s?si=_IgPQyWwfdEf7HQl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815</Words>
  <Application>Microsoft Macintosh PowerPoint</Application>
  <PresentationFormat>On-screen Show (16:9)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113</cp:revision>
  <dcterms:modified xsi:type="dcterms:W3CDTF">2025-12-08T05:48:08Z</dcterms:modified>
</cp:coreProperties>
</file>