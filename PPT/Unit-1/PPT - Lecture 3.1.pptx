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11" r:id="rId9"/>
    <p:sldId id="312" r:id="rId10"/>
    <p:sldId id="313" r:id="rId11"/>
    <p:sldId id="314" r:id="rId12"/>
    <p:sldId id="300" r:id="rId13"/>
    <p:sldId id="301" r:id="rId14"/>
    <p:sldId id="307" r:id="rId15"/>
    <p:sldId id="305" r:id="rId1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  <p:embeddedFont>
      <p:font typeface="Vladimir Script" panose="03050402040407070305" pitchFamily="66" charset="77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/>
    <p:restoredTop sz="94737"/>
  </p:normalViewPr>
  <p:slideViewPr>
    <p:cSldViewPr snapToGrid="0">
      <p:cViewPr varScale="1">
        <p:scale>
          <a:sx n="74" d="100"/>
          <a:sy n="74" d="100"/>
        </p:scale>
        <p:origin x="184" y="1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2102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98825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021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2.5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Bisection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l"/>
            <a:r>
              <a:rPr lang="en-IN" sz="4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What is Bisection Method?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bisection method is based on the repeated application of the intermediate value property.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Principle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Repeatedly divide an interval in half to narrow down where the root 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Assumptions &amp;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0CAA6-38A8-B1F0-6046-A14BB43BC179}"/>
              </a:ext>
            </a:extLst>
          </p:cNvPr>
          <p:cNvSpPr txBox="1"/>
          <p:nvPr/>
        </p:nvSpPr>
        <p:spPr>
          <a:xfrm>
            <a:off x="655608" y="1017920"/>
            <a:ext cx="7953916" cy="277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Given: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f(x) is continuous in interval [a, b]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Condition: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f(a) and f(b) have opposite signs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Guarantee: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A root lies between a and b</a:t>
            </a:r>
          </a:p>
          <a:p>
            <a:pPr algn="ctr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f(a) × f(b) &lt; 0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60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First Iteration</a:t>
              </a:r>
              <a:endParaRPr lang="en-IN" sz="6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842155"/>
            <a:ext cx="8401181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Calculate Midpoint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(a + b) / 2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Check Root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If f(x₁) = 0, then x₁ is the root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Otherwise, root lies in one of two sub-intervals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Subsequent Iterations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75827"/>
            <a:ext cx="8401181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f(x₁) is positive: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Root lies between a and x₁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f(x₁) is negative: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Root lies between x₁ and b</a:t>
            </a:r>
          </a:p>
          <a:p>
            <a:pPr algn="ctr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(x₁ + a) / 2 or x₂ = (x₁ + b) / 2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Repeat until desired accuracy is achieved.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Algorithm Steps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Choose a and b such that f(a) × f(b) &lt; 0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Calculate x = (a + b) / 2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Evaluate f(x)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Check convergence criterion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If not converged, replace appropriate boundary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IN" sz="280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Repeat until desired accuracy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just"/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Example: </a:t>
              </a:r>
              <a:r>
                <a:rPr lang="en-IN" sz="36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x³ − 4x − 9 = 0</a:t>
              </a:r>
              <a:r>
                <a:rPr lang="en-IN" sz="35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</a:rPr>
                <a:t> </a:t>
              </a:r>
              <a:endParaRPr lang="en-IN" sz="35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979606"/>
            <a:ext cx="4173877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Let f(x) = x³ − 4x − 9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f(2) = 8 − 8 − 9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−9 (negative)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f(3) = 27 − 12 − 9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6 (positive)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2 and 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3848B8-4874-F943-EF34-F46244EAEEF8}"/>
              </a:ext>
            </a:extLst>
          </p:cNvPr>
          <p:cNvSpPr txBox="1"/>
          <p:nvPr/>
        </p:nvSpPr>
        <p:spPr>
          <a:xfrm>
            <a:off x="4761784" y="1334492"/>
            <a:ext cx="4321576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Iteration 2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(2.5 + 3) / 2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2.75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f(2.75) = (2.75)³ − 4(2.75) − 9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0.7969 (positive)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2.5 and 2.75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95221-4334-6843-8DFF-2D7FC4E84DA3}"/>
              </a:ext>
            </a:extLst>
          </p:cNvPr>
          <p:cNvSpPr txBox="1"/>
          <p:nvPr/>
        </p:nvSpPr>
        <p:spPr>
          <a:xfrm>
            <a:off x="208342" y="2816348"/>
            <a:ext cx="4497112" cy="2345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Iteration 1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x₁ = (2 + 3) / 2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2.5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f(2.5) = (2.5)³ − 4(2.5) − 9 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−3.375 (negative)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lies between 2.5 and 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1007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Successive Approximations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F5BE64-07DE-9CAA-5A37-9C749D919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576416"/>
              </p:ext>
            </p:extLst>
          </p:nvPr>
        </p:nvGraphicFramePr>
        <p:xfrm>
          <a:off x="385794" y="1276708"/>
          <a:ext cx="8401179" cy="3036498"/>
        </p:xfrm>
        <a:graphic>
          <a:graphicData uri="http://schemas.openxmlformats.org/drawingml/2006/table">
            <a:tbl>
              <a:tblPr/>
              <a:tblGrid>
                <a:gridCol w="2800393">
                  <a:extLst>
                    <a:ext uri="{9D8B030D-6E8A-4147-A177-3AD203B41FA5}">
                      <a16:colId xmlns:a16="http://schemas.microsoft.com/office/drawing/2014/main" val="1318314012"/>
                    </a:ext>
                  </a:extLst>
                </a:gridCol>
                <a:gridCol w="2800393">
                  <a:extLst>
                    <a:ext uri="{9D8B030D-6E8A-4147-A177-3AD203B41FA5}">
                      <a16:colId xmlns:a16="http://schemas.microsoft.com/office/drawing/2014/main" val="1961327472"/>
                    </a:ext>
                  </a:extLst>
                </a:gridCol>
                <a:gridCol w="2800393">
                  <a:extLst>
                    <a:ext uri="{9D8B030D-6E8A-4147-A177-3AD203B41FA5}">
                      <a16:colId xmlns:a16="http://schemas.microsoft.com/office/drawing/2014/main" val="2907574206"/>
                    </a:ext>
                  </a:extLst>
                </a:gridCol>
              </a:tblGrid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Iteration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x value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f(x) sign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18556"/>
                  </a:ext>
                </a:extLst>
              </a:tr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−ve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8233"/>
                  </a:ext>
                </a:extLst>
              </a:tr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2.75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+ve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3848"/>
                  </a:ext>
                </a:extLst>
              </a:tr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2.625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−ve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40855"/>
                  </a:ext>
                </a:extLst>
              </a:tr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2.6875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varies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741485"/>
                  </a:ext>
                </a:extLst>
              </a:tr>
              <a:tr h="50608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2.70642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  <a:t>converged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547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Advantages &amp; Disadvantages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D7998-137F-60BF-BD67-9DD08A654161}"/>
              </a:ext>
            </a:extLst>
          </p:cNvPr>
          <p:cNvSpPr txBox="1"/>
          <p:nvPr/>
        </p:nvSpPr>
        <p:spPr>
          <a:xfrm>
            <a:off x="432150" y="963774"/>
            <a:ext cx="8241474" cy="3485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Always converges if conditions are met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Simple and reliable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Disadvantages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Slow convergence (linear)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Requires many iterations for high accuracy</a:t>
            </a:r>
          </a:p>
        </p:txBody>
      </p:sp>
    </p:spTree>
    <p:extLst>
      <p:ext uri="{BB962C8B-B14F-4D97-AF65-F5344CB8AC3E}">
        <p14:creationId xmlns:p14="http://schemas.microsoft.com/office/powerpoint/2010/main" val="2469374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Practice Questions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DD7998-137F-60BF-BD67-9DD08A654161}"/>
              </a:ext>
            </a:extLst>
          </p:cNvPr>
          <p:cNvSpPr txBox="1"/>
          <p:nvPr/>
        </p:nvSpPr>
        <p:spPr>
          <a:xfrm>
            <a:off x="432150" y="963774"/>
            <a:ext cx="82414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an approximate root of sin(x) = 1/x between x = 1 and x = 1.5 (radians). Carry out 7 iterations.</a:t>
            </a:r>
          </a:p>
          <a:p>
            <a:pPr algn="just">
              <a:buFont typeface="+mj-lt"/>
              <a:buAutoNum type="arabicPeriod"/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the root of cos(x) = </a:t>
            </a:r>
            <a:r>
              <a:rPr lang="en-IN" sz="36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xe</a:t>
            </a:r>
            <a:r>
              <a:rPr lang="en-IN" sz="36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using bisection method correct to 4 decimal places.</a:t>
            </a:r>
          </a:p>
        </p:txBody>
      </p:sp>
    </p:spTree>
    <p:extLst>
      <p:ext uri="{BB962C8B-B14F-4D97-AF65-F5344CB8AC3E}">
        <p14:creationId xmlns:p14="http://schemas.microsoft.com/office/powerpoint/2010/main" val="3923923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mzQFGOvH-mk?si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=ssK9mQOOCIb1pXZa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711</Words>
  <Application>Microsoft Macintosh PowerPoint</Application>
  <PresentationFormat>On-screen Show (16:9)</PresentationFormat>
  <Paragraphs>115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100</cp:revision>
  <dcterms:modified xsi:type="dcterms:W3CDTF">2025-12-07T09:17:26Z</dcterms:modified>
</cp:coreProperties>
</file>