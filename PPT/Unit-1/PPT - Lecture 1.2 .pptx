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83" r:id="rId3"/>
    <p:sldId id="284" r:id="rId4"/>
    <p:sldId id="306" r:id="rId5"/>
    <p:sldId id="285" r:id="rId6"/>
    <p:sldId id="286" r:id="rId7"/>
    <p:sldId id="308" r:id="rId8"/>
    <p:sldId id="309" r:id="rId9"/>
    <p:sldId id="300" r:id="rId10"/>
    <p:sldId id="301" r:id="rId11"/>
    <p:sldId id="307" r:id="rId12"/>
    <p:sldId id="305" r:id="rId13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ambria" panose="02040503050406030204" pitchFamily="18" charset="0"/>
      <p:regular r:id="rId20"/>
      <p:bold r:id="rId21"/>
      <p:italic r:id="rId22"/>
      <p:boldItalic r:id="rId23"/>
    </p:embeddedFont>
    <p:embeddedFont>
      <p:font typeface="Lato" panose="020F0502020204030203" pitchFamily="34" charset="0"/>
      <p:regular r:id="rId24"/>
      <p:bold r:id="rId25"/>
      <p:italic r:id="rId26"/>
      <p:boldItalic r:id="rId27"/>
    </p:embeddedFont>
    <p:embeddedFont>
      <p:font typeface="Vladimir Script" panose="03050402040407070305" pitchFamily="66" charset="77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89"/>
    <p:restoredTop sz="94737"/>
  </p:normalViewPr>
  <p:slideViewPr>
    <p:cSldViewPr snapToGrid="0">
      <p:cViewPr varScale="1">
        <p:scale>
          <a:sx n="46" d="100"/>
          <a:sy n="46" d="100"/>
        </p:scale>
        <p:origin x="192" y="18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2D7C363-8D9B-662D-D35E-EF694C15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73556C4-1FD6-C1D5-F772-CCFCA35CB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B74E6DD-E044-75B0-83F3-00BA217DA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2290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2D7C363-8D9B-662D-D35E-EF694C15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73556C4-1FD6-C1D5-F772-CCFCA35CB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B74E6DD-E044-75B0-83F3-00BA217DA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5559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2D7C363-8D9B-662D-D35E-EF694C15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73556C4-1FD6-C1D5-F772-CCFCA35CB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B74E6DD-E044-75B0-83F3-00BA217DAD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5704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6_ma62/preview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618294"/>
            <a:ext cx="7602983" cy="408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UNIVERSITY INSTITUTE OF 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ENGINEERING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CSE 3</a:t>
            </a:r>
            <a:r>
              <a:rPr lang="en-US" sz="2000" b="1" i="0" u="none" strike="noStrike" cap="none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RD</a:t>
            </a: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 YEAR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CS201/CS202/CS703/CS704/IT201/IT202/BI519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en-US" sz="2000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TH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SEMESTER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NUMERICAL METHODS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(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23SMH-341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)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No. 1                     Chapter No. 1                    Lecture No. 1.2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: </a:t>
            </a:r>
            <a:r>
              <a:rPr lang="en-IN" sz="2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Errors &amp; Its Types: Absolute, Relative </a:t>
            </a:r>
            <a:r>
              <a:rPr lang="en-IN" sz="2000" ker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&amp; Percentage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Name and E-Code: Dr. Heena Sharma (E6398)                                                        Designation: Assistant Professor</a:t>
            </a:r>
            <a:endParaRPr lang="en-US" sz="2000" b="1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3C2A9-B054-BA3C-AEDE-C0C1F44D2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386014"/>
              </p:ext>
            </p:extLst>
          </p:nvPr>
        </p:nvGraphicFramePr>
        <p:xfrm>
          <a:off x="724394" y="1205836"/>
          <a:ext cx="7705928" cy="1289431"/>
        </p:xfrm>
        <a:graphic>
          <a:graphicData uri="http://schemas.openxmlformats.org/drawingml/2006/table">
            <a:tbl>
              <a:tblPr bandRow="1">
                <a:tableStyleId>{97377635-EB9D-4884-B79A-0D259F93817B}</a:tableStyleId>
              </a:tblPr>
              <a:tblGrid>
                <a:gridCol w="7705928">
                  <a:extLst>
                    <a:ext uri="{9D8B030D-6E8A-4147-A177-3AD203B41FA5}">
                      <a16:colId xmlns:a16="http://schemas.microsoft.com/office/drawing/2014/main" val="3423502139"/>
                    </a:ext>
                  </a:extLst>
                </a:gridCol>
              </a:tblGrid>
              <a:tr h="6125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3000" kern="1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CO1: Students will be able to recall the use of programming language with Numerical methods.</a:t>
                      </a:r>
                      <a:endParaRPr lang="en-IN" sz="30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089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7B7C442-1162-E7EE-DA61-E33D8E4C9122}"/>
              </a:ext>
            </a:extLst>
          </p:cNvPr>
          <p:cNvGrpSpPr/>
          <p:nvPr/>
        </p:nvGrpSpPr>
        <p:grpSpPr>
          <a:xfrm>
            <a:off x="760020" y="218172"/>
            <a:ext cx="826522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8E0F9992-62FC-4C63-BED6-091FF56DEF0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FBE6ABC-C3B9-AA73-42F9-036BD547E8E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8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What is Error?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427E39E-1443-8E67-323E-AC3515D4A144}"/>
              </a:ext>
            </a:extLst>
          </p:cNvPr>
          <p:cNvSpPr txBox="1"/>
          <p:nvPr/>
        </p:nvSpPr>
        <p:spPr>
          <a:xfrm>
            <a:off x="83127" y="1089514"/>
            <a:ext cx="8942119" cy="252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IN" sz="2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numerical methods, errors are the differences between the true (exact) value and the value obtained by an approximate or numerical method.</a:t>
            </a:r>
          </a:p>
          <a:p>
            <a:pPr algn="just"/>
            <a:r>
              <a:rPr lang="en-IN" sz="2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many mathematical problems cannot be solved exactly, we use numerical techniques that produce approximate results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</a:br>
            <a:endParaRPr lang="en-US" sz="280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D069F-9FE0-0231-78ED-F358A7B5195C}"/>
              </a:ext>
            </a:extLst>
          </p:cNvPr>
          <p:cNvSpPr txBox="1"/>
          <p:nvPr/>
        </p:nvSpPr>
        <p:spPr>
          <a:xfrm>
            <a:off x="780585" y="-8910"/>
            <a:ext cx="81129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4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Do Errors Occur?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28A36-3260-6453-8999-4CF7DCC05C61}"/>
              </a:ext>
            </a:extLst>
          </p:cNvPr>
          <p:cNvSpPr txBox="1"/>
          <p:nvPr/>
        </p:nvSpPr>
        <p:spPr>
          <a:xfrm>
            <a:off x="317241" y="1038445"/>
            <a:ext cx="857633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26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Approximation:</a:t>
            </a:r>
            <a:r>
              <a:rPr lang="en-IN" sz="2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Many functions don't have exact solutions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6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Rounding Off:</a:t>
            </a:r>
            <a:r>
              <a:rPr lang="en-IN" sz="2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Computers can't store infinite decimal values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6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Truncation:</a:t>
            </a:r>
            <a:r>
              <a:rPr lang="en-IN" sz="2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Infinite series are cut short to save time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6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6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Measurement Errors</a:t>
            </a:r>
          </a:p>
          <a:p>
            <a:pPr algn="l"/>
            <a:r>
              <a:rPr lang="en-IN" sz="2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Real-world data is often measured with limited precision (e.g., length using a scale), giving measurement errors.</a:t>
            </a:r>
          </a:p>
          <a:p>
            <a:pPr algn="l"/>
            <a:endParaRPr lang="en-IN" sz="2600" b="0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4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General Definition of Error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494819"/>
            <a:ext cx="8401181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= True Value − Approximate Value</a:t>
            </a:r>
          </a:p>
          <a:p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reflects how far the computed value is from the ideal one.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CA46449-103B-2CB3-E783-17367956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771896" y="218172"/>
            <a:ext cx="8158348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48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Absolute Error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002C7-B55D-AF50-8DBE-2D6409889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257" y="922569"/>
            <a:ext cx="8654143" cy="3372000"/>
          </a:xfrm>
        </p:spPr>
        <p:txBody>
          <a:bodyPr/>
          <a:lstStyle/>
          <a:p>
            <a:pPr marL="76200" indent="0" algn="l">
              <a:lnSpc>
                <a:spcPct val="150000"/>
              </a:lnSpc>
              <a:buNone/>
            </a:pPr>
            <a:r>
              <a:rPr lang="en-IN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absolute difference between the true value (T) and the approximate value (A).</a:t>
            </a:r>
          </a:p>
          <a:p>
            <a:pPr marL="76200" indent="0" algn="ctr">
              <a:lnSpc>
                <a:spcPct val="150000"/>
              </a:lnSpc>
              <a:buNone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Absolute Error = |T − A|</a:t>
            </a:r>
          </a:p>
          <a:p>
            <a:pPr marL="7620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chemeClr val="bg2"/>
                </a:solidFill>
              </a:rPr>
              <a:t>Example: 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 value: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50</a:t>
            </a:r>
          </a:p>
          <a:p>
            <a:pPr marL="76200" indent="0" algn="l">
              <a:lnSpc>
                <a:spcPct val="150000"/>
              </a:lnSpc>
              <a:buNone/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Approximate value: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47</a:t>
            </a:r>
          </a:p>
          <a:p>
            <a:pPr marL="76200" indent="0" algn="ctr">
              <a:lnSpc>
                <a:spcPct val="150000"/>
              </a:lnSpc>
              <a:buNone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Absolute Error = |50 − 47| = 3</a:t>
            </a:r>
          </a:p>
          <a:p>
            <a:pPr marL="76200" indent="0">
              <a:buNone/>
            </a:pPr>
            <a:endParaRPr lang="en-US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499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CA46449-103B-2CB3-E783-17367956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771896" y="218172"/>
            <a:ext cx="8158348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48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Relative Error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002C7-B55D-AF50-8DBE-2D6409889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257" y="922569"/>
            <a:ext cx="8654143" cy="3372000"/>
          </a:xfrm>
        </p:spPr>
        <p:txBody>
          <a:bodyPr/>
          <a:lstStyle/>
          <a:p>
            <a:pPr marL="76200" indent="0" algn="l">
              <a:lnSpc>
                <a:spcPct val="150000"/>
              </a:lnSpc>
              <a:buNone/>
            </a:pPr>
            <a:r>
              <a:rPr lang="en-IN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ratio of absolute error to the true value.</a:t>
            </a:r>
          </a:p>
          <a:p>
            <a:pPr marL="76200" indent="0" algn="l">
              <a:lnSpc>
                <a:spcPct val="150000"/>
              </a:lnSpc>
              <a:buNone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Relative Error = (T − A) / T</a:t>
            </a:r>
          </a:p>
          <a:p>
            <a:pPr marL="7620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Absolute Error: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3</a:t>
            </a:r>
          </a:p>
          <a:p>
            <a:pPr marL="76200" indent="0" algn="l">
              <a:lnSpc>
                <a:spcPct val="150000"/>
              </a:lnSpc>
              <a:buNone/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 value: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50</a:t>
            </a:r>
          </a:p>
          <a:p>
            <a:pPr marL="76200" indent="0" algn="ctr">
              <a:lnSpc>
                <a:spcPct val="150000"/>
              </a:lnSpc>
              <a:buNone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Relative Error = 3 / 50 = 0.06</a:t>
            </a:r>
          </a:p>
          <a:p>
            <a:pPr marL="76200" indent="0">
              <a:buNone/>
            </a:pPr>
            <a:endParaRPr lang="en-US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356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CA46449-103B-2CB3-E783-17367956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771896" y="218172"/>
            <a:ext cx="8158348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48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Percentage Error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002C7-B55D-AF50-8DBE-2D6409889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257" y="922569"/>
            <a:ext cx="8654143" cy="3372000"/>
          </a:xfrm>
        </p:spPr>
        <p:txBody>
          <a:bodyPr/>
          <a:lstStyle/>
          <a:p>
            <a:pPr marL="76200" indent="0" algn="l">
              <a:lnSpc>
                <a:spcPct val="150000"/>
              </a:lnSpc>
              <a:buNone/>
            </a:pPr>
            <a:r>
              <a:rPr lang="en-IN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Relative error expressed as a percentage.</a:t>
            </a:r>
          </a:p>
          <a:p>
            <a:pPr marL="76200" indent="0" algn="ctr">
              <a:lnSpc>
                <a:spcPct val="150000"/>
              </a:lnSpc>
              <a:buNone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Percentage Error = (T − A) / T × 100%</a:t>
            </a:r>
          </a:p>
          <a:p>
            <a:pPr marL="76200" indent="0">
              <a:lnSpc>
                <a:spcPct val="150000"/>
              </a:lnSpc>
              <a:buNone/>
            </a:pPr>
            <a:endParaRPr lang="en-IN" sz="2000" b="1" i="0" dirty="0">
              <a:solidFill>
                <a:schemeClr val="bg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lnSpc>
                <a:spcPct val="150000"/>
              </a:lnSpc>
              <a:buNone/>
            </a:pPr>
            <a:r>
              <a:rPr lang="en-IN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 </a:t>
            </a: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0.06 × 100 = 6%</a:t>
            </a:r>
          </a:p>
          <a:p>
            <a:pPr marL="76200" indent="0">
              <a:buNone/>
            </a:pPr>
            <a:endParaRPr lang="en-US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743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817005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90000"/>
              </a:lnSpc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youtu.be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IKbQLSQxzyY?si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=rpc8tXOTR5bZBuCw</a:t>
            </a: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85E0-4100-F66B-64AD-E75BC4178BFF}"/>
              </a:ext>
            </a:extLst>
          </p:cNvPr>
          <p:cNvSpPr txBox="1"/>
          <p:nvPr/>
        </p:nvSpPr>
        <p:spPr>
          <a:xfrm>
            <a:off x="715861" y="2294413"/>
            <a:ext cx="775227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https://onlinecourses.nptel.ac.in/noc26_ma62/preview</a:t>
            </a:r>
            <a:endParaRPr lang="en-US" sz="24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4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onlinecourses.nptel.ac.in</a:t>
            </a: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/noc26_ma20/preview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heena.e6398@cumail.in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486</Words>
  <Application>Microsoft Macintosh PowerPoint</Application>
  <PresentationFormat>On-screen Show (16:9)</PresentationFormat>
  <Paragraphs>73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Lato</vt:lpstr>
      <vt:lpstr>Vladimir Script</vt:lpstr>
      <vt:lpstr>Arial Black</vt:lpstr>
      <vt:lpstr>Arial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Microsoft Office User</cp:lastModifiedBy>
  <cp:revision>81</cp:revision>
  <dcterms:modified xsi:type="dcterms:W3CDTF">2025-12-06T09:34:51Z</dcterms:modified>
</cp:coreProperties>
</file>