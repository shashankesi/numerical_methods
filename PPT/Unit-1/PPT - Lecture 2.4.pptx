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3" r:id="rId3"/>
    <p:sldId id="284" r:id="rId4"/>
    <p:sldId id="306" r:id="rId5"/>
    <p:sldId id="285" r:id="rId6"/>
    <p:sldId id="310" r:id="rId7"/>
    <p:sldId id="308" r:id="rId8"/>
    <p:sldId id="311" r:id="rId9"/>
    <p:sldId id="312" r:id="rId10"/>
    <p:sldId id="300" r:id="rId11"/>
    <p:sldId id="301" r:id="rId12"/>
    <p:sldId id="307" r:id="rId13"/>
    <p:sldId id="305" r:id="rId14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Vladimir Script" panose="03050402040407070305" pitchFamily="66" charset="77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0"/>
    <p:restoredTop sz="94737"/>
  </p:normalViewPr>
  <p:slideViewPr>
    <p:cSldViewPr snapToGrid="0">
      <p:cViewPr varScale="1">
        <p:scale>
          <a:sx n="74" d="100"/>
          <a:sy n="74" d="100"/>
        </p:scale>
        <p:origin x="184" y="1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2102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442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2.4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Rate of Convergence Method</a:t>
            </a:r>
            <a:endParaRPr lang="en-IN" sz="2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BE6ABC-C3B9-AA73-42F9-036BD547E8EB}"/>
              </a:ext>
            </a:extLst>
          </p:cNvPr>
          <p:cNvSpPr txBox="1"/>
          <p:nvPr/>
        </p:nvSpPr>
        <p:spPr>
          <a:xfrm>
            <a:off x="792163" y="239876"/>
            <a:ext cx="8200939" cy="40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375" tIns="72375" rIns="72375" bIns="72375" anchor="ctr" anchorCtr="0">
            <a:noAutofit/>
          </a:bodyPr>
          <a:lstStyle/>
          <a:p>
            <a:pPr algn="l"/>
            <a:r>
              <a:rPr lang="en-IN" sz="6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What is Convergence?</a:t>
            </a: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355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Convergence is the process by which successive iterations get closer to the actual root of an equation.</a:t>
            </a: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Rate of Convergence: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Measures how fast iterations approach the true root.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Convergence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146021"/>
            <a:ext cx="85763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Actual Root Value = 3.5567</a:t>
            </a:r>
          </a:p>
          <a:p>
            <a:pPr algn="l"/>
            <a:endParaRPr lang="en-I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/>
            <a:endParaRPr lang="en-IN" sz="28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4B0983-9CAD-927E-830B-9153566AA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20303"/>
              </p:ext>
            </p:extLst>
          </p:nvPr>
        </p:nvGraphicFramePr>
        <p:xfrm>
          <a:off x="448573" y="1777042"/>
          <a:ext cx="8378184" cy="2605182"/>
        </p:xfrm>
        <a:graphic>
          <a:graphicData uri="http://schemas.openxmlformats.org/drawingml/2006/table">
            <a:tbl>
              <a:tblPr/>
              <a:tblGrid>
                <a:gridCol w="2094546">
                  <a:extLst>
                    <a:ext uri="{9D8B030D-6E8A-4147-A177-3AD203B41FA5}">
                      <a16:colId xmlns:a16="http://schemas.microsoft.com/office/drawing/2014/main" val="2053277320"/>
                    </a:ext>
                  </a:extLst>
                </a:gridCol>
                <a:gridCol w="2094546">
                  <a:extLst>
                    <a:ext uri="{9D8B030D-6E8A-4147-A177-3AD203B41FA5}">
                      <a16:colId xmlns:a16="http://schemas.microsoft.com/office/drawing/2014/main" val="1390180541"/>
                    </a:ext>
                  </a:extLst>
                </a:gridCol>
                <a:gridCol w="2094546">
                  <a:extLst>
                    <a:ext uri="{9D8B030D-6E8A-4147-A177-3AD203B41FA5}">
                      <a16:colId xmlns:a16="http://schemas.microsoft.com/office/drawing/2014/main" val="1180300435"/>
                    </a:ext>
                  </a:extLst>
                </a:gridCol>
                <a:gridCol w="2094546">
                  <a:extLst>
                    <a:ext uri="{9D8B030D-6E8A-4147-A177-3AD203B41FA5}">
                      <a16:colId xmlns:a16="http://schemas.microsoft.com/office/drawing/2014/main" val="3466075708"/>
                    </a:ext>
                  </a:extLst>
                </a:gridCol>
              </a:tblGrid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Iteration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Method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Method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Method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808211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06761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5.6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3.8527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3.8327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63079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6.4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3.5693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3.56834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55216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8.3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3.55798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3.55743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475839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9.7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3.55687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CBD5E1"/>
                          </a:solidFill>
                          <a:effectLst/>
                        </a:rPr>
                        <a:t>3.55672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24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6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Analysis of Methods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842155"/>
            <a:ext cx="8401181" cy="4270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Method 1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Diverges: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Values move away from 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3.5567 (5 → 5.6 → 6.4 → 8.3...)</a:t>
            </a:r>
          </a:p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Method 2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Converges after 6 iterations</a:t>
            </a:r>
          </a:p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Method 3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Converges faster after only 4 iterations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Types of Convergence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20594" y="85987"/>
            <a:ext cx="8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275827"/>
            <a:ext cx="8401181" cy="3370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Linear Convergence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e</a:t>
            </a:r>
            <a:r>
              <a:rPr lang="en-IN" sz="3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i+1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IN" sz="3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</a:t>
            </a:r>
            <a:r>
              <a:rPr lang="en-IN" sz="3000" b="0" i="0" baseline="-25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is almost constant → </a:t>
            </a: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Slow convergence</a:t>
            </a:r>
            <a:endParaRPr lang="en-IN" sz="3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Convergence of Order p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e</a:t>
            </a:r>
            <a:r>
              <a:rPr lang="en-IN" sz="3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i+1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IN" sz="3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</a:t>
            </a:r>
            <a:r>
              <a:rPr lang="en-IN" sz="3000" b="0" i="0" baseline="-25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0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is nearly constant → </a:t>
            </a: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Faster convergence</a:t>
            </a:r>
            <a:endParaRPr lang="en-IN" sz="3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Error in Convergence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208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000" b="1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</a:t>
            </a:r>
            <a:r>
              <a:rPr lang="en-IN" sz="3000" b="1" i="0" baseline="-25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= a − X</a:t>
            </a:r>
            <a:r>
              <a:rPr lang="en-IN" sz="3000" b="1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endParaRPr lang="en-IN" sz="3000" b="1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a is the actual root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and X</a:t>
            </a:r>
            <a:r>
              <a:rPr lang="en-IN" sz="3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is the </a:t>
            </a:r>
            <a:r>
              <a:rPr lang="en-IN" sz="3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ith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iteration value</a:t>
            </a: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Why Rate Matters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Determines iterations: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Fewer iterations with faster convergence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Computational cost: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Faster methods save time and resources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Accuracy: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Reaching required precision quickly</a:t>
            </a:r>
          </a:p>
        </p:txBody>
      </p:sp>
    </p:spTree>
    <p:extLst>
      <p:ext uri="{BB962C8B-B14F-4D97-AF65-F5344CB8AC3E}">
        <p14:creationId xmlns:p14="http://schemas.microsoft.com/office/powerpoint/2010/main" val="3410070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Applications &amp; Benefits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High accuracy problems: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Requires faster convergence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Engineering simulations: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Time-critical calculations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Root-finding: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Large-scale systems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Real-time applications: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Must complete within time limits</a:t>
            </a:r>
          </a:p>
        </p:txBody>
      </p:sp>
    </p:spTree>
    <p:extLst>
      <p:ext uri="{BB962C8B-B14F-4D97-AF65-F5344CB8AC3E}">
        <p14:creationId xmlns:p14="http://schemas.microsoft.com/office/powerpoint/2010/main" val="38098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/IoTI4plrEHg?si=wbR0nCBjL081-SyF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446</Words>
  <Application>Microsoft Macintosh PowerPoint</Application>
  <PresentationFormat>On-screen Show (16:9)</PresentationFormat>
  <Paragraphs>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98</cp:revision>
  <dcterms:modified xsi:type="dcterms:W3CDTF">2025-12-06T15:37:31Z</dcterms:modified>
</cp:coreProperties>
</file>